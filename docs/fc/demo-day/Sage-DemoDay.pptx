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d8be838-7d77-8b37-ad80-0d2828aeb7f9}">
          <p14:sldIdLst>
            <p14:sldId id="256"/>
          </p14:sldIdLst>
        </p14:section>
        <p14:section name="Problem" id="{1abe05bc-3177-41c0-70b7-251ce1abbee2}">
          <p14:sldIdLst>
            <p14:sldId id="257"/>
            <p14:sldId id="258"/>
          </p14:sldIdLst>
        </p14:section>
        <p14:section name="Sage" id="{92a3df97-00be-3b37-acd5-9120ea24105e}">
          <p14:sldIdLst>
            <p14:sldId id="259"/>
            <p14:sldId id="260"/>
            <p14:sldId id="261"/>
          </p14:sldIdLst>
        </p14:section>
        <p14:section name="Live" id="{237bbda5-53ee-b98d-bcf6-a6d7ba851017}">
          <p14:sldIdLst>
            <p14:sldId id="262"/>
            <p14:sldId id="263"/>
          </p14:sldIdLst>
        </p14:section>
        <p14:section name="Finance" id="{7a8a89c8-b035-a5a8-4fae-f001dc1e2018}">
          <p14:sldIdLst>
            <p14:sldId id="264"/>
            <p14:sldId id="265"/>
          </p14:sldIdLst>
        </p14:section>
        <p14:section name="Next" id="{45f15035-e17c-e43d-3ff6-5520a010ae4b}">
          <p14:sldIdLst>
            <p14:sldId id="266"/>
            <p14:sldId id="267"/>
          </p14:sldIdLst>
        </p14:section>
        <p14:section name="Close" id="{de552284-62c2-ddb0-e3f6-e88377dec026}">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 OPENING (to 0:20). Learn these four lines by heart.
Hi, I'm Shariq, and I built Sage.
In the next six minutes, an AI agent will check someone's work and pay them. Live. With real money.
Nobody will approve that payment. Not me. Not anyone.
But first, why it matters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 THE SELLER (to 0:42)
Think of a seller in Kingston. She delivers an order. She gets paid on WhatsApp.
The money moves. The proof stays in a chat.
So when she asks a bank for credit, she has nothing to show. To the bank, her business doesn't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 THE GAP (to 1:02)
And she's not alone. In Jamaica, small businesses are ninety percent of jobs.
More than forty percent of firms say finance is a major constraint.
They're not bad businesses. Nothing trustworthy records that they're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 WHAT SAGE IS (to 1:22)
Sage fixes the record by fixing the payment.
It's an AI agent with a budget. It checks the work. It pays in minutes.
And every payment becomes a line in a credit record a lender can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 NOT A PROTOTYPE (to 1:46)
And this is not a prototype. Sage has paid real people, real money, since July.
Every payment opens to a public transaction.
In August it won first place, Grand Champion, at the OpenClaw Summer Bootcamp, from Metis, GOAT Network, ClawUp and CryptoChicks.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 A BUDGET, NOT YOUR KEYS (to 2:06)
Why trust an agent with money? Because it gets a budget, not your keys.
The agent decides who gets paid. A vault on the blockchain decides how much, and the agent cannot change those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 LIVE (to 3:36). The only part with actions.
So let's do it. Earlier today I posted this job, priced in Jamaican dollars: put your shop's price list online. J$160.
I'm playing the seller. This is my phone.
&gt;&gt; CMD+TAB → CHROME (THE JOB PAGE).
&gt;&gt; HOLD UP THE PHONE. TAP SUBMIT.
I'm submitting my link — now.
This is the job's public page. Watch the activity.
Sage is opening my page itself. Not my note: the page.
It checks every rule the buyer set: three items, prices in J-dollars, the shop's name, and my wallet on the page, so nobody else can claim my work.
It has to quote the exact words it relied on. If it can't quote it, it can't pay for it.
And it can say no. It has refused 26 times so far, and wrote down why every time.
The amount isn't up to the AI. The vault already holds exactly J$160 for this job.
&gt;&gt; IF IT IS STILL CHECKING: SAY NOTHING. SILENCE WHILE THE ROOM WATCHES IS FINE.
&gt;&gt; WHEN "PAID" APPEARS: STOP TALKING FOR TWO SECONDS.
Paid. I didn't approve that. Nobody did.
&gt;&gt; CLICK "PROOF" ON THE PAID LINE. THE RECEIPT OPENS.
&gt;&gt; SCROLL DOWN ONCE, TO THE CARD THAT SAYS "SAGE DECISION RECEIPT".
Here's the receipt. The decision, how sure it was, and the exact words from my page it decided on. Anyone in this room can open it.
&gt;&gt; CMD+TAB → BACK TO KEYNOTE. PRESS →.
IF IT STALLS:
- Nothing after 60 seconds: "It's real money, so it settles in its own time. Here's the same job from my rehearsal an hour ago." Then Cmd+Tab back to Keynote and →. The next slide is that rehearsal receipt.
- It says HELD: "It held this one for a person to check. That's the guard working: it would rather wait than pay for weak proof." Then Cmd+Tab and →.
- The phone fails: don't fix it on stage. "Let me show you the one I ran an hour ago." Cmd+Tab and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 THE RECEIPT (to 3:52). Same slide whether the live run paid or stalled. Only this sentence changes.
If it paid live: "Every payout carries what you just saw. This is the decision Sage wrote down, in its own words."
If it stalled: "Here's the same job, paid at rehearsal an hour ago. This is the decision Sage wrote down, in its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 THE RECORD (to 4:24)
Now the part that matters for finance. That payment just became a line in my record:
verified income over thirty and ninety days, how many different people paid me, how long I've earned, how often my work passes.
Published formulas over real receipts. Not a black-box score.
A lender reads all of it in one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 THE REGION (to 4:46)
And it speaks the region's money: J-dollars, TT-dollars, EC-dollars, Barbados dollars, and six more.
It settles in digital dollars, at a flat ten cents. The person paid keeps everything.
Sending two hundred dollars home to Guyana costs almost eight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NEXT (to 5:22)
Now imagine where this goes.
Next, you won't even post the job. You give Sage a goal and a budget, and it decides what work to buy, and tells you why before it spends.
Every small business gets an AI finance worker: it pays on proof, keeps the books as receipts, and turns every job into credit.
After a hurricane, a recovery programme could pay a thousand people for verified clean-up in minutes, not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ASK (to 5:40)
The engine is live. Now it needs the institutions it was built for.
An MSME programme that wants to pay on proof. A cooperative. And a lender who'd price verified cash flow instead of collateral.
Twenty minutes with any of you is our next milestone. The code on screen takes you to everything you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CLOSE (to 5:50)
Sage. Payments that verify themselves. Credit records that write themselves.
Thank you.
&gt;&gt;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GE_LIGHT_TITLE">
    <p:bg>
      <p:bgPr>
        <a:solidFill>
          <a:srgbClr val="FBFBF9"/>
        </a:solidFill>
      </p:bgPr>
    </p:bg>
    <p:spTree>
      <p:nvGrpSpPr>
        <p:cNvPr id="1" name=""/>
        <p:cNvGrpSpPr/>
        <p:nvPr/>
      </p:nvGrpSpPr>
      <p:grpSpPr>
        <a:xfrm>
          <a:off x="0" y="0"/>
          <a:ext cx="0" cy="0"/>
          <a:chOff x="0" y="0"/>
          <a:chExt cx="0" cy="0"/>
        </a:xfrm>
      </p:grpSpPr>
      <p:sp>
        <p:nvSpPr>
          <p:cNvPr id="2" name="Shape 0"/>
          <p:cNvSpPr/>
          <p:nvPr/>
        </p:nvSpPr>
        <p:spPr>
          <a:xfrm>
            <a:off x="685800" y="6272784"/>
            <a:ext cx="182880" cy="182880"/>
          </a:xfrm>
          <a:prstGeom prst="rect">
            <a:avLst/>
          </a:prstGeom>
          <a:solidFill>
            <a:srgbClr val="C2410C"/>
          </a:solidFill>
          <a:ln/>
        </p:spPr>
      </p:sp>
      <p:sp>
        <p:nvSpPr>
          <p:cNvPr id="3" name="Text 1"/>
          <p:cNvSpPr/>
          <p:nvPr/>
        </p:nvSpPr>
        <p:spPr>
          <a:xfrm>
            <a:off x="941832" y="6199632"/>
            <a:ext cx="1371600" cy="329184"/>
          </a:xfrm>
          <a:prstGeom prst="rect">
            <a:avLst/>
          </a:prstGeom>
          <a:noFill/>
          <a:ln/>
        </p:spPr>
        <p:txBody>
          <a:bodyPr wrap="square" lIns="0" tIns="0" rIns="0" bIns="0" rtlCol="0" anchor="ctr"/>
          <a:lstStyle/>
          <a:p>
            <a:pPr indent="0" marL="0">
              <a:buNone/>
            </a:pPr>
            <a:r>
              <a:rPr lang="en-US" sz="1400" b="1" dirty="0">
                <a:solidFill>
                  <a:srgbClr val="1A1D21"/>
                </a:solidFill>
                <a:latin typeface="Arial" pitchFamily="34" charset="0"/>
                <a:ea typeface="Arial" pitchFamily="34" charset="-122"/>
                <a:cs typeface="Arial" pitchFamily="34" charset="-120"/>
              </a:rPr>
              <a:t>Sage</a:t>
            </a:r>
            <a:endParaRPr lang="en-US" sz="14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AGE_LIGHT">
    <p:bg>
      <p:bgPr>
        <a:solidFill>
          <a:srgbClr val="FBFBF9"/>
        </a:solidFill>
      </p:bgPr>
    </p:bg>
    <p:spTree>
      <p:nvGrpSpPr>
        <p:cNvPr id="1" name=""/>
        <p:cNvGrpSpPr/>
        <p:nvPr/>
      </p:nvGrpSpPr>
      <p:grpSpPr>
        <a:xfrm>
          <a:off x="0" y="0"/>
          <a:ext cx="0" cy="0"/>
          <a:chOff x="0" y="0"/>
          <a:chExt cx="0" cy="0"/>
        </a:xfrm>
      </p:grpSpPr>
      <p:sp>
        <p:nvSpPr>
          <p:cNvPr id="2" name="Shape 0"/>
          <p:cNvSpPr/>
          <p:nvPr/>
        </p:nvSpPr>
        <p:spPr>
          <a:xfrm>
            <a:off x="685800" y="6272784"/>
            <a:ext cx="182880" cy="182880"/>
          </a:xfrm>
          <a:prstGeom prst="rect">
            <a:avLst/>
          </a:prstGeom>
          <a:solidFill>
            <a:srgbClr val="C2410C"/>
          </a:solidFill>
          <a:ln/>
        </p:spPr>
      </p:sp>
      <p:sp>
        <p:nvSpPr>
          <p:cNvPr id="3" name="Text 1"/>
          <p:cNvSpPr/>
          <p:nvPr/>
        </p:nvSpPr>
        <p:spPr>
          <a:xfrm>
            <a:off x="941832" y="6199632"/>
            <a:ext cx="1371600" cy="329184"/>
          </a:xfrm>
          <a:prstGeom prst="rect">
            <a:avLst/>
          </a:prstGeom>
          <a:noFill/>
          <a:ln/>
        </p:spPr>
        <p:txBody>
          <a:bodyPr wrap="square" lIns="0" tIns="0" rIns="0" bIns="0" rtlCol="0" anchor="ctr"/>
          <a:lstStyle/>
          <a:p>
            <a:pPr indent="0" marL="0">
              <a:buNone/>
            </a:pPr>
            <a:r>
              <a:rPr lang="en-US" sz="1400" b="1" dirty="0">
                <a:solidFill>
                  <a:srgbClr val="1A1D21"/>
                </a:solidFill>
                <a:latin typeface="Arial" pitchFamily="34" charset="0"/>
                <a:ea typeface="Arial" pitchFamily="34" charset="-122"/>
                <a:cs typeface="Arial" pitchFamily="34" charset="-120"/>
              </a:rPr>
              <a:t>Sage</a:t>
            </a:r>
            <a:endParaRPr lang="en-US" sz="14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AGE_DARK">
    <p:bg>
      <p:bgPr>
        <a:solidFill>
          <a:srgbClr val="1A1D2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85800" y="594360"/>
            <a:ext cx="10789920" cy="320040"/>
          </a:xfrm>
          <a:prstGeom prst="rect">
            <a:avLst/>
          </a:prstGeom>
          <a:noFill/>
          <a:ln/>
        </p:spPr>
        <p:txBody>
          <a:bodyPr wrap="square" lIns="0" tIns="0" rIns="0" bIns="0" rtlCol="0" anchor="t"/>
          <a:lstStyle/>
          <a:p>
            <a:pPr indent="0" marL="0">
              <a:buNone/>
            </a:pPr>
            <a:r>
              <a:rPr lang="en-US" sz="1300" b="1" spc="300" kern="0" dirty="0">
                <a:solidFill>
                  <a:srgbClr val="9CA0A8"/>
                </a:solidFill>
                <a:latin typeface="Arial" pitchFamily="34" charset="0"/>
                <a:ea typeface="Arial" pitchFamily="34" charset="-122"/>
                <a:cs typeface="Arial" pitchFamily="34" charset="-120"/>
              </a:rPr>
              <a:t>FUTURE CARIBBEAN 2026  ·  FINANCE, PAYMENTS &amp; MSME CAPITAL</a:t>
            </a:r>
            <a:endParaRPr lang="en-US" sz="1300" dirty="0"/>
          </a:p>
        </p:txBody>
      </p:sp>
      <p:sp>
        <p:nvSpPr>
          <p:cNvPr id="3" name="Sage mark"/>
          <p:cNvSpPr/>
          <p:nvPr/>
        </p:nvSpPr>
        <p:spPr>
          <a:xfrm>
            <a:off x="685800" y="1783080"/>
            <a:ext cx="1188720" cy="1188720"/>
          </a:xfrm>
          <a:prstGeom prst="roundRect">
            <a:avLst>
              <a:gd name="adj" fmla="val 22000"/>
            </a:avLst>
          </a:prstGeom>
          <a:solidFill>
            <a:srgbClr val="C2410C"/>
          </a:solidFill>
          <a:ln w="12700">
            <a:solidFill>
              <a:srgbClr val="C2410C"/>
            </a:solidFill>
            <a:prstDash val="solid"/>
          </a:ln>
        </p:spPr>
      </p:sp>
      <p:sp>
        <p:nvSpPr>
          <p:cNvPr id="4" name="Text 2"/>
          <p:cNvSpPr txBox="1"/>
          <p:nvPr/>
        </p:nvSpPr>
        <p:spPr>
          <a:xfrm>
            <a:off x="2194560" y="1554480"/>
            <a:ext cx="7315200" cy="1645920"/>
          </a:xfrm>
          <a:prstGeom prst="rect">
            <a:avLst/>
          </a:prstGeom>
          <a:noFill/>
          <a:ln/>
        </p:spPr>
        <p:txBody>
          <a:bodyPr wrap="square" lIns="0" tIns="0" rIns="0" bIns="0" rtlCol="0" anchor="ctr"/>
          <a:lstStyle/>
          <a:p>
            <a:pPr indent="0" marL="0">
              <a:buNone/>
            </a:pPr>
            <a:r>
              <a:rPr lang="en-US" sz="12000" b="1" dirty="0">
                <a:solidFill>
                  <a:srgbClr val="FFFFFF"/>
                </a:solidFill>
                <a:latin typeface="Arial" pitchFamily="34" charset="0"/>
                <a:ea typeface="Arial" pitchFamily="34" charset="-122"/>
                <a:cs typeface="Arial" pitchFamily="34" charset="-120"/>
              </a:rPr>
              <a:t>Sage</a:t>
            </a:r>
            <a:endParaRPr lang="en-US" sz="12000" dirty="0"/>
          </a:p>
        </p:txBody>
      </p:sp>
      <p:sp>
        <p:nvSpPr>
          <p:cNvPr id="5" name="Text 3"/>
          <p:cNvSpPr txBox="1"/>
          <p:nvPr/>
        </p:nvSpPr>
        <p:spPr>
          <a:xfrm>
            <a:off x="685800" y="3429000"/>
            <a:ext cx="10789920" cy="640080"/>
          </a:xfrm>
          <a:prstGeom prst="rect">
            <a:avLst/>
          </a:prstGeom>
          <a:noFill/>
          <a:ln/>
        </p:spPr>
        <p:txBody>
          <a:bodyPr wrap="square" lIns="0" tIns="0" rIns="0" bIns="0" rtlCol="0" anchor="t"/>
          <a:lstStyle/>
          <a:p>
            <a:pPr indent="0" marL="0">
              <a:buNone/>
            </a:pPr>
            <a:r>
              <a:rPr lang="en-US" sz="3000" dirty="0">
                <a:solidFill>
                  <a:srgbClr val="E9E7E1"/>
                </a:solidFill>
                <a:latin typeface="Arial" pitchFamily="34" charset="0"/>
                <a:ea typeface="Arial" pitchFamily="34" charset="-122"/>
                <a:cs typeface="Arial" pitchFamily="34" charset="-120"/>
              </a:rPr>
              <a:t>An AI agent that pays people for verified work.</a:t>
            </a:r>
            <a:endParaRPr lang="en-US" sz="3000" dirty="0"/>
          </a:p>
        </p:txBody>
      </p:sp>
      <p:sp>
        <p:nvSpPr>
          <p:cNvPr id="6" name="Shape 4"/>
          <p:cNvSpPr/>
          <p:nvPr/>
        </p:nvSpPr>
        <p:spPr>
          <a:xfrm>
            <a:off x="685800" y="4389120"/>
            <a:ext cx="9052560" cy="713232"/>
          </a:xfrm>
          <a:prstGeom prst="roundRect">
            <a:avLst>
              <a:gd name="adj" fmla="val 50000"/>
            </a:avLst>
          </a:prstGeom>
          <a:solidFill>
            <a:srgbClr val="24272C"/>
          </a:solidFill>
          <a:ln w="15875">
            <a:solidFill>
              <a:srgbClr val="C2410C"/>
            </a:solidFill>
            <a:prstDash val="solid"/>
          </a:ln>
        </p:spPr>
      </p:sp>
      <p:sp>
        <p:nvSpPr>
          <p:cNvPr id="7" name="Shape 5"/>
          <p:cNvSpPr/>
          <p:nvPr/>
        </p:nvSpPr>
        <p:spPr>
          <a:xfrm>
            <a:off x="987552" y="4645152"/>
            <a:ext cx="201168" cy="201168"/>
          </a:xfrm>
          <a:prstGeom prst="ellipse">
            <a:avLst/>
          </a:prstGeom>
          <a:solidFill>
            <a:srgbClr val="C2410C"/>
          </a:solidFill>
          <a:ln w="12700">
            <a:solidFill>
              <a:srgbClr val="C2410C"/>
            </a:solidFill>
            <a:prstDash val="solid"/>
          </a:ln>
        </p:spPr>
      </p:sp>
      <p:sp>
        <p:nvSpPr>
          <p:cNvPr id="8" name="Text 6"/>
          <p:cNvSpPr txBox="1"/>
          <p:nvPr/>
        </p:nvSpPr>
        <p:spPr>
          <a:xfrm>
            <a:off x="1371600" y="4389120"/>
            <a:ext cx="8229600" cy="713232"/>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the next six minutes, it will pay someone. Live, with real money.</a:t>
            </a:r>
            <a:endParaRPr lang="en-US" sz="2000" dirty="0"/>
          </a:p>
        </p:txBody>
      </p:sp>
      <p:sp>
        <p:nvSpPr>
          <p:cNvPr id="9" name="Text 7"/>
          <p:cNvSpPr txBox="1"/>
          <p:nvPr/>
        </p:nvSpPr>
        <p:spPr>
          <a:xfrm>
            <a:off x="685800" y="6126480"/>
            <a:ext cx="5486400" cy="365760"/>
          </a:xfrm>
          <a:prstGeom prst="rect">
            <a:avLst/>
          </a:prstGeom>
          <a:noFill/>
          <a:ln/>
        </p:spPr>
        <p:txBody>
          <a:bodyPr wrap="square" lIns="0" tIns="0" rIns="0" bIns="0" rtlCol="0" anchor="t"/>
          <a:lstStyle/>
          <a:p>
            <a:pPr indent="0" marL="0">
              <a:buNone/>
            </a:pPr>
            <a:r>
              <a:rPr lang="en-US" sz="1500" dirty="0">
                <a:solidFill>
                  <a:srgbClr val="9CA0A8"/>
                </a:solidFill>
                <a:latin typeface="Arial" pitchFamily="34" charset="0"/>
                <a:ea typeface="Arial" pitchFamily="34" charset="-122"/>
                <a:cs typeface="Arial" pitchFamily="34" charset="-120"/>
              </a:rPr>
              <a:t>Shariq Shaukat  ·  Founder</a:t>
            </a:r>
            <a:endParaRPr lang="en-US" sz="1500" dirty="0"/>
          </a:p>
        </p:txBody>
      </p:sp>
      <p:sp>
        <p:nvSpPr>
          <p:cNvPr id="10" name="Text 8"/>
          <p:cNvSpPr txBox="1"/>
          <p:nvPr/>
        </p:nvSpPr>
        <p:spPr>
          <a:xfrm>
            <a:off x="7863840" y="6126480"/>
            <a:ext cx="3657600" cy="365760"/>
          </a:xfrm>
          <a:prstGeom prst="rect">
            <a:avLst/>
          </a:prstGeom>
          <a:noFill/>
          <a:ln/>
        </p:spPr>
        <p:txBody>
          <a:bodyPr wrap="square" lIns="0" tIns="0" rIns="0" bIns="0" rtlCol="0" anchor="t"/>
          <a:lstStyle/>
          <a:p>
            <a:pPr algn="r" indent="0" marL="0">
              <a:buNone/>
            </a:pPr>
            <a:r>
              <a:rPr lang="en-US" sz="1500" dirty="0">
                <a:solidFill>
                  <a:srgbClr val="9CA0A8"/>
                </a:solidFill>
                <a:latin typeface="Arial" pitchFamily="34" charset="0"/>
                <a:ea typeface="Arial" pitchFamily="34" charset="-122"/>
                <a:cs typeface="Arial" pitchFamily="34" charset="-120"/>
              </a:rPr>
              <a:t>sagepays.xyz</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phone"/>
          <p:cNvSpPr/>
          <p:nvPr/>
        </p:nvSpPr>
        <p:spPr>
          <a:xfrm>
            <a:off x="1188720" y="685800"/>
            <a:ext cx="3291840" cy="5257800"/>
          </a:xfrm>
          <a:prstGeom prst="roundRect">
            <a:avLst>
              <a:gd name="adj" fmla="val 12500"/>
            </a:avLst>
          </a:prstGeom>
          <a:solidFill>
            <a:srgbClr val="F3F2EE"/>
          </a:solidFill>
          <a:ln w="88900">
            <a:solidFill>
              <a:srgbClr val="1A1D21"/>
            </a:solidFill>
            <a:prstDash val="solid"/>
          </a:ln>
        </p:spPr>
      </p:sp>
      <p:sp>
        <p:nvSpPr>
          <p:cNvPr id="3" name="Shape 1"/>
          <p:cNvSpPr/>
          <p:nvPr/>
        </p:nvSpPr>
        <p:spPr>
          <a:xfrm>
            <a:off x="2331720" y="868680"/>
            <a:ext cx="1005840" cy="219456"/>
          </a:xfrm>
          <a:prstGeom prst="roundRect">
            <a:avLst>
              <a:gd name="adj" fmla="val 50000"/>
            </a:avLst>
          </a:prstGeom>
          <a:solidFill>
            <a:srgbClr val="1A1D21"/>
          </a:solidFill>
          <a:ln w="12700">
            <a:solidFill>
              <a:srgbClr val="1A1D21"/>
            </a:solidFill>
            <a:prstDash val="solid"/>
          </a:ln>
        </p:spPr>
      </p:sp>
      <p:sp>
        <p:nvSpPr>
          <p:cNvPr id="4" name="Shape 2"/>
          <p:cNvSpPr/>
          <p:nvPr/>
        </p:nvSpPr>
        <p:spPr>
          <a:xfrm>
            <a:off x="1417320" y="1371600"/>
            <a:ext cx="2514600" cy="868680"/>
          </a:xfrm>
          <a:prstGeom prst="roundRect">
            <a:avLst>
              <a:gd name="adj" fmla="val 16842"/>
            </a:avLst>
          </a:prstGeom>
          <a:solidFill>
            <a:srgbClr val="FFFFFF">
              <a:alpha val="65000"/>
            </a:srgbClr>
          </a:solidFill>
          <a:ln w="12700">
            <a:solidFill>
              <a:srgbClr val="FFFFFF"/>
            </a:solidFill>
            <a:prstDash val="solid"/>
          </a:ln>
        </p:spPr>
      </p:sp>
      <p:sp>
        <p:nvSpPr>
          <p:cNvPr id="5" name="Text 3"/>
          <p:cNvSpPr txBox="1"/>
          <p:nvPr/>
        </p:nvSpPr>
        <p:spPr>
          <a:xfrm>
            <a:off x="1554480" y="1481328"/>
            <a:ext cx="2240280" cy="685800"/>
          </a:xfrm>
          <a:prstGeom prst="rect">
            <a:avLst/>
          </a:prstGeom>
          <a:noFill/>
          <a:ln/>
        </p:spPr>
        <p:txBody>
          <a:bodyPr wrap="square" lIns="0" tIns="0" rIns="0" bIns="0" rtlCol="0" anchor="t"/>
          <a:lstStyle/>
          <a:p>
            <a:pPr indent="0" marL="0">
              <a:buNone/>
            </a:pPr>
            <a:r>
              <a:rPr lang="en-US" sz="1300" dirty="0">
                <a:solidFill>
                  <a:srgbClr val="A4A7AD"/>
                </a:solidFill>
                <a:latin typeface="Arial" pitchFamily="34" charset="0"/>
                <a:ea typeface="Arial" pitchFamily="34" charset="-122"/>
                <a:cs typeface="Arial" pitchFamily="34" charset="-120"/>
              </a:rPr>
              <a:t>Order of 40 delivered to the hotel this morning.</a:t>
            </a:r>
            <a:endParaRPr lang="en-US" sz="1300" dirty="0"/>
          </a:p>
          <a:p>
            <a:pPr indent="0" marL="0">
              <a:buNone/>
            </a:pPr>
            <a:r>
              <a:rPr lang="en-US" sz="1000" dirty="0">
                <a:solidFill>
                  <a:srgbClr val="A4A7AD"/>
                </a:solidFill>
                <a:latin typeface="Arial" pitchFamily="34" charset="0"/>
                <a:ea typeface="Arial" pitchFamily="34" charset="-122"/>
                <a:cs typeface="Arial" pitchFamily="34" charset="-120"/>
              </a:rPr>
              <a:t>Seller · 09:12</a:t>
            </a:r>
            <a:endParaRPr lang="en-US" sz="1300" dirty="0"/>
          </a:p>
        </p:txBody>
      </p:sp>
      <p:sp>
        <p:nvSpPr>
          <p:cNvPr id="6" name="Shape 4"/>
          <p:cNvSpPr/>
          <p:nvPr/>
        </p:nvSpPr>
        <p:spPr>
          <a:xfrm>
            <a:off x="1783080" y="2395728"/>
            <a:ext cx="2468880" cy="822960"/>
          </a:xfrm>
          <a:prstGeom prst="roundRect">
            <a:avLst>
              <a:gd name="adj" fmla="val 17778"/>
            </a:avLst>
          </a:prstGeom>
          <a:solidFill>
            <a:srgbClr val="E7F2E4">
              <a:alpha val="65000"/>
            </a:srgbClr>
          </a:solidFill>
          <a:ln w="12700">
            <a:solidFill>
              <a:srgbClr val="E7F2E4"/>
            </a:solidFill>
            <a:prstDash val="solid"/>
          </a:ln>
        </p:spPr>
      </p:sp>
      <p:sp>
        <p:nvSpPr>
          <p:cNvPr id="7" name="Text 5"/>
          <p:cNvSpPr txBox="1"/>
          <p:nvPr/>
        </p:nvSpPr>
        <p:spPr>
          <a:xfrm>
            <a:off x="1920240" y="2505456"/>
            <a:ext cx="2194560" cy="640080"/>
          </a:xfrm>
          <a:prstGeom prst="rect">
            <a:avLst/>
          </a:prstGeom>
          <a:noFill/>
          <a:ln/>
        </p:spPr>
        <p:txBody>
          <a:bodyPr wrap="square" lIns="0" tIns="0" rIns="0" bIns="0" rtlCol="0" anchor="t"/>
          <a:lstStyle/>
          <a:p>
            <a:pPr indent="0" marL="0">
              <a:buNone/>
            </a:pPr>
            <a:r>
              <a:rPr lang="en-US" sz="1300" dirty="0">
                <a:solidFill>
                  <a:srgbClr val="A4A7AD"/>
                </a:solidFill>
                <a:latin typeface="Arial" pitchFamily="34" charset="0"/>
                <a:ea typeface="Arial" pitchFamily="34" charset="-122"/>
                <a:cs typeface="Arial" pitchFamily="34" charset="-120"/>
              </a:rPr>
              <a:t>Got them, thank you. Sent J$48,000.</a:t>
            </a:r>
            <a:endParaRPr lang="en-US" sz="1300" dirty="0"/>
          </a:p>
          <a:p>
            <a:pPr indent="0" marL="0">
              <a:buNone/>
            </a:pPr>
            <a:r>
              <a:rPr lang="en-US" sz="1000" dirty="0">
                <a:solidFill>
                  <a:srgbClr val="A4A7AD"/>
                </a:solidFill>
                <a:latin typeface="Arial" pitchFamily="34" charset="0"/>
                <a:ea typeface="Arial" pitchFamily="34" charset="-122"/>
                <a:cs typeface="Arial" pitchFamily="34" charset="-120"/>
              </a:rPr>
              <a:t>Buyer · 11:40</a:t>
            </a:r>
            <a:endParaRPr lang="en-US" sz="1300" dirty="0"/>
          </a:p>
        </p:txBody>
      </p:sp>
      <p:sp>
        <p:nvSpPr>
          <p:cNvPr id="8" name="Shape 6"/>
          <p:cNvSpPr/>
          <p:nvPr/>
        </p:nvSpPr>
        <p:spPr>
          <a:xfrm>
            <a:off x="1417320" y="3383280"/>
            <a:ext cx="2377440" cy="731520"/>
          </a:xfrm>
          <a:prstGeom prst="roundRect">
            <a:avLst>
              <a:gd name="adj" fmla="val 20000"/>
            </a:avLst>
          </a:prstGeom>
          <a:solidFill>
            <a:srgbClr val="FFFFFF">
              <a:alpha val="65000"/>
            </a:srgbClr>
          </a:solidFill>
          <a:ln w="12700">
            <a:solidFill>
              <a:srgbClr val="FFFFFF"/>
            </a:solidFill>
            <a:prstDash val="solid"/>
          </a:ln>
        </p:spPr>
      </p:sp>
      <p:sp>
        <p:nvSpPr>
          <p:cNvPr id="9" name="Text 7"/>
          <p:cNvSpPr txBox="1"/>
          <p:nvPr/>
        </p:nvSpPr>
        <p:spPr>
          <a:xfrm>
            <a:off x="1554480" y="3493008"/>
            <a:ext cx="2103120" cy="548640"/>
          </a:xfrm>
          <a:prstGeom prst="rect">
            <a:avLst/>
          </a:prstGeom>
          <a:noFill/>
          <a:ln/>
        </p:spPr>
        <p:txBody>
          <a:bodyPr wrap="square" lIns="0" tIns="0" rIns="0" bIns="0" rtlCol="0" anchor="t"/>
          <a:lstStyle/>
          <a:p>
            <a:pPr indent="0" marL="0">
              <a:buNone/>
            </a:pPr>
            <a:r>
              <a:rPr lang="en-US" sz="1300" dirty="0">
                <a:solidFill>
                  <a:srgbClr val="A4A7AD"/>
                </a:solidFill>
                <a:latin typeface="Arial" pitchFamily="34" charset="0"/>
                <a:ea typeface="Arial" pitchFamily="34" charset="-122"/>
                <a:cs typeface="Arial" pitchFamily="34" charset="-120"/>
              </a:rPr>
              <a:t>Received. Same again next week?</a:t>
            </a:r>
            <a:endParaRPr lang="en-US" sz="1300" dirty="0"/>
          </a:p>
          <a:p>
            <a:pPr indent="0" marL="0">
              <a:buNone/>
            </a:pPr>
            <a:r>
              <a:rPr lang="en-US" sz="1000" dirty="0">
                <a:solidFill>
                  <a:srgbClr val="A4A7AD"/>
                </a:solidFill>
                <a:latin typeface="Arial" pitchFamily="34" charset="0"/>
                <a:ea typeface="Arial" pitchFamily="34" charset="-122"/>
                <a:cs typeface="Arial" pitchFamily="34" charset="-120"/>
              </a:rPr>
              <a:t>Seller · 11:42</a:t>
            </a:r>
            <a:endParaRPr lang="en-US" sz="1300" dirty="0"/>
          </a:p>
        </p:txBody>
      </p:sp>
      <p:sp>
        <p:nvSpPr>
          <p:cNvPr id="10" name="Text 8"/>
          <p:cNvSpPr txBox="1"/>
          <p:nvPr/>
        </p:nvSpPr>
        <p:spPr>
          <a:xfrm>
            <a:off x="1325880" y="4572000"/>
            <a:ext cx="3017520" cy="914400"/>
          </a:xfrm>
          <a:prstGeom prst="rect">
            <a:avLst/>
          </a:prstGeom>
          <a:noFill/>
          <a:ln/>
        </p:spPr>
        <p:txBody>
          <a:bodyPr wrap="square" lIns="0" tIns="0" rIns="0" bIns="0" rtlCol="0" anchor="ctr"/>
          <a:lstStyle/>
          <a:p>
            <a:pPr algn="ctr" indent="0" marL="0">
              <a:buNone/>
            </a:pPr>
            <a:r>
              <a:rPr lang="en-US" sz="1500" b="1" dirty="0">
                <a:solidFill>
                  <a:srgbClr val="C2410C"/>
                </a:solidFill>
                <a:latin typeface="Arial" pitchFamily="34" charset="0"/>
                <a:ea typeface="Arial" pitchFamily="34" charset="-122"/>
                <a:cs typeface="Arial" pitchFamily="34" charset="-120"/>
              </a:rPr>
              <a:t>The money moved.</a:t>
            </a:r>
            <a:endParaRPr lang="en-US" sz="1500" dirty="0"/>
          </a:p>
          <a:p>
            <a:pPr algn="ctr" indent="0" marL="0">
              <a:buNone/>
            </a:pPr>
            <a:r>
              <a:rPr lang="en-US" sz="1500" b="1" dirty="0">
                <a:solidFill>
                  <a:srgbClr val="C2410C"/>
                </a:solidFill>
                <a:latin typeface="Arial" pitchFamily="34" charset="0"/>
                <a:ea typeface="Arial" pitchFamily="34" charset="-122"/>
                <a:cs typeface="Arial" pitchFamily="34" charset="-120"/>
              </a:rPr>
              <a:t>The proof stayed in a chat.</a:t>
            </a:r>
            <a:endParaRPr lang="en-US" sz="1500" dirty="0"/>
          </a:p>
        </p:txBody>
      </p:sp>
      <p:sp>
        <p:nvSpPr>
          <p:cNvPr id="11" name="Text 9"/>
          <p:cNvSpPr txBox="1"/>
          <p:nvPr/>
        </p:nvSpPr>
        <p:spPr>
          <a:xfrm>
            <a:off x="5394960" y="1417320"/>
            <a:ext cx="5943600" cy="320040"/>
          </a:xfrm>
          <a:prstGeom prst="rect">
            <a:avLst/>
          </a:prstGeom>
          <a:noFill/>
          <a:ln/>
        </p:spPr>
        <p:txBody>
          <a:bodyPr wrap="square" lIns="0" tIns="0" rIns="0" bIns="0" rtlCol="0" anchor="t"/>
          <a:lstStyle/>
          <a:p>
            <a:pPr indent="0" marL="0">
              <a:buNone/>
            </a:pPr>
            <a:r>
              <a:rPr lang="en-US" sz="1300" b="1" spc="300" kern="0" dirty="0">
                <a:solidFill>
                  <a:srgbClr val="6B6F76"/>
                </a:solidFill>
                <a:latin typeface="Arial" pitchFamily="34" charset="0"/>
                <a:ea typeface="Arial" pitchFamily="34" charset="-122"/>
                <a:cs typeface="Arial" pitchFamily="34" charset="-120"/>
              </a:rPr>
              <a:t>A SELLER IN KINGSTON</a:t>
            </a:r>
            <a:endParaRPr lang="en-US" sz="1300" dirty="0"/>
          </a:p>
        </p:txBody>
      </p:sp>
      <p:sp>
        <p:nvSpPr>
          <p:cNvPr id="12" name="Text 10"/>
          <p:cNvSpPr txBox="1"/>
          <p:nvPr/>
        </p:nvSpPr>
        <p:spPr>
          <a:xfrm>
            <a:off x="5394960" y="1828800"/>
            <a:ext cx="6126480" cy="1737360"/>
          </a:xfrm>
          <a:prstGeom prst="rect">
            <a:avLst/>
          </a:prstGeom>
          <a:noFill/>
          <a:ln/>
        </p:spPr>
        <p:txBody>
          <a:bodyPr wrap="square" lIns="0" tIns="0" rIns="0" bIns="0" rtlCol="0" anchor="t"/>
          <a:lstStyle/>
          <a:p>
            <a:pPr indent="0" marL="0">
              <a:buNone/>
            </a:pPr>
            <a:r>
              <a:rPr lang="en-US" sz="4800" b="1" dirty="0">
                <a:solidFill>
                  <a:srgbClr val="1A1D21"/>
                </a:solidFill>
                <a:latin typeface="Arial" pitchFamily="34" charset="0"/>
                <a:ea typeface="Arial" pitchFamily="34" charset="-122"/>
                <a:cs typeface="Arial" pitchFamily="34" charset="-120"/>
              </a:rPr>
              <a:t>She delivers.</a:t>
            </a:r>
            <a:endParaRPr lang="en-US" sz="4800" dirty="0"/>
          </a:p>
          <a:p>
            <a:pPr indent="0" marL="0">
              <a:buNone/>
            </a:pPr>
            <a:r>
              <a:rPr lang="en-US" sz="4800" b="1" dirty="0">
                <a:solidFill>
                  <a:srgbClr val="1A1D21"/>
                </a:solidFill>
                <a:latin typeface="Arial" pitchFamily="34" charset="0"/>
                <a:ea typeface="Arial" pitchFamily="34" charset="-122"/>
                <a:cs typeface="Arial" pitchFamily="34" charset="-120"/>
              </a:rPr>
              <a:t>She gets paid.</a:t>
            </a:r>
            <a:endParaRPr lang="en-US" sz="4800" dirty="0"/>
          </a:p>
        </p:txBody>
      </p:sp>
      <p:sp>
        <p:nvSpPr>
          <p:cNvPr id="13" name="Text 11"/>
          <p:cNvSpPr txBox="1"/>
          <p:nvPr/>
        </p:nvSpPr>
        <p:spPr>
          <a:xfrm>
            <a:off x="5394960" y="3703320"/>
            <a:ext cx="6126480" cy="1371600"/>
          </a:xfrm>
          <a:prstGeom prst="rect">
            <a:avLst/>
          </a:prstGeom>
          <a:noFill/>
          <a:ln/>
        </p:spPr>
        <p:txBody>
          <a:bodyPr wrap="square" lIns="0" tIns="0" rIns="0" bIns="0" rtlCol="0" anchor="t"/>
          <a:lstStyle/>
          <a:p>
            <a:pPr indent="0" marL="0">
              <a:buNone/>
            </a:pPr>
            <a:r>
              <a:rPr lang="en-US" sz="4800" b="1" dirty="0">
                <a:solidFill>
                  <a:srgbClr val="C2410C"/>
                </a:solidFill>
                <a:latin typeface="Arial" pitchFamily="34" charset="0"/>
                <a:ea typeface="Arial" pitchFamily="34" charset="-122"/>
                <a:cs typeface="Arial" pitchFamily="34" charset="-120"/>
              </a:rPr>
              <a:t>To a bank, she doesn't exist.</a:t>
            </a:r>
            <a:endParaRPr lang="en-US" sz="48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85800" y="640080"/>
            <a:ext cx="5486400" cy="320040"/>
          </a:xfrm>
          <a:prstGeom prst="rect">
            <a:avLst/>
          </a:prstGeom>
          <a:noFill/>
          <a:ln/>
        </p:spPr>
        <p:txBody>
          <a:bodyPr wrap="square" lIns="0" tIns="0" rIns="0" bIns="0" rtlCol="0" anchor="t"/>
          <a:lstStyle/>
          <a:p>
            <a:pPr indent="0" marL="0">
              <a:buNone/>
            </a:pPr>
            <a:r>
              <a:rPr lang="en-US" sz="1300" b="1" spc="300" kern="0" dirty="0">
                <a:solidFill>
                  <a:srgbClr val="6B6F76"/>
                </a:solidFill>
                <a:latin typeface="Arial" pitchFamily="34" charset="0"/>
                <a:ea typeface="Arial" pitchFamily="34" charset="-122"/>
                <a:cs typeface="Arial" pitchFamily="34" charset="-120"/>
              </a:rPr>
              <a:t>THE GAP</a:t>
            </a:r>
            <a:endParaRPr lang="en-US" sz="1300" dirty="0"/>
          </a:p>
        </p:txBody>
      </p:sp>
      <p:sp>
        <p:nvSpPr>
          <p:cNvPr id="3" name="Text 1"/>
          <p:cNvSpPr txBox="1"/>
          <p:nvPr/>
        </p:nvSpPr>
        <p:spPr>
          <a:xfrm>
            <a:off x="685800" y="1051560"/>
            <a:ext cx="5120640" cy="1920240"/>
          </a:xfrm>
          <a:prstGeom prst="rect">
            <a:avLst/>
          </a:prstGeom>
          <a:noFill/>
          <a:ln/>
        </p:spPr>
        <p:txBody>
          <a:bodyPr wrap="square" lIns="0" tIns="0" rIns="0" bIns="0" rtlCol="0" anchor="ctr"/>
          <a:lstStyle/>
          <a:p>
            <a:pPr indent="0" marL="0">
              <a:buNone/>
            </a:pPr>
            <a:r>
              <a:rPr lang="en-US" sz="14000" b="1" dirty="0">
                <a:solidFill>
                  <a:srgbClr val="1A1D21"/>
                </a:solidFill>
                <a:latin typeface="Arial" pitchFamily="34" charset="0"/>
                <a:ea typeface="Arial" pitchFamily="34" charset="-122"/>
                <a:cs typeface="Arial" pitchFamily="34" charset="-120"/>
              </a:rPr>
              <a:t>90%</a:t>
            </a:r>
            <a:endParaRPr lang="en-US" sz="14000" dirty="0"/>
          </a:p>
        </p:txBody>
      </p:sp>
      <p:sp>
        <p:nvSpPr>
          <p:cNvPr id="4" name="Text 2"/>
          <p:cNvSpPr txBox="1"/>
          <p:nvPr/>
        </p:nvSpPr>
        <p:spPr>
          <a:xfrm>
            <a:off x="685800" y="3063240"/>
            <a:ext cx="4937760" cy="868680"/>
          </a:xfrm>
          <a:prstGeom prst="rect">
            <a:avLst/>
          </a:prstGeom>
          <a:noFill/>
          <a:ln/>
        </p:spPr>
        <p:txBody>
          <a:bodyPr wrap="square" lIns="0" tIns="0" rIns="0" bIns="0" rtlCol="0" anchor="t"/>
          <a:lstStyle/>
          <a:p>
            <a:pPr indent="0" marL="0">
              <a:buNone/>
            </a:pPr>
            <a:r>
              <a:rPr lang="en-US" sz="2100" dirty="0">
                <a:solidFill>
                  <a:srgbClr val="3D4148"/>
                </a:solidFill>
                <a:latin typeface="Arial" pitchFamily="34" charset="0"/>
                <a:ea typeface="Arial" pitchFamily="34" charset="-122"/>
                <a:cs typeface="Arial" pitchFamily="34" charset="-120"/>
              </a:rPr>
              <a:t>of jobs in Jamaica are in micro, small and medium businesses</a:t>
            </a:r>
            <a:endParaRPr lang="en-US" sz="2100" dirty="0"/>
          </a:p>
        </p:txBody>
      </p:sp>
      <p:sp>
        <p:nvSpPr>
          <p:cNvPr id="5" name="Text 3"/>
          <p:cNvSpPr txBox="1"/>
          <p:nvPr/>
        </p:nvSpPr>
        <p:spPr>
          <a:xfrm>
            <a:off x="6400800" y="1051560"/>
            <a:ext cx="5120640" cy="1920240"/>
          </a:xfrm>
          <a:prstGeom prst="rect">
            <a:avLst/>
          </a:prstGeom>
          <a:noFill/>
          <a:ln/>
        </p:spPr>
        <p:txBody>
          <a:bodyPr wrap="square" lIns="0" tIns="0" rIns="0" bIns="0" rtlCol="0" anchor="ctr"/>
          <a:lstStyle/>
          <a:p>
            <a:pPr indent="0" marL="0">
              <a:buNone/>
            </a:pPr>
            <a:r>
              <a:rPr lang="en-US" sz="14000" b="1" dirty="0">
                <a:solidFill>
                  <a:srgbClr val="1A1D21"/>
                </a:solidFill>
                <a:latin typeface="Arial" pitchFamily="34" charset="0"/>
                <a:ea typeface="Arial" pitchFamily="34" charset="-122"/>
                <a:cs typeface="Arial" pitchFamily="34" charset="-120"/>
              </a:rPr>
              <a:t>40%+</a:t>
            </a:r>
            <a:endParaRPr lang="en-US" sz="14000" dirty="0"/>
          </a:p>
        </p:txBody>
      </p:sp>
      <p:sp>
        <p:nvSpPr>
          <p:cNvPr id="6" name="Text 4"/>
          <p:cNvSpPr txBox="1"/>
          <p:nvPr/>
        </p:nvSpPr>
        <p:spPr>
          <a:xfrm>
            <a:off x="6400800" y="3063240"/>
            <a:ext cx="4937760" cy="868680"/>
          </a:xfrm>
          <a:prstGeom prst="rect">
            <a:avLst/>
          </a:prstGeom>
          <a:noFill/>
          <a:ln/>
        </p:spPr>
        <p:txBody>
          <a:bodyPr wrap="square" lIns="0" tIns="0" rIns="0" bIns="0" rtlCol="0" anchor="t"/>
          <a:lstStyle/>
          <a:p>
            <a:pPr indent="0" marL="0">
              <a:buNone/>
            </a:pPr>
            <a:r>
              <a:rPr lang="en-US" sz="2100" dirty="0">
                <a:solidFill>
                  <a:srgbClr val="3D4148"/>
                </a:solidFill>
                <a:latin typeface="Arial" pitchFamily="34" charset="0"/>
                <a:ea typeface="Arial" pitchFamily="34" charset="-122"/>
                <a:cs typeface="Arial" pitchFamily="34" charset="-120"/>
              </a:rPr>
              <a:t>of firms say access to finance is a major constraint</a:t>
            </a:r>
            <a:endParaRPr lang="en-US" sz="2100" dirty="0"/>
          </a:p>
        </p:txBody>
      </p:sp>
      <p:sp>
        <p:nvSpPr>
          <p:cNvPr id="7" name="Text 5"/>
          <p:cNvSpPr txBox="1"/>
          <p:nvPr/>
        </p:nvSpPr>
        <p:spPr>
          <a:xfrm>
            <a:off x="685800" y="4434840"/>
            <a:ext cx="10789920" cy="731520"/>
          </a:xfrm>
          <a:prstGeom prst="rect">
            <a:avLst/>
          </a:prstGeom>
          <a:noFill/>
          <a:ln/>
        </p:spPr>
        <p:txBody>
          <a:bodyPr wrap="square" lIns="0" tIns="0" rIns="0" bIns="0" rtlCol="0" anchor="t"/>
          <a:lstStyle/>
          <a:p>
            <a:pPr indent="0" marL="0">
              <a:buNone/>
            </a:pPr>
            <a:r>
              <a:rPr lang="en-US" sz="3800" b="1" dirty="0">
                <a:solidFill>
                  <a:srgbClr val="1A1D21"/>
                </a:solidFill>
                <a:latin typeface="Arial" pitchFamily="34" charset="0"/>
                <a:ea typeface="Arial" pitchFamily="34" charset="-122"/>
                <a:cs typeface="Arial" pitchFamily="34" charset="-120"/>
              </a:rPr>
              <a:t>Not bad businesses. </a:t>
            </a:r>
            <a:pPr indent="0" marL="0">
              <a:buNone/>
            </a:pPr>
            <a:r>
              <a:rPr lang="en-US" sz="3800" b="1" dirty="0">
                <a:solidFill>
                  <a:srgbClr val="C2410C"/>
                </a:solidFill>
                <a:latin typeface="Arial" pitchFamily="34" charset="0"/>
                <a:ea typeface="Arial" pitchFamily="34" charset="-122"/>
                <a:cs typeface="Arial" pitchFamily="34" charset="-120"/>
              </a:rPr>
              <a:t>Unrecorded ones.</a:t>
            </a:r>
            <a:endParaRPr lang="en-US" sz="3800" dirty="0"/>
          </a:p>
        </p:txBody>
      </p:sp>
      <p:sp>
        <p:nvSpPr>
          <p:cNvPr id="8" name="Text 6"/>
          <p:cNvSpPr txBox="1"/>
          <p:nvPr/>
        </p:nvSpPr>
        <p:spPr>
          <a:xfrm>
            <a:off x="685800" y="5303520"/>
            <a:ext cx="10058400" cy="365760"/>
          </a:xfrm>
          <a:prstGeom prst="rect">
            <a:avLst/>
          </a:prstGeom>
          <a:noFill/>
          <a:ln/>
        </p:spPr>
        <p:txBody>
          <a:bodyPr wrap="square" lIns="0" tIns="0" rIns="0" bIns="0" rtlCol="0" anchor="t"/>
          <a:lstStyle/>
          <a:p>
            <a:pPr indent="0" marL="0">
              <a:buNone/>
            </a:pPr>
            <a:r>
              <a:rPr lang="en-US" sz="1200" dirty="0">
                <a:solidFill>
                  <a:srgbClr val="A4A7AD"/>
                </a:solidFill>
                <a:latin typeface="Arial" pitchFamily="34" charset="0"/>
                <a:ea typeface="Arial" pitchFamily="34" charset="-122"/>
                <a:cs typeface="Arial" pitchFamily="34" charset="-120"/>
              </a:rPr>
              <a:t>World Bank, “From Dreams to Thriving Business”, April 2025</a:t>
            </a:r>
            <a:endParaRPr lang="en-US" sz="12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85800" y="502920"/>
            <a:ext cx="5486400" cy="320040"/>
          </a:xfrm>
          <a:prstGeom prst="rect">
            <a:avLst/>
          </a:prstGeom>
          <a:noFill/>
          <a:ln/>
        </p:spPr>
        <p:txBody>
          <a:bodyPr wrap="square" lIns="0" tIns="0" rIns="0" bIns="0" rtlCol="0" anchor="t"/>
          <a:lstStyle/>
          <a:p>
            <a:pPr indent="0" marL="0">
              <a:buNone/>
            </a:pPr>
            <a:r>
              <a:rPr lang="en-US" sz="1300" b="1" spc="300" kern="0" dirty="0">
                <a:solidFill>
                  <a:srgbClr val="6B6F76"/>
                </a:solidFill>
                <a:latin typeface="Arial" pitchFamily="34" charset="0"/>
                <a:ea typeface="Arial" pitchFamily="34" charset="-122"/>
                <a:cs typeface="Arial" pitchFamily="34" charset="-120"/>
              </a:rPr>
              <a:t>WHAT SAGE IS</a:t>
            </a:r>
            <a:endParaRPr lang="en-US" sz="1300" dirty="0"/>
          </a:p>
        </p:txBody>
      </p:sp>
      <p:sp>
        <p:nvSpPr>
          <p:cNvPr id="3" name="Text 1"/>
          <p:cNvSpPr txBox="1"/>
          <p:nvPr/>
        </p:nvSpPr>
        <p:spPr>
          <a:xfrm>
            <a:off x="685800" y="868680"/>
            <a:ext cx="10789920" cy="822960"/>
          </a:xfrm>
          <a:prstGeom prst="rect">
            <a:avLst/>
          </a:prstGeom>
          <a:noFill/>
          <a:ln/>
        </p:spPr>
        <p:txBody>
          <a:bodyPr wrap="square" lIns="0" tIns="0" rIns="0" bIns="0" rtlCol="0" anchor="t"/>
          <a:lstStyle/>
          <a:p>
            <a:pPr indent="0" marL="0">
              <a:buNone/>
            </a:pPr>
            <a:r>
              <a:rPr lang="en-US" sz="4000" b="1" dirty="0">
                <a:solidFill>
                  <a:srgbClr val="1A1D21"/>
                </a:solidFill>
                <a:latin typeface="Arial" pitchFamily="34" charset="0"/>
                <a:ea typeface="Arial" pitchFamily="34" charset="-122"/>
                <a:cs typeface="Arial" pitchFamily="34" charset="-120"/>
              </a:rPr>
              <a:t>Sage fixes the record by fixing the payment</a:t>
            </a:r>
            <a:endParaRPr lang="en-US" sz="4000" dirty="0"/>
          </a:p>
        </p:txBody>
      </p:sp>
      <p:sp>
        <p:nvSpPr>
          <p:cNvPr id="4" name="Shape 2"/>
          <p:cNvSpPr/>
          <p:nvPr/>
        </p:nvSpPr>
        <p:spPr>
          <a:xfrm>
            <a:off x="1051560" y="2880360"/>
            <a:ext cx="8851392" cy="0"/>
          </a:xfrm>
          <a:prstGeom prst="line">
            <a:avLst/>
          </a:prstGeom>
          <a:noFill/>
          <a:ln w="25400">
            <a:solidFill>
              <a:srgbClr val="D9D6CE"/>
            </a:solidFill>
            <a:prstDash val="solid"/>
          </a:ln>
        </p:spPr>
      </p:sp>
      <p:sp>
        <p:nvSpPr>
          <p:cNvPr id="5" name="Shape 3"/>
          <p:cNvSpPr/>
          <p:nvPr/>
        </p:nvSpPr>
        <p:spPr>
          <a:xfrm>
            <a:off x="685800" y="2514600"/>
            <a:ext cx="731520" cy="731520"/>
          </a:xfrm>
          <a:prstGeom prst="ellipse">
            <a:avLst/>
          </a:prstGeom>
          <a:solidFill>
            <a:srgbClr val="FFFFFF"/>
          </a:solidFill>
          <a:ln w="22225">
            <a:solidFill>
              <a:srgbClr val="1A1D21"/>
            </a:solidFill>
            <a:prstDash val="solid"/>
          </a:ln>
        </p:spPr>
      </p:sp>
      <p:sp>
        <p:nvSpPr>
          <p:cNvPr id="6" name="Text 4"/>
          <p:cNvSpPr txBox="1"/>
          <p:nvPr/>
        </p:nvSpPr>
        <p:spPr>
          <a:xfrm>
            <a:off x="685800" y="2514600"/>
            <a:ext cx="731520" cy="731520"/>
          </a:xfrm>
          <a:prstGeom prst="rect">
            <a:avLst/>
          </a:prstGeom>
          <a:noFill/>
          <a:ln/>
        </p:spPr>
        <p:txBody>
          <a:bodyPr wrap="square" lIns="0" tIns="0" rIns="0" bIns="0" rtlCol="0" anchor="ctr"/>
          <a:lstStyle/>
          <a:p>
            <a:pPr algn="ctr" indent="0" marL="0">
              <a:buNone/>
            </a:pPr>
            <a:r>
              <a:rPr lang="en-US" sz="2000" b="1" dirty="0">
                <a:solidFill>
                  <a:srgbClr val="1A1D21"/>
                </a:solidFill>
                <a:latin typeface="Arial" pitchFamily="34" charset="0"/>
                <a:ea typeface="Arial" pitchFamily="34" charset="-122"/>
                <a:cs typeface="Arial" pitchFamily="34" charset="-120"/>
              </a:rPr>
              <a:t>1</a:t>
            </a:r>
            <a:endParaRPr lang="en-US" sz="2000" dirty="0"/>
          </a:p>
        </p:txBody>
      </p:sp>
      <p:sp>
        <p:nvSpPr>
          <p:cNvPr id="7" name="Text 5"/>
          <p:cNvSpPr txBox="1"/>
          <p:nvPr/>
        </p:nvSpPr>
        <p:spPr>
          <a:xfrm>
            <a:off x="685800" y="3520440"/>
            <a:ext cx="2103120" cy="777240"/>
          </a:xfrm>
          <a:prstGeom prst="rect">
            <a:avLst/>
          </a:prstGeom>
          <a:noFill/>
          <a:ln/>
        </p:spPr>
        <p:txBody>
          <a:bodyPr wrap="square" lIns="0" tIns="0" rIns="0" bIns="0" rtlCol="0" anchor="t"/>
          <a:lstStyle/>
          <a:p>
            <a:pPr indent="0" marL="0">
              <a:buNone/>
            </a:pPr>
            <a:r>
              <a:rPr lang="en-US" sz="1900" b="1" dirty="0">
                <a:solidFill>
                  <a:srgbClr val="1A1D21"/>
                </a:solidFill>
                <a:latin typeface="Arial" pitchFamily="34" charset="0"/>
                <a:ea typeface="Arial" pitchFamily="34" charset="-122"/>
                <a:cs typeface="Arial" pitchFamily="34" charset="-120"/>
              </a:rPr>
              <a:t>The work</a:t>
            </a:r>
            <a:endParaRPr lang="en-US" sz="1900" dirty="0"/>
          </a:p>
        </p:txBody>
      </p:sp>
      <p:sp>
        <p:nvSpPr>
          <p:cNvPr id="8" name="Text 6"/>
          <p:cNvSpPr txBox="1"/>
          <p:nvPr/>
        </p:nvSpPr>
        <p:spPr>
          <a:xfrm>
            <a:off x="685800" y="4297680"/>
            <a:ext cx="2011680" cy="914400"/>
          </a:xfrm>
          <a:prstGeom prst="rect">
            <a:avLst/>
          </a:prstGeom>
          <a:noFill/>
          <a:ln/>
        </p:spPr>
        <p:txBody>
          <a:bodyPr wrap="square" lIns="0" tIns="0" rIns="0" bIns="0" rtlCol="0" anchor="t"/>
          <a:lstStyle/>
          <a:p>
            <a:pPr indent="0" marL="0">
              <a:buNone/>
            </a:pPr>
            <a:r>
              <a:rPr lang="en-US" sz="1500" dirty="0">
                <a:solidFill>
                  <a:srgbClr val="6B6F76"/>
                </a:solidFill>
                <a:latin typeface="Arial" pitchFamily="34" charset="0"/>
                <a:ea typeface="Arial" pitchFamily="34" charset="-122"/>
                <a:cs typeface="Arial" pitchFamily="34" charset="-120"/>
              </a:rPr>
              <a:t>Described once, in your own currency</a:t>
            </a:r>
            <a:endParaRPr lang="en-US" sz="1500" dirty="0"/>
          </a:p>
        </p:txBody>
      </p:sp>
      <p:sp>
        <p:nvSpPr>
          <p:cNvPr id="9" name="Shape 7"/>
          <p:cNvSpPr/>
          <p:nvPr/>
        </p:nvSpPr>
        <p:spPr>
          <a:xfrm>
            <a:off x="2898648" y="2514600"/>
            <a:ext cx="731520" cy="731520"/>
          </a:xfrm>
          <a:prstGeom prst="ellipse">
            <a:avLst/>
          </a:prstGeom>
          <a:solidFill>
            <a:srgbClr val="C2410C"/>
          </a:solidFill>
          <a:ln w="22225">
            <a:solidFill>
              <a:srgbClr val="C2410C"/>
            </a:solidFill>
            <a:prstDash val="solid"/>
          </a:ln>
        </p:spPr>
      </p:sp>
      <p:sp>
        <p:nvSpPr>
          <p:cNvPr id="10" name="Text 8"/>
          <p:cNvSpPr txBox="1"/>
          <p:nvPr/>
        </p:nvSpPr>
        <p:spPr>
          <a:xfrm>
            <a:off x="2898648" y="2514600"/>
            <a:ext cx="731520" cy="7315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1" name="Text 9"/>
          <p:cNvSpPr txBox="1"/>
          <p:nvPr/>
        </p:nvSpPr>
        <p:spPr>
          <a:xfrm>
            <a:off x="2898648" y="3520440"/>
            <a:ext cx="2103120" cy="777240"/>
          </a:xfrm>
          <a:prstGeom prst="rect">
            <a:avLst/>
          </a:prstGeom>
          <a:noFill/>
          <a:ln/>
        </p:spPr>
        <p:txBody>
          <a:bodyPr wrap="square" lIns="0" tIns="0" rIns="0" bIns="0" rtlCol="0" anchor="t"/>
          <a:lstStyle/>
          <a:p>
            <a:pPr indent="0" marL="0">
              <a:buNone/>
            </a:pPr>
            <a:r>
              <a:rPr lang="en-US" sz="1900" b="1" dirty="0">
                <a:solidFill>
                  <a:srgbClr val="1A1D21"/>
                </a:solidFill>
                <a:latin typeface="Arial" pitchFamily="34" charset="0"/>
                <a:ea typeface="Arial" pitchFamily="34" charset="-122"/>
                <a:cs typeface="Arial" pitchFamily="34" charset="-120"/>
              </a:rPr>
              <a:t>Sage checks it</a:t>
            </a:r>
            <a:endParaRPr lang="en-US" sz="1900" dirty="0"/>
          </a:p>
        </p:txBody>
      </p:sp>
      <p:sp>
        <p:nvSpPr>
          <p:cNvPr id="12" name="Text 10"/>
          <p:cNvSpPr txBox="1"/>
          <p:nvPr/>
        </p:nvSpPr>
        <p:spPr>
          <a:xfrm>
            <a:off x="2898648" y="4297680"/>
            <a:ext cx="2011680" cy="914400"/>
          </a:xfrm>
          <a:prstGeom prst="rect">
            <a:avLst/>
          </a:prstGeom>
          <a:noFill/>
          <a:ln/>
        </p:spPr>
        <p:txBody>
          <a:bodyPr wrap="square" lIns="0" tIns="0" rIns="0" bIns="0" rtlCol="0" anchor="t"/>
          <a:lstStyle/>
          <a:p>
            <a:pPr indent="0" marL="0">
              <a:buNone/>
            </a:pPr>
            <a:r>
              <a:rPr lang="en-US" sz="1500" dirty="0">
                <a:solidFill>
                  <a:srgbClr val="6B6F76"/>
                </a:solidFill>
                <a:latin typeface="Arial" pitchFamily="34" charset="0"/>
                <a:ea typeface="Arial" pitchFamily="34" charset="-122"/>
                <a:cs typeface="Arial" pitchFamily="34" charset="-120"/>
              </a:rPr>
              <a:t>Opens the delivery itself, and can say no</a:t>
            </a:r>
            <a:endParaRPr lang="en-US" sz="1500" dirty="0"/>
          </a:p>
        </p:txBody>
      </p:sp>
      <p:sp>
        <p:nvSpPr>
          <p:cNvPr id="13" name="Shape 11"/>
          <p:cNvSpPr/>
          <p:nvPr/>
        </p:nvSpPr>
        <p:spPr>
          <a:xfrm>
            <a:off x="5111496" y="2514600"/>
            <a:ext cx="731520" cy="731520"/>
          </a:xfrm>
          <a:prstGeom prst="ellipse">
            <a:avLst/>
          </a:prstGeom>
          <a:solidFill>
            <a:srgbClr val="FFFFFF"/>
          </a:solidFill>
          <a:ln w="22225">
            <a:solidFill>
              <a:srgbClr val="1A1D21"/>
            </a:solidFill>
            <a:prstDash val="solid"/>
          </a:ln>
        </p:spPr>
      </p:sp>
      <p:sp>
        <p:nvSpPr>
          <p:cNvPr id="14" name="Text 12"/>
          <p:cNvSpPr txBox="1"/>
          <p:nvPr/>
        </p:nvSpPr>
        <p:spPr>
          <a:xfrm>
            <a:off x="5111496" y="2514600"/>
            <a:ext cx="731520" cy="731520"/>
          </a:xfrm>
          <a:prstGeom prst="rect">
            <a:avLst/>
          </a:prstGeom>
          <a:noFill/>
          <a:ln/>
        </p:spPr>
        <p:txBody>
          <a:bodyPr wrap="square" lIns="0" tIns="0" rIns="0" bIns="0" rtlCol="0" anchor="ctr"/>
          <a:lstStyle/>
          <a:p>
            <a:pPr algn="ctr" indent="0" marL="0">
              <a:buNone/>
            </a:pPr>
            <a:r>
              <a:rPr lang="en-US" sz="2000" b="1" dirty="0">
                <a:solidFill>
                  <a:srgbClr val="1A1D21"/>
                </a:solidFill>
                <a:latin typeface="Arial" pitchFamily="34" charset="0"/>
                <a:ea typeface="Arial" pitchFamily="34" charset="-122"/>
                <a:cs typeface="Arial" pitchFamily="34" charset="-120"/>
              </a:rPr>
              <a:t>3</a:t>
            </a:r>
            <a:endParaRPr lang="en-US" sz="2000" dirty="0"/>
          </a:p>
        </p:txBody>
      </p:sp>
      <p:sp>
        <p:nvSpPr>
          <p:cNvPr id="15" name="Text 13"/>
          <p:cNvSpPr txBox="1"/>
          <p:nvPr/>
        </p:nvSpPr>
        <p:spPr>
          <a:xfrm>
            <a:off x="5111496" y="3520440"/>
            <a:ext cx="2103120" cy="777240"/>
          </a:xfrm>
          <a:prstGeom prst="rect">
            <a:avLst/>
          </a:prstGeom>
          <a:noFill/>
          <a:ln/>
        </p:spPr>
        <p:txBody>
          <a:bodyPr wrap="square" lIns="0" tIns="0" rIns="0" bIns="0" rtlCol="0" anchor="t"/>
          <a:lstStyle/>
          <a:p>
            <a:pPr indent="0" marL="0">
              <a:buNone/>
            </a:pPr>
            <a:r>
              <a:rPr lang="en-US" sz="1900" b="1" dirty="0">
                <a:solidFill>
                  <a:srgbClr val="1A1D21"/>
                </a:solidFill>
                <a:latin typeface="Arial" pitchFamily="34" charset="0"/>
                <a:ea typeface="Arial" pitchFamily="34" charset="-122"/>
                <a:cs typeface="Arial" pitchFamily="34" charset="-120"/>
              </a:rPr>
              <a:t>Paid in minutes</a:t>
            </a:r>
            <a:endParaRPr lang="en-US" sz="1900" dirty="0"/>
          </a:p>
        </p:txBody>
      </p:sp>
      <p:sp>
        <p:nvSpPr>
          <p:cNvPr id="16" name="Text 14"/>
          <p:cNvSpPr txBox="1"/>
          <p:nvPr/>
        </p:nvSpPr>
        <p:spPr>
          <a:xfrm>
            <a:off x="5111496" y="4297680"/>
            <a:ext cx="2011680" cy="914400"/>
          </a:xfrm>
          <a:prstGeom prst="rect">
            <a:avLst/>
          </a:prstGeom>
          <a:noFill/>
          <a:ln/>
        </p:spPr>
        <p:txBody>
          <a:bodyPr wrap="square" lIns="0" tIns="0" rIns="0" bIns="0" rtlCol="0" anchor="t"/>
          <a:lstStyle/>
          <a:p>
            <a:pPr indent="0" marL="0">
              <a:buNone/>
            </a:pPr>
            <a:r>
              <a:rPr lang="en-US" sz="1500" dirty="0">
                <a:solidFill>
                  <a:srgbClr val="6B6F76"/>
                </a:solidFill>
                <a:latin typeface="Arial" pitchFamily="34" charset="0"/>
                <a:ea typeface="Arial" pitchFamily="34" charset="-122"/>
                <a:cs typeface="Arial" pitchFamily="34" charset="-120"/>
              </a:rPr>
              <a:t>Digital dollars, a flat fee, a public receipt</a:t>
            </a:r>
            <a:endParaRPr lang="en-US" sz="1500" dirty="0"/>
          </a:p>
        </p:txBody>
      </p:sp>
      <p:sp>
        <p:nvSpPr>
          <p:cNvPr id="17" name="Shape 15"/>
          <p:cNvSpPr/>
          <p:nvPr/>
        </p:nvSpPr>
        <p:spPr>
          <a:xfrm>
            <a:off x="7324344" y="2514600"/>
            <a:ext cx="731520" cy="731520"/>
          </a:xfrm>
          <a:prstGeom prst="ellipse">
            <a:avLst/>
          </a:prstGeom>
          <a:solidFill>
            <a:srgbClr val="FFFFFF"/>
          </a:solidFill>
          <a:ln w="22225">
            <a:solidFill>
              <a:srgbClr val="1A1D21"/>
            </a:solidFill>
            <a:prstDash val="solid"/>
          </a:ln>
        </p:spPr>
      </p:sp>
      <p:sp>
        <p:nvSpPr>
          <p:cNvPr id="18" name="Text 16"/>
          <p:cNvSpPr txBox="1"/>
          <p:nvPr/>
        </p:nvSpPr>
        <p:spPr>
          <a:xfrm>
            <a:off x="7324344" y="2514600"/>
            <a:ext cx="731520" cy="731520"/>
          </a:xfrm>
          <a:prstGeom prst="rect">
            <a:avLst/>
          </a:prstGeom>
          <a:noFill/>
          <a:ln/>
        </p:spPr>
        <p:txBody>
          <a:bodyPr wrap="square" lIns="0" tIns="0" rIns="0" bIns="0" rtlCol="0" anchor="ctr"/>
          <a:lstStyle/>
          <a:p>
            <a:pPr algn="ctr" indent="0" marL="0">
              <a:buNone/>
            </a:pPr>
            <a:r>
              <a:rPr lang="en-US" sz="2000" b="1" dirty="0">
                <a:solidFill>
                  <a:srgbClr val="1A1D21"/>
                </a:solidFill>
                <a:latin typeface="Arial" pitchFamily="34" charset="0"/>
                <a:ea typeface="Arial" pitchFamily="34" charset="-122"/>
                <a:cs typeface="Arial" pitchFamily="34" charset="-120"/>
              </a:rPr>
              <a:t>4</a:t>
            </a:r>
            <a:endParaRPr lang="en-US" sz="2000" dirty="0"/>
          </a:p>
        </p:txBody>
      </p:sp>
      <p:sp>
        <p:nvSpPr>
          <p:cNvPr id="19" name="Text 17"/>
          <p:cNvSpPr txBox="1"/>
          <p:nvPr/>
        </p:nvSpPr>
        <p:spPr>
          <a:xfrm>
            <a:off x="7324344" y="3520440"/>
            <a:ext cx="2103120" cy="777240"/>
          </a:xfrm>
          <a:prstGeom prst="rect">
            <a:avLst/>
          </a:prstGeom>
          <a:noFill/>
          <a:ln/>
        </p:spPr>
        <p:txBody>
          <a:bodyPr wrap="square" lIns="0" tIns="0" rIns="0" bIns="0" rtlCol="0" anchor="t"/>
          <a:lstStyle/>
          <a:p>
            <a:pPr indent="0" marL="0">
              <a:buNone/>
            </a:pPr>
            <a:r>
              <a:rPr lang="en-US" sz="1900" b="1" dirty="0">
                <a:solidFill>
                  <a:srgbClr val="1A1D21"/>
                </a:solidFill>
                <a:latin typeface="Arial" pitchFamily="34" charset="0"/>
                <a:ea typeface="Arial" pitchFamily="34" charset="-122"/>
                <a:cs typeface="Arial" pitchFamily="34" charset="-120"/>
              </a:rPr>
              <a:t>A credit record</a:t>
            </a:r>
            <a:endParaRPr lang="en-US" sz="1900" dirty="0"/>
          </a:p>
        </p:txBody>
      </p:sp>
      <p:sp>
        <p:nvSpPr>
          <p:cNvPr id="20" name="Text 18"/>
          <p:cNvSpPr txBox="1"/>
          <p:nvPr/>
        </p:nvSpPr>
        <p:spPr>
          <a:xfrm>
            <a:off x="7324344" y="4297680"/>
            <a:ext cx="2011680" cy="914400"/>
          </a:xfrm>
          <a:prstGeom prst="rect">
            <a:avLst/>
          </a:prstGeom>
          <a:noFill/>
          <a:ln/>
        </p:spPr>
        <p:txBody>
          <a:bodyPr wrap="square" lIns="0" tIns="0" rIns="0" bIns="0" rtlCol="0" anchor="t"/>
          <a:lstStyle/>
          <a:p>
            <a:pPr indent="0" marL="0">
              <a:buNone/>
            </a:pPr>
            <a:r>
              <a:rPr lang="en-US" sz="1500" dirty="0">
                <a:solidFill>
                  <a:srgbClr val="6B6F76"/>
                </a:solidFill>
                <a:latin typeface="Arial" pitchFamily="34" charset="0"/>
                <a:ea typeface="Arial" pitchFamily="34" charset="-122"/>
                <a:cs typeface="Arial" pitchFamily="34" charset="-120"/>
              </a:rPr>
              <a:t>Every payment becomes verified income</a:t>
            </a:r>
            <a:endParaRPr lang="en-US" sz="1500" dirty="0"/>
          </a:p>
        </p:txBody>
      </p:sp>
      <p:sp>
        <p:nvSpPr>
          <p:cNvPr id="21" name="Shape 19"/>
          <p:cNvSpPr/>
          <p:nvPr/>
        </p:nvSpPr>
        <p:spPr>
          <a:xfrm>
            <a:off x="9537192" y="2514600"/>
            <a:ext cx="731520" cy="731520"/>
          </a:xfrm>
          <a:prstGeom prst="ellipse">
            <a:avLst/>
          </a:prstGeom>
          <a:solidFill>
            <a:srgbClr val="FFFFFF"/>
          </a:solidFill>
          <a:ln w="22225">
            <a:solidFill>
              <a:srgbClr val="1A1D21"/>
            </a:solidFill>
            <a:prstDash val="solid"/>
          </a:ln>
        </p:spPr>
      </p:sp>
      <p:sp>
        <p:nvSpPr>
          <p:cNvPr id="22" name="Text 20"/>
          <p:cNvSpPr txBox="1"/>
          <p:nvPr/>
        </p:nvSpPr>
        <p:spPr>
          <a:xfrm>
            <a:off x="9537192" y="2514600"/>
            <a:ext cx="731520" cy="731520"/>
          </a:xfrm>
          <a:prstGeom prst="rect">
            <a:avLst/>
          </a:prstGeom>
          <a:noFill/>
          <a:ln/>
        </p:spPr>
        <p:txBody>
          <a:bodyPr wrap="square" lIns="0" tIns="0" rIns="0" bIns="0" rtlCol="0" anchor="ctr"/>
          <a:lstStyle/>
          <a:p>
            <a:pPr algn="ctr" indent="0" marL="0">
              <a:buNone/>
            </a:pPr>
            <a:r>
              <a:rPr lang="en-US" sz="2000" b="1" dirty="0">
                <a:solidFill>
                  <a:srgbClr val="1A1D21"/>
                </a:solidFill>
                <a:latin typeface="Arial" pitchFamily="34" charset="0"/>
                <a:ea typeface="Arial" pitchFamily="34" charset="-122"/>
                <a:cs typeface="Arial" pitchFamily="34" charset="-120"/>
              </a:rPr>
              <a:t>5</a:t>
            </a:r>
            <a:endParaRPr lang="en-US" sz="2000" dirty="0"/>
          </a:p>
        </p:txBody>
      </p:sp>
      <p:sp>
        <p:nvSpPr>
          <p:cNvPr id="23" name="Text 21"/>
          <p:cNvSpPr txBox="1"/>
          <p:nvPr/>
        </p:nvSpPr>
        <p:spPr>
          <a:xfrm>
            <a:off x="9537192" y="3520440"/>
            <a:ext cx="2103120" cy="777240"/>
          </a:xfrm>
          <a:prstGeom prst="rect">
            <a:avLst/>
          </a:prstGeom>
          <a:noFill/>
          <a:ln/>
        </p:spPr>
        <p:txBody>
          <a:bodyPr wrap="square" lIns="0" tIns="0" rIns="0" bIns="0" rtlCol="0" anchor="t"/>
          <a:lstStyle/>
          <a:p>
            <a:pPr indent="0" marL="0">
              <a:buNone/>
            </a:pPr>
            <a:r>
              <a:rPr lang="en-US" sz="1900" b="1" dirty="0">
                <a:solidFill>
                  <a:srgbClr val="1A1D21"/>
                </a:solidFill>
                <a:latin typeface="Arial" pitchFamily="34" charset="0"/>
                <a:ea typeface="Arial" pitchFamily="34" charset="-122"/>
                <a:cs typeface="Arial" pitchFamily="34" charset="-120"/>
              </a:rPr>
              <a:t>A lender reads it</a:t>
            </a:r>
            <a:endParaRPr lang="en-US" sz="1900" dirty="0"/>
          </a:p>
        </p:txBody>
      </p:sp>
      <p:sp>
        <p:nvSpPr>
          <p:cNvPr id="24" name="Text 22"/>
          <p:cNvSpPr txBox="1"/>
          <p:nvPr/>
        </p:nvSpPr>
        <p:spPr>
          <a:xfrm>
            <a:off x="9537192" y="4297680"/>
            <a:ext cx="2011680" cy="914400"/>
          </a:xfrm>
          <a:prstGeom prst="rect">
            <a:avLst/>
          </a:prstGeom>
          <a:noFill/>
          <a:ln/>
        </p:spPr>
        <p:txBody>
          <a:bodyPr wrap="square" lIns="0" tIns="0" rIns="0" bIns="0" rtlCol="0" anchor="t"/>
          <a:lstStyle/>
          <a:p>
            <a:pPr indent="0" marL="0">
              <a:buNone/>
            </a:pPr>
            <a:r>
              <a:rPr lang="en-US" sz="1500" dirty="0">
                <a:solidFill>
                  <a:srgbClr val="6B6F76"/>
                </a:solidFill>
                <a:latin typeface="Arial" pitchFamily="34" charset="0"/>
                <a:ea typeface="Arial" pitchFamily="34" charset="-122"/>
                <a:cs typeface="Arial" pitchFamily="34" charset="-120"/>
              </a:rPr>
              <a:t>In one call, no collateral needed</a:t>
            </a:r>
            <a:endParaRPr lang="en-US" sz="15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1st Place Grand Champion certificate, OpenClaw Summer Bootcamp 2026">    </p:cNvPr>
          <p:cNvPicPr>
            <a:picLocks noChangeAspect="1"/>
          </p:cNvPicPr>
          <p:nvPr/>
        </p:nvPicPr>
        <p:blipFill>
          <a:blip r:embed="rId1"/>
          <a:stretch>
            <a:fillRect/>
          </a:stretch>
        </p:blipFill>
        <p:spPr>
          <a:xfrm rot="-90000">
            <a:off x="685800" y="868680"/>
            <a:ext cx="5760720" cy="4452214"/>
          </a:xfrm>
          <a:prstGeom prst="rect">
            <a:avLst/>
          </a:prstGeom>
          <a:effectLst>
            <a:outerShdw sx="100000" sy="100000" kx="0" ky="0" algn="bl" rotWithShape="0" blurRad="152400" dist="50800" dir="5400000">
              <a:srgbClr val="1A1D21">
                <a:alpha val="18000"/>
              </a:srgbClr>
            </a:outerShdw>
          </a:effectLst>
        </p:spPr>
      </p:pic>
      <p:sp>
        <p:nvSpPr>
          <p:cNvPr id="3" name="Shape 0"/>
          <p:cNvSpPr/>
          <p:nvPr/>
        </p:nvSpPr>
        <p:spPr>
          <a:xfrm>
            <a:off x="6995160" y="868680"/>
            <a:ext cx="3931920" cy="502920"/>
          </a:xfrm>
          <a:prstGeom prst="roundRect">
            <a:avLst>
              <a:gd name="adj" fmla="val 49091"/>
            </a:avLst>
          </a:prstGeom>
          <a:solidFill>
            <a:srgbClr val="FDF1EA"/>
          </a:solidFill>
          <a:ln w="12700">
            <a:solidFill>
              <a:srgbClr val="FDF1EA"/>
            </a:solidFill>
            <a:prstDash val="solid"/>
          </a:ln>
        </p:spPr>
      </p:sp>
      <p:sp>
        <p:nvSpPr>
          <p:cNvPr id="4" name="Text 1"/>
          <p:cNvSpPr txBox="1"/>
          <p:nvPr/>
        </p:nvSpPr>
        <p:spPr>
          <a:xfrm>
            <a:off x="6995160" y="868680"/>
            <a:ext cx="3931920" cy="502920"/>
          </a:xfrm>
          <a:prstGeom prst="rect">
            <a:avLst/>
          </a:prstGeom>
          <a:noFill/>
          <a:ln/>
        </p:spPr>
        <p:txBody>
          <a:bodyPr wrap="square" lIns="0" tIns="0" rIns="0" bIns="0" rtlCol="0" anchor="ctr"/>
          <a:lstStyle/>
          <a:p>
            <a:pPr algn="ctr" indent="0" marL="0">
              <a:buNone/>
            </a:pPr>
            <a:r>
              <a:rPr lang="en-US" sz="1400" b="1" spc="200" kern="0" dirty="0">
                <a:solidFill>
                  <a:srgbClr val="C2410C"/>
                </a:solidFill>
                <a:latin typeface="Arial" pitchFamily="34" charset="0"/>
                <a:ea typeface="Arial" pitchFamily="34" charset="-122"/>
                <a:cs typeface="Arial" pitchFamily="34" charset="-120"/>
              </a:rPr>
              <a:t>1ST PLACE  ·  GRAND CHAMPION</a:t>
            </a:r>
            <a:endParaRPr lang="en-US" sz="1400" dirty="0"/>
          </a:p>
        </p:txBody>
      </p:sp>
      <p:sp>
        <p:nvSpPr>
          <p:cNvPr id="5" name="Text 2"/>
          <p:cNvSpPr txBox="1"/>
          <p:nvPr/>
        </p:nvSpPr>
        <p:spPr>
          <a:xfrm>
            <a:off x="6995160" y="1600200"/>
            <a:ext cx="4754880" cy="822960"/>
          </a:xfrm>
          <a:prstGeom prst="rect">
            <a:avLst/>
          </a:prstGeom>
          <a:noFill/>
          <a:ln/>
        </p:spPr>
        <p:txBody>
          <a:bodyPr wrap="square" lIns="0" tIns="0" rIns="0" bIns="0" rtlCol="0" anchor="t"/>
          <a:lstStyle/>
          <a:p>
            <a:pPr indent="0" marL="0">
              <a:buNone/>
            </a:pPr>
            <a:r>
              <a:rPr lang="en-US" sz="4000" b="1" dirty="0">
                <a:solidFill>
                  <a:srgbClr val="1A1D21"/>
                </a:solidFill>
                <a:latin typeface="Arial" pitchFamily="34" charset="0"/>
                <a:ea typeface="Arial" pitchFamily="34" charset="-122"/>
                <a:cs typeface="Arial" pitchFamily="34" charset="-120"/>
              </a:rPr>
              <a:t>Not a prototype</a:t>
            </a:r>
            <a:endParaRPr lang="en-US" sz="4000" dirty="0"/>
          </a:p>
        </p:txBody>
      </p:sp>
      <p:sp>
        <p:nvSpPr>
          <p:cNvPr id="6" name="Text 3"/>
          <p:cNvSpPr txBox="1"/>
          <p:nvPr/>
        </p:nvSpPr>
        <p:spPr>
          <a:xfrm>
            <a:off x="6995160" y="2514600"/>
            <a:ext cx="4754880" cy="457200"/>
          </a:xfrm>
          <a:prstGeom prst="rect">
            <a:avLst/>
          </a:prstGeom>
          <a:noFill/>
          <a:ln/>
        </p:spPr>
        <p:txBody>
          <a:bodyPr wrap="square" lIns="0" tIns="0" rIns="0" bIns="0" rtlCol="0" anchor="t"/>
          <a:lstStyle/>
          <a:p>
            <a:pPr indent="0" marL="0">
              <a:buNone/>
            </a:pPr>
            <a:r>
              <a:rPr lang="en-US" sz="2100" dirty="0">
                <a:solidFill>
                  <a:srgbClr val="1A1D21"/>
                </a:solidFill>
                <a:latin typeface="Arial" pitchFamily="34" charset="0"/>
                <a:ea typeface="Arial" pitchFamily="34" charset="-122"/>
                <a:cs typeface="Arial" pitchFamily="34" charset="-120"/>
              </a:rPr>
              <a:t>Real people, real money, since July</a:t>
            </a:r>
            <a:endParaRPr lang="en-US" sz="2100" dirty="0"/>
          </a:p>
        </p:txBody>
      </p:sp>
      <p:sp>
        <p:nvSpPr>
          <p:cNvPr id="7" name="Text 4"/>
          <p:cNvSpPr txBox="1"/>
          <p:nvPr/>
        </p:nvSpPr>
        <p:spPr>
          <a:xfrm>
            <a:off x="6995160" y="3063240"/>
            <a:ext cx="4572000" cy="731520"/>
          </a:xfrm>
          <a:prstGeom prst="rect">
            <a:avLst/>
          </a:prstGeom>
          <a:noFill/>
          <a:ln/>
        </p:spPr>
        <p:txBody>
          <a:bodyPr wrap="square" lIns="0" tIns="0" rIns="0" bIns="0" rtlCol="0" anchor="t"/>
          <a:lstStyle/>
          <a:p>
            <a:pPr indent="0" marL="0">
              <a:buNone/>
            </a:pPr>
            <a:r>
              <a:rPr lang="en-US" sz="1500" dirty="0">
                <a:solidFill>
                  <a:srgbClr val="6B6F76"/>
                </a:solidFill>
                <a:latin typeface="Arial" pitchFamily="34" charset="0"/>
                <a:ea typeface="Arial" pitchFamily="34" charset="-122"/>
                <a:cs typeface="Arial" pitchFamily="34" charset="-120"/>
              </a:rPr>
              <a:t>OpenClaw Summer Bootcamp 2026: Metis Foundation, GOAT Network, ClawUp, CryptoChicks</a:t>
            </a:r>
            <a:endParaRPr lang="en-US" sz="1500" dirty="0"/>
          </a:p>
        </p:txBody>
      </p:sp>
      <p:sp>
        <p:nvSpPr>
          <p:cNvPr id="8" name="Text 5"/>
          <p:cNvSpPr txBox="1"/>
          <p:nvPr/>
        </p:nvSpPr>
        <p:spPr>
          <a:xfrm>
            <a:off x="6995160" y="3977640"/>
            <a:ext cx="2286000" cy="502920"/>
          </a:xfrm>
          <a:prstGeom prst="rect">
            <a:avLst/>
          </a:prstGeom>
          <a:noFill/>
          <a:ln/>
        </p:spPr>
        <p:txBody>
          <a:bodyPr wrap="square" lIns="0" tIns="0" rIns="0" bIns="0" rtlCol="0" anchor="t"/>
          <a:lstStyle/>
          <a:p>
            <a:pPr indent="0" marL="0">
              <a:buNone/>
            </a:pPr>
            <a:r>
              <a:rPr lang="en-US" sz="3000" b="1" dirty="0">
                <a:solidFill>
                  <a:srgbClr val="1A1D21"/>
                </a:solidFill>
                <a:latin typeface="Arial" pitchFamily="34" charset="0"/>
                <a:ea typeface="Arial" pitchFamily="34" charset="-122"/>
                <a:cs typeface="Arial" pitchFamily="34" charset="-120"/>
              </a:rPr>
              <a:t>$73.71</a:t>
            </a:r>
            <a:endParaRPr lang="en-US" sz="3000" dirty="0"/>
          </a:p>
        </p:txBody>
      </p:sp>
      <p:sp>
        <p:nvSpPr>
          <p:cNvPr id="9" name="Text 6"/>
          <p:cNvSpPr txBox="1"/>
          <p:nvPr/>
        </p:nvSpPr>
        <p:spPr>
          <a:xfrm>
            <a:off x="6995160" y="4480560"/>
            <a:ext cx="2286000" cy="320040"/>
          </a:xfrm>
          <a:prstGeom prst="rect">
            <a:avLst/>
          </a:prstGeom>
          <a:noFill/>
          <a:ln/>
        </p:spPr>
        <p:txBody>
          <a:bodyPr wrap="square" lIns="0" tIns="0" rIns="0" bIns="0" rtlCol="0" anchor="t"/>
          <a:lstStyle/>
          <a:p>
            <a:pPr indent="0" marL="0">
              <a:buNone/>
            </a:pPr>
            <a:r>
              <a:rPr lang="en-US" sz="1300" dirty="0">
                <a:solidFill>
                  <a:srgbClr val="6B6F76"/>
                </a:solidFill>
                <a:latin typeface="Arial" pitchFamily="34" charset="0"/>
                <a:ea typeface="Arial" pitchFamily="34" charset="-122"/>
                <a:cs typeface="Arial" pitchFamily="34" charset="-120"/>
              </a:rPr>
              <a:t>settled</a:t>
            </a:r>
            <a:endParaRPr lang="en-US" sz="1300" dirty="0"/>
          </a:p>
        </p:txBody>
      </p:sp>
      <p:sp>
        <p:nvSpPr>
          <p:cNvPr id="10" name="Text 7"/>
          <p:cNvSpPr txBox="1"/>
          <p:nvPr/>
        </p:nvSpPr>
        <p:spPr>
          <a:xfrm>
            <a:off x="9372600" y="3977640"/>
            <a:ext cx="2286000" cy="502920"/>
          </a:xfrm>
          <a:prstGeom prst="rect">
            <a:avLst/>
          </a:prstGeom>
          <a:noFill/>
          <a:ln/>
        </p:spPr>
        <p:txBody>
          <a:bodyPr wrap="square" lIns="0" tIns="0" rIns="0" bIns="0" rtlCol="0" anchor="t"/>
          <a:lstStyle/>
          <a:p>
            <a:pPr indent="0" marL="0">
              <a:buNone/>
            </a:pPr>
            <a:r>
              <a:rPr lang="en-US" sz="3000" b="1" dirty="0">
                <a:solidFill>
                  <a:srgbClr val="1A1D21"/>
                </a:solidFill>
                <a:latin typeface="Arial" pitchFamily="34" charset="0"/>
                <a:ea typeface="Arial" pitchFamily="34" charset="-122"/>
                <a:cs typeface="Arial" pitchFamily="34" charset="-120"/>
              </a:rPr>
              <a:t>41</a:t>
            </a:r>
            <a:endParaRPr lang="en-US" sz="3000" dirty="0"/>
          </a:p>
        </p:txBody>
      </p:sp>
      <p:sp>
        <p:nvSpPr>
          <p:cNvPr id="11" name="Text 8"/>
          <p:cNvSpPr txBox="1"/>
          <p:nvPr/>
        </p:nvSpPr>
        <p:spPr>
          <a:xfrm>
            <a:off x="9372600" y="4480560"/>
            <a:ext cx="2286000" cy="320040"/>
          </a:xfrm>
          <a:prstGeom prst="rect">
            <a:avLst/>
          </a:prstGeom>
          <a:noFill/>
          <a:ln/>
        </p:spPr>
        <p:txBody>
          <a:bodyPr wrap="square" lIns="0" tIns="0" rIns="0" bIns="0" rtlCol="0" anchor="t"/>
          <a:lstStyle/>
          <a:p>
            <a:pPr indent="0" marL="0">
              <a:buNone/>
            </a:pPr>
            <a:r>
              <a:rPr lang="en-US" sz="1300" dirty="0">
                <a:solidFill>
                  <a:srgbClr val="6B6F76"/>
                </a:solidFill>
                <a:latin typeface="Arial" pitchFamily="34" charset="0"/>
                <a:ea typeface="Arial" pitchFamily="34" charset="-122"/>
                <a:cs typeface="Arial" pitchFamily="34" charset="-120"/>
              </a:rPr>
              <a:t>payments</a:t>
            </a:r>
            <a:endParaRPr lang="en-US" sz="1300" dirty="0"/>
          </a:p>
        </p:txBody>
      </p:sp>
      <p:sp>
        <p:nvSpPr>
          <p:cNvPr id="12" name="Text 9"/>
          <p:cNvSpPr txBox="1"/>
          <p:nvPr/>
        </p:nvSpPr>
        <p:spPr>
          <a:xfrm>
            <a:off x="6995160" y="4937760"/>
            <a:ext cx="2286000" cy="502920"/>
          </a:xfrm>
          <a:prstGeom prst="rect">
            <a:avLst/>
          </a:prstGeom>
          <a:noFill/>
          <a:ln/>
        </p:spPr>
        <p:txBody>
          <a:bodyPr wrap="square" lIns="0" tIns="0" rIns="0" bIns="0" rtlCol="0" anchor="t"/>
          <a:lstStyle/>
          <a:p>
            <a:pPr indent="0" marL="0">
              <a:buNone/>
            </a:pPr>
            <a:r>
              <a:rPr lang="en-US" sz="3000" b="1" dirty="0">
                <a:solidFill>
                  <a:srgbClr val="1A1D21"/>
                </a:solidFill>
                <a:latin typeface="Arial" pitchFamily="34" charset="0"/>
                <a:ea typeface="Arial" pitchFamily="34" charset="-122"/>
                <a:cs typeface="Arial" pitchFamily="34" charset="-120"/>
              </a:rPr>
              <a:t>24</a:t>
            </a:r>
            <a:endParaRPr lang="en-US" sz="3000" dirty="0"/>
          </a:p>
        </p:txBody>
      </p:sp>
      <p:sp>
        <p:nvSpPr>
          <p:cNvPr id="13" name="Text 10"/>
          <p:cNvSpPr txBox="1"/>
          <p:nvPr/>
        </p:nvSpPr>
        <p:spPr>
          <a:xfrm>
            <a:off x="6995160" y="5440680"/>
            <a:ext cx="2286000" cy="320040"/>
          </a:xfrm>
          <a:prstGeom prst="rect">
            <a:avLst/>
          </a:prstGeom>
          <a:noFill/>
          <a:ln/>
        </p:spPr>
        <p:txBody>
          <a:bodyPr wrap="square" lIns="0" tIns="0" rIns="0" bIns="0" rtlCol="0" anchor="t"/>
          <a:lstStyle/>
          <a:p>
            <a:pPr indent="0" marL="0">
              <a:buNone/>
            </a:pPr>
            <a:r>
              <a:rPr lang="en-US" sz="1300" dirty="0">
                <a:solidFill>
                  <a:srgbClr val="6B6F76"/>
                </a:solidFill>
                <a:latin typeface="Arial" pitchFamily="34" charset="0"/>
                <a:ea typeface="Arial" pitchFamily="34" charset="-122"/>
                <a:cs typeface="Arial" pitchFamily="34" charset="-120"/>
              </a:rPr>
              <a:t>people paid</a:t>
            </a:r>
            <a:endParaRPr lang="en-US" sz="1300" dirty="0"/>
          </a:p>
        </p:txBody>
      </p:sp>
      <p:sp>
        <p:nvSpPr>
          <p:cNvPr id="14" name="Text 11"/>
          <p:cNvSpPr txBox="1"/>
          <p:nvPr/>
        </p:nvSpPr>
        <p:spPr>
          <a:xfrm>
            <a:off x="9372600" y="4937760"/>
            <a:ext cx="2286000" cy="502920"/>
          </a:xfrm>
          <a:prstGeom prst="rect">
            <a:avLst/>
          </a:prstGeom>
          <a:noFill/>
          <a:ln/>
        </p:spPr>
        <p:txBody>
          <a:bodyPr wrap="square" lIns="0" tIns="0" rIns="0" bIns="0" rtlCol="0" anchor="t"/>
          <a:lstStyle/>
          <a:p>
            <a:pPr indent="0" marL="0">
              <a:buNone/>
            </a:pPr>
            <a:r>
              <a:rPr lang="en-US" sz="3000" b="1" dirty="0">
                <a:solidFill>
                  <a:srgbClr val="1A1D21"/>
                </a:solidFill>
                <a:latin typeface="Arial" pitchFamily="34" charset="0"/>
                <a:ea typeface="Arial" pitchFamily="34" charset="-122"/>
                <a:cs typeface="Arial" pitchFamily="34" charset="-120"/>
              </a:rPr>
              <a:t>26</a:t>
            </a:r>
            <a:endParaRPr lang="en-US" sz="3000" dirty="0"/>
          </a:p>
        </p:txBody>
      </p:sp>
      <p:sp>
        <p:nvSpPr>
          <p:cNvPr id="15" name="Text 12"/>
          <p:cNvSpPr txBox="1"/>
          <p:nvPr/>
        </p:nvSpPr>
        <p:spPr>
          <a:xfrm>
            <a:off x="9372600" y="5440680"/>
            <a:ext cx="2286000" cy="320040"/>
          </a:xfrm>
          <a:prstGeom prst="rect">
            <a:avLst/>
          </a:prstGeom>
          <a:noFill/>
          <a:ln/>
        </p:spPr>
        <p:txBody>
          <a:bodyPr wrap="square" lIns="0" tIns="0" rIns="0" bIns="0" rtlCol="0" anchor="t"/>
          <a:lstStyle/>
          <a:p>
            <a:pPr indent="0" marL="0">
              <a:buNone/>
            </a:pPr>
            <a:r>
              <a:rPr lang="en-US" sz="1300" dirty="0">
                <a:solidFill>
                  <a:srgbClr val="6B6F76"/>
                </a:solidFill>
                <a:latin typeface="Arial" pitchFamily="34" charset="0"/>
                <a:ea typeface="Arial" pitchFamily="34" charset="-122"/>
                <a:cs typeface="Arial" pitchFamily="34" charset="-120"/>
              </a:rPr>
              <a:t>refusals, each explained</a:t>
            </a:r>
            <a:endParaRPr lang="en-US" sz="1300" dirty="0"/>
          </a:p>
        </p:txBody>
      </p:sp>
      <p:sp>
        <p:nvSpPr>
          <p:cNvPr id="16" name="Text 13"/>
          <p:cNvSpPr txBox="1"/>
          <p:nvPr/>
        </p:nvSpPr>
        <p:spPr>
          <a:xfrm>
            <a:off x="6995160" y="5897880"/>
            <a:ext cx="4754880" cy="274320"/>
          </a:xfrm>
          <a:prstGeom prst="rect">
            <a:avLst/>
          </a:prstGeom>
          <a:noFill/>
          <a:ln/>
        </p:spPr>
        <p:txBody>
          <a:bodyPr wrap="square" lIns="0" tIns="0" rIns="0" bIns="0" rtlCol="0" anchor="t"/>
          <a:lstStyle/>
          <a:p>
            <a:pPr indent="0" marL="0">
              <a:buNone/>
            </a:pPr>
            <a:r>
              <a:rPr lang="en-US" sz="1100" dirty="0">
                <a:solidFill>
                  <a:srgbClr val="A4A7AD"/>
                </a:solidFill>
                <a:latin typeface="Arial" pitchFamily="34" charset="0"/>
                <a:ea typeface="Arial" pitchFamily="34" charset="-122"/>
                <a:cs typeface="Arial" pitchFamily="34" charset="-120"/>
              </a:rPr>
              <a:t>Read from the public ledger at sagepays.xyz/explorer, 6 Oct 2026</a:t>
            </a:r>
            <a:endParaRPr lang="en-US" sz="11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85800" y="502920"/>
            <a:ext cx="7315200" cy="320040"/>
          </a:xfrm>
          <a:prstGeom prst="rect">
            <a:avLst/>
          </a:prstGeom>
          <a:noFill/>
          <a:ln/>
        </p:spPr>
        <p:txBody>
          <a:bodyPr wrap="square" lIns="0" tIns="0" rIns="0" bIns="0" rtlCol="0" anchor="t"/>
          <a:lstStyle/>
          <a:p>
            <a:pPr indent="0" marL="0">
              <a:buNone/>
            </a:pPr>
            <a:r>
              <a:rPr lang="en-US" sz="1300" b="1" spc="300" kern="0" dirty="0">
                <a:solidFill>
                  <a:srgbClr val="6B6F76"/>
                </a:solidFill>
                <a:latin typeface="Arial" pitchFamily="34" charset="0"/>
                <a:ea typeface="Arial" pitchFamily="34" charset="-122"/>
                <a:cs typeface="Arial" pitchFamily="34" charset="-120"/>
              </a:rPr>
              <a:t>WHY TRUST AN AGENT WITH MONEY</a:t>
            </a:r>
            <a:endParaRPr lang="en-US" sz="1300" dirty="0"/>
          </a:p>
        </p:txBody>
      </p:sp>
      <p:sp>
        <p:nvSpPr>
          <p:cNvPr id="3" name="Text 1"/>
          <p:cNvSpPr txBox="1"/>
          <p:nvPr/>
        </p:nvSpPr>
        <p:spPr>
          <a:xfrm>
            <a:off x="685800" y="868680"/>
            <a:ext cx="10789920" cy="914400"/>
          </a:xfrm>
          <a:prstGeom prst="rect">
            <a:avLst/>
          </a:prstGeom>
          <a:noFill/>
          <a:ln/>
        </p:spPr>
        <p:txBody>
          <a:bodyPr wrap="square" lIns="0" tIns="0" rIns="0" bIns="0" rtlCol="0" anchor="t"/>
          <a:lstStyle/>
          <a:p>
            <a:pPr indent="0" marL="0">
              <a:buNone/>
            </a:pPr>
            <a:r>
              <a:rPr lang="en-US" sz="4400" b="1" dirty="0">
                <a:solidFill>
                  <a:srgbClr val="1A1D21"/>
                </a:solidFill>
                <a:latin typeface="Arial" pitchFamily="34" charset="0"/>
                <a:ea typeface="Arial" pitchFamily="34" charset="-122"/>
                <a:cs typeface="Arial" pitchFamily="34" charset="-120"/>
              </a:rPr>
              <a:t>A budget, </a:t>
            </a:r>
            <a:pPr indent="0" marL="0">
              <a:buNone/>
            </a:pPr>
            <a:r>
              <a:rPr lang="en-US" sz="4400" b="1" dirty="0">
                <a:solidFill>
                  <a:srgbClr val="C2410C"/>
                </a:solidFill>
                <a:latin typeface="Arial" pitchFamily="34" charset="0"/>
                <a:ea typeface="Arial" pitchFamily="34" charset="-122"/>
                <a:cs typeface="Arial" pitchFamily="34" charset="-120"/>
              </a:rPr>
              <a:t>not your keys</a:t>
            </a:r>
            <a:endParaRPr lang="en-US" sz="4400" dirty="0"/>
          </a:p>
        </p:txBody>
      </p:sp>
      <p:sp>
        <p:nvSpPr>
          <p:cNvPr id="4" name="card"/>
          <p:cNvSpPr/>
          <p:nvPr/>
        </p:nvSpPr>
        <p:spPr>
          <a:xfrm>
            <a:off x="685800" y="2103120"/>
            <a:ext cx="4160520" cy="2514600"/>
          </a:xfrm>
          <a:prstGeom prst="roundRect">
            <a:avLst>
              <a:gd name="adj" fmla="val 5091"/>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sp>
        <p:nvSpPr>
          <p:cNvPr id="5" name="Text 3"/>
          <p:cNvSpPr txBox="1"/>
          <p:nvPr/>
        </p:nvSpPr>
        <p:spPr>
          <a:xfrm>
            <a:off x="1005840" y="2377440"/>
            <a:ext cx="3566160" cy="320040"/>
          </a:xfrm>
          <a:prstGeom prst="rect">
            <a:avLst/>
          </a:prstGeom>
          <a:noFill/>
          <a:ln/>
        </p:spPr>
        <p:txBody>
          <a:bodyPr wrap="square" lIns="0" tIns="0" rIns="0" bIns="0" rtlCol="0" anchor="t"/>
          <a:lstStyle/>
          <a:p>
            <a:pPr indent="0" marL="0">
              <a:buNone/>
            </a:pPr>
            <a:r>
              <a:rPr lang="en-US" sz="1300" b="1" spc="300" kern="0" dirty="0">
                <a:solidFill>
                  <a:srgbClr val="6B6F76"/>
                </a:solidFill>
                <a:latin typeface="Arial" pitchFamily="34" charset="0"/>
                <a:ea typeface="Arial" pitchFamily="34" charset="-122"/>
                <a:cs typeface="Arial" pitchFamily="34" charset="-120"/>
              </a:rPr>
              <a:t>THE AGENT</a:t>
            </a:r>
            <a:endParaRPr lang="en-US" sz="1300" dirty="0"/>
          </a:p>
        </p:txBody>
      </p:sp>
      <p:sp>
        <p:nvSpPr>
          <p:cNvPr id="6" name="Text 4"/>
          <p:cNvSpPr txBox="1"/>
          <p:nvPr/>
        </p:nvSpPr>
        <p:spPr>
          <a:xfrm>
            <a:off x="1005840" y="2743200"/>
            <a:ext cx="3566160" cy="548640"/>
          </a:xfrm>
          <a:prstGeom prst="rect">
            <a:avLst/>
          </a:prstGeom>
          <a:noFill/>
          <a:ln/>
        </p:spPr>
        <p:txBody>
          <a:bodyPr wrap="square" lIns="0" tIns="0" rIns="0" bIns="0" rtlCol="0" anchor="t"/>
          <a:lstStyle/>
          <a:p>
            <a:pPr indent="0" marL="0">
              <a:buNone/>
            </a:pPr>
            <a:r>
              <a:rPr lang="en-US" sz="2600" b="1" dirty="0">
                <a:solidFill>
                  <a:srgbClr val="1A1D21"/>
                </a:solidFill>
                <a:latin typeface="Arial" pitchFamily="34" charset="0"/>
                <a:ea typeface="Arial" pitchFamily="34" charset="-122"/>
                <a:cs typeface="Arial" pitchFamily="34" charset="-120"/>
              </a:rPr>
              <a:t>Decides who gets paid</a:t>
            </a:r>
            <a:endParaRPr lang="en-US" sz="2600" dirty="0"/>
          </a:p>
        </p:txBody>
      </p:sp>
      <p:sp>
        <p:nvSpPr>
          <p:cNvPr id="7" name="Text 5"/>
          <p:cNvSpPr txBox="1"/>
          <p:nvPr/>
        </p:nvSpPr>
        <p:spPr>
          <a:xfrm>
            <a:off x="1005840" y="3383280"/>
            <a:ext cx="3566160" cy="914400"/>
          </a:xfrm>
          <a:prstGeom prst="rect">
            <a:avLst/>
          </a:prstGeom>
          <a:noFill/>
          <a:ln/>
        </p:spPr>
        <p:txBody>
          <a:bodyPr wrap="square" lIns="0" tIns="0" rIns="0" bIns="0" rtlCol="0" anchor="t"/>
          <a:lstStyle/>
          <a:p>
            <a:pPr indent="0" marL="0">
              <a:buNone/>
            </a:pPr>
            <a:r>
              <a:rPr lang="en-US" sz="1600" dirty="0">
                <a:solidFill>
                  <a:srgbClr val="6B6F76"/>
                </a:solidFill>
                <a:latin typeface="Arial" pitchFamily="34" charset="0"/>
                <a:ea typeface="Arial" pitchFamily="34" charset="-122"/>
                <a:cs typeface="Arial" pitchFamily="34" charset="-120"/>
              </a:rPr>
              <a:t>Reads the work, quotes it, and explains every yes and every no.</a:t>
            </a:r>
            <a:endParaRPr lang="en-US" sz="1600" dirty="0"/>
          </a:p>
        </p:txBody>
      </p:sp>
      <p:sp>
        <p:nvSpPr>
          <p:cNvPr id="8" name="Shape 6"/>
          <p:cNvSpPr/>
          <p:nvPr/>
        </p:nvSpPr>
        <p:spPr>
          <a:xfrm>
            <a:off x="4983480" y="3355848"/>
            <a:ext cx="960120" cy="0"/>
          </a:xfrm>
          <a:prstGeom prst="line">
            <a:avLst/>
          </a:prstGeom>
          <a:noFill/>
          <a:ln w="25400">
            <a:solidFill>
              <a:srgbClr val="1A1D21"/>
            </a:solidFill>
            <a:prstDash val="solid"/>
            <a:tailEnd type="triangle"/>
          </a:ln>
        </p:spPr>
      </p:sp>
      <p:sp>
        <p:nvSpPr>
          <p:cNvPr id="9" name="card"/>
          <p:cNvSpPr/>
          <p:nvPr/>
        </p:nvSpPr>
        <p:spPr>
          <a:xfrm>
            <a:off x="6080760" y="2103120"/>
            <a:ext cx="5440680" cy="2514600"/>
          </a:xfrm>
          <a:prstGeom prst="roundRect">
            <a:avLst>
              <a:gd name="adj" fmla="val 5091"/>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sp>
        <p:nvSpPr>
          <p:cNvPr id="10" name="Text 8"/>
          <p:cNvSpPr txBox="1"/>
          <p:nvPr/>
        </p:nvSpPr>
        <p:spPr>
          <a:xfrm>
            <a:off x="6400800" y="2377440"/>
            <a:ext cx="4846320" cy="320040"/>
          </a:xfrm>
          <a:prstGeom prst="rect">
            <a:avLst/>
          </a:prstGeom>
          <a:noFill/>
          <a:ln/>
        </p:spPr>
        <p:txBody>
          <a:bodyPr wrap="square" lIns="0" tIns="0" rIns="0" bIns="0" rtlCol="0" anchor="t"/>
          <a:lstStyle/>
          <a:p>
            <a:pPr indent="0" marL="0">
              <a:buNone/>
            </a:pPr>
            <a:r>
              <a:rPr lang="en-US" sz="1300" b="1" spc="300" kern="0" dirty="0">
                <a:solidFill>
                  <a:srgbClr val="C2410C"/>
                </a:solidFill>
                <a:latin typeface="Arial" pitchFamily="34" charset="0"/>
                <a:ea typeface="Arial" pitchFamily="34" charset="-122"/>
                <a:cs typeface="Arial" pitchFamily="34" charset="-120"/>
              </a:rPr>
              <a:t>THE VAULT, ON CHAIN</a:t>
            </a:r>
            <a:endParaRPr lang="en-US" sz="1300" dirty="0"/>
          </a:p>
        </p:txBody>
      </p:sp>
      <p:sp>
        <p:nvSpPr>
          <p:cNvPr id="11" name="Text 9"/>
          <p:cNvSpPr txBox="1"/>
          <p:nvPr/>
        </p:nvSpPr>
        <p:spPr>
          <a:xfrm>
            <a:off x="6400800" y="2743200"/>
            <a:ext cx="4846320" cy="548640"/>
          </a:xfrm>
          <a:prstGeom prst="rect">
            <a:avLst/>
          </a:prstGeom>
          <a:noFill/>
          <a:ln/>
        </p:spPr>
        <p:txBody>
          <a:bodyPr wrap="square" lIns="0" tIns="0" rIns="0" bIns="0" rtlCol="0" anchor="t"/>
          <a:lstStyle/>
          <a:p>
            <a:pPr indent="0" marL="0">
              <a:buNone/>
            </a:pPr>
            <a:r>
              <a:rPr lang="en-US" sz="2600" b="1" dirty="0">
                <a:solidFill>
                  <a:srgbClr val="1A1D21"/>
                </a:solidFill>
                <a:latin typeface="Arial" pitchFamily="34" charset="0"/>
                <a:ea typeface="Arial" pitchFamily="34" charset="-122"/>
                <a:cs typeface="Arial" pitchFamily="34" charset="-120"/>
              </a:rPr>
              <a:t>Decides how much</a:t>
            </a:r>
            <a:endParaRPr lang="en-US" sz="2600" dirty="0"/>
          </a:p>
        </p:txBody>
      </p:sp>
      <p:sp>
        <p:nvSpPr>
          <p:cNvPr id="12" name="Shape 10"/>
          <p:cNvSpPr/>
          <p:nvPr/>
        </p:nvSpPr>
        <p:spPr>
          <a:xfrm>
            <a:off x="6400800" y="3456432"/>
            <a:ext cx="2148840" cy="384048"/>
          </a:xfrm>
          <a:prstGeom prst="roundRect">
            <a:avLst>
              <a:gd name="adj" fmla="val 50000"/>
            </a:avLst>
          </a:prstGeom>
          <a:solidFill>
            <a:srgbClr val="FBFBF9"/>
          </a:solidFill>
          <a:ln w="12700">
            <a:solidFill>
              <a:srgbClr val="D9D6CE"/>
            </a:solidFill>
            <a:prstDash val="solid"/>
          </a:ln>
        </p:spPr>
      </p:sp>
      <p:sp>
        <p:nvSpPr>
          <p:cNvPr id="13" name="Text 11"/>
          <p:cNvSpPr txBox="1"/>
          <p:nvPr/>
        </p:nvSpPr>
        <p:spPr>
          <a:xfrm>
            <a:off x="6400800" y="3456432"/>
            <a:ext cx="2148840" cy="384048"/>
          </a:xfrm>
          <a:prstGeom prst="rect">
            <a:avLst/>
          </a:prstGeom>
          <a:noFill/>
          <a:ln/>
        </p:spPr>
        <p:txBody>
          <a:bodyPr wrap="square" lIns="0" tIns="0" rIns="0" bIns="0" rtlCol="0" anchor="ctr"/>
          <a:lstStyle/>
          <a:p>
            <a:pPr algn="ctr" indent="0" marL="0">
              <a:buNone/>
            </a:pPr>
            <a:r>
              <a:rPr lang="en-US" sz="1200" dirty="0">
                <a:solidFill>
                  <a:srgbClr val="3D4148"/>
                </a:solidFill>
                <a:latin typeface="Arial" pitchFamily="34" charset="0"/>
                <a:ea typeface="Arial" pitchFamily="34" charset="-122"/>
                <a:cs typeface="Arial" pitchFamily="34" charset="-120"/>
              </a:rPr>
              <a:t>fixed reward per job</a:t>
            </a:r>
            <a:endParaRPr lang="en-US" sz="1200" dirty="0"/>
          </a:p>
        </p:txBody>
      </p:sp>
      <p:sp>
        <p:nvSpPr>
          <p:cNvPr id="14" name="Shape 12"/>
          <p:cNvSpPr/>
          <p:nvPr/>
        </p:nvSpPr>
        <p:spPr>
          <a:xfrm>
            <a:off x="8686800" y="3456432"/>
            <a:ext cx="1600200" cy="384048"/>
          </a:xfrm>
          <a:prstGeom prst="roundRect">
            <a:avLst>
              <a:gd name="adj" fmla="val 50000"/>
            </a:avLst>
          </a:prstGeom>
          <a:solidFill>
            <a:srgbClr val="FBFBF9"/>
          </a:solidFill>
          <a:ln w="12700">
            <a:solidFill>
              <a:srgbClr val="D9D6CE"/>
            </a:solidFill>
            <a:prstDash val="solid"/>
          </a:ln>
        </p:spPr>
      </p:sp>
      <p:sp>
        <p:nvSpPr>
          <p:cNvPr id="15" name="Text 13"/>
          <p:cNvSpPr txBox="1"/>
          <p:nvPr/>
        </p:nvSpPr>
        <p:spPr>
          <a:xfrm>
            <a:off x="8686800" y="3456432"/>
            <a:ext cx="1600200" cy="384048"/>
          </a:xfrm>
          <a:prstGeom prst="rect">
            <a:avLst/>
          </a:prstGeom>
          <a:noFill/>
          <a:ln/>
        </p:spPr>
        <p:txBody>
          <a:bodyPr wrap="square" lIns="0" tIns="0" rIns="0" bIns="0" rtlCol="0" anchor="ctr"/>
          <a:lstStyle/>
          <a:p>
            <a:pPr algn="ctr" indent="0" marL="0">
              <a:buNone/>
            </a:pPr>
            <a:r>
              <a:rPr lang="en-US" sz="1200" dirty="0">
                <a:solidFill>
                  <a:srgbClr val="3D4148"/>
                </a:solidFill>
                <a:latin typeface="Arial" pitchFamily="34" charset="0"/>
                <a:ea typeface="Arial" pitchFamily="34" charset="-122"/>
                <a:cs typeface="Arial" pitchFamily="34" charset="-120"/>
              </a:rPr>
              <a:t>total budget</a:t>
            </a:r>
            <a:endParaRPr lang="en-US" sz="1200" dirty="0"/>
          </a:p>
        </p:txBody>
      </p:sp>
      <p:sp>
        <p:nvSpPr>
          <p:cNvPr id="16" name="Shape 14"/>
          <p:cNvSpPr/>
          <p:nvPr/>
        </p:nvSpPr>
        <p:spPr>
          <a:xfrm>
            <a:off x="6400800" y="3950208"/>
            <a:ext cx="2240280" cy="384048"/>
          </a:xfrm>
          <a:prstGeom prst="roundRect">
            <a:avLst>
              <a:gd name="adj" fmla="val 50000"/>
            </a:avLst>
          </a:prstGeom>
          <a:solidFill>
            <a:srgbClr val="FBFBF9"/>
          </a:solidFill>
          <a:ln w="12700">
            <a:solidFill>
              <a:srgbClr val="D9D6CE"/>
            </a:solidFill>
            <a:prstDash val="solid"/>
          </a:ln>
        </p:spPr>
      </p:sp>
      <p:sp>
        <p:nvSpPr>
          <p:cNvPr id="17" name="Text 15"/>
          <p:cNvSpPr txBox="1"/>
          <p:nvPr/>
        </p:nvSpPr>
        <p:spPr>
          <a:xfrm>
            <a:off x="6400800" y="3950208"/>
            <a:ext cx="2240280" cy="384048"/>
          </a:xfrm>
          <a:prstGeom prst="rect">
            <a:avLst/>
          </a:prstGeom>
          <a:noFill/>
          <a:ln/>
        </p:spPr>
        <p:txBody>
          <a:bodyPr wrap="square" lIns="0" tIns="0" rIns="0" bIns="0" rtlCol="0" anchor="ctr"/>
          <a:lstStyle/>
          <a:p>
            <a:pPr algn="ctr" indent="0" marL="0">
              <a:buNone/>
            </a:pPr>
            <a:r>
              <a:rPr lang="en-US" sz="1200" dirty="0">
                <a:solidFill>
                  <a:srgbClr val="3D4148"/>
                </a:solidFill>
                <a:latin typeface="Arial" pitchFamily="34" charset="0"/>
                <a:ea typeface="Arial" pitchFamily="34" charset="-122"/>
                <a:cs typeface="Arial" pitchFamily="34" charset="-120"/>
              </a:rPr>
              <a:t>one payout per person</a:t>
            </a:r>
            <a:endParaRPr lang="en-US" sz="1200" dirty="0"/>
          </a:p>
        </p:txBody>
      </p:sp>
      <p:sp>
        <p:nvSpPr>
          <p:cNvPr id="18" name="Shape 16"/>
          <p:cNvSpPr/>
          <p:nvPr/>
        </p:nvSpPr>
        <p:spPr>
          <a:xfrm>
            <a:off x="8778240" y="3950208"/>
            <a:ext cx="2560320" cy="384048"/>
          </a:xfrm>
          <a:prstGeom prst="roundRect">
            <a:avLst>
              <a:gd name="adj" fmla="val 50000"/>
            </a:avLst>
          </a:prstGeom>
          <a:solidFill>
            <a:srgbClr val="FDF1EA"/>
          </a:solidFill>
          <a:ln w="12700">
            <a:solidFill>
              <a:srgbClr val="C2410C"/>
            </a:solidFill>
            <a:prstDash val="solid"/>
          </a:ln>
        </p:spPr>
      </p:sp>
      <p:sp>
        <p:nvSpPr>
          <p:cNvPr id="19" name="Text 17"/>
          <p:cNvSpPr txBox="1"/>
          <p:nvPr/>
        </p:nvSpPr>
        <p:spPr>
          <a:xfrm>
            <a:off x="8778240" y="3950208"/>
            <a:ext cx="2560320" cy="384048"/>
          </a:xfrm>
          <a:prstGeom prst="rect">
            <a:avLst/>
          </a:prstGeom>
          <a:noFill/>
          <a:ln/>
        </p:spPr>
        <p:txBody>
          <a:bodyPr wrap="square" lIns="0" tIns="0" rIns="0" bIns="0" rtlCol="0" anchor="ctr"/>
          <a:lstStyle/>
          <a:p>
            <a:pPr algn="ctr" indent="0" marL="0">
              <a:buNone/>
            </a:pPr>
            <a:r>
              <a:rPr lang="en-US" sz="1200" b="1" dirty="0">
                <a:solidFill>
                  <a:srgbClr val="C2410C"/>
                </a:solidFill>
                <a:latin typeface="Arial" pitchFamily="34" charset="0"/>
                <a:ea typeface="Arial" pitchFamily="34" charset="-122"/>
                <a:cs typeface="Arial" pitchFamily="34" charset="-120"/>
              </a:rPr>
              <a:t>the agent can't change any of it</a:t>
            </a:r>
            <a:endParaRPr lang="en-US" sz="1200" dirty="0"/>
          </a:p>
        </p:txBody>
      </p:sp>
      <p:sp>
        <p:nvSpPr>
          <p:cNvPr id="20" name="Text 18"/>
          <p:cNvSpPr txBox="1"/>
          <p:nvPr/>
        </p:nvSpPr>
        <p:spPr>
          <a:xfrm>
            <a:off x="685800" y="5029200"/>
            <a:ext cx="10789920" cy="548640"/>
          </a:xfrm>
          <a:prstGeom prst="rect">
            <a:avLst/>
          </a:prstGeom>
          <a:noFill/>
          <a:ln/>
        </p:spPr>
        <p:txBody>
          <a:bodyPr wrap="square" lIns="0" tIns="0" rIns="0" bIns="0" rtlCol="0" anchor="t"/>
          <a:lstStyle/>
          <a:p>
            <a:pPr indent="0" marL="0">
              <a:buNone/>
            </a:pPr>
            <a:r>
              <a:rPr lang="en-US" sz="2400" dirty="0">
                <a:solidFill>
                  <a:srgbClr val="3D4148"/>
                </a:solidFill>
                <a:latin typeface="Arial" pitchFamily="34" charset="0"/>
                <a:ea typeface="Arial" pitchFamily="34" charset="-122"/>
                <a:cs typeface="Arial" pitchFamily="34" charset="-120"/>
              </a:rPr>
              <a:t>Every payment leaves a public receipt. Every refusal leaves its reason.</a:t>
            </a:r>
            <a:endParaRPr lang="en-US" sz="24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685800" y="640080"/>
            <a:ext cx="3246120" cy="502920"/>
          </a:xfrm>
          <a:prstGeom prst="roundRect">
            <a:avLst>
              <a:gd name="adj" fmla="val 49091"/>
            </a:avLst>
          </a:prstGeom>
          <a:solidFill>
            <a:srgbClr val="1A1D21"/>
          </a:solidFill>
          <a:ln w="15875">
            <a:solidFill>
              <a:srgbClr val="C2410C"/>
            </a:solidFill>
            <a:prstDash val="solid"/>
          </a:ln>
        </p:spPr>
      </p:sp>
      <p:sp>
        <p:nvSpPr>
          <p:cNvPr id="3" name="Shape 1"/>
          <p:cNvSpPr/>
          <p:nvPr/>
        </p:nvSpPr>
        <p:spPr>
          <a:xfrm>
            <a:off x="914400" y="804672"/>
            <a:ext cx="173736" cy="173736"/>
          </a:xfrm>
          <a:prstGeom prst="ellipse">
            <a:avLst/>
          </a:prstGeom>
          <a:solidFill>
            <a:srgbClr val="C2410C"/>
          </a:solidFill>
          <a:ln w="12700">
            <a:solidFill>
              <a:srgbClr val="C2410C"/>
            </a:solidFill>
            <a:prstDash val="solid"/>
          </a:ln>
        </p:spPr>
      </p:sp>
      <p:sp>
        <p:nvSpPr>
          <p:cNvPr id="4" name="Text 2"/>
          <p:cNvSpPr txBox="1"/>
          <p:nvPr/>
        </p:nvSpPr>
        <p:spPr>
          <a:xfrm>
            <a:off x="1188720" y="640080"/>
            <a:ext cx="2651760" cy="502920"/>
          </a:xfrm>
          <a:prstGeom prst="rect">
            <a:avLst/>
          </a:prstGeom>
          <a:noFill/>
          <a:ln/>
        </p:spPr>
        <p:txBody>
          <a:bodyPr wrap="square" lIns="0" tIns="0" rIns="0" bIns="0" rtlCol="0" anchor="ctr"/>
          <a:lstStyle/>
          <a:p>
            <a:pPr indent="0" marL="0">
              <a:buNone/>
            </a:pPr>
            <a:r>
              <a:rPr lang="en-US" sz="1400" b="1" spc="300" kern="0" dirty="0">
                <a:solidFill>
                  <a:srgbClr val="C2410C"/>
                </a:solidFill>
                <a:latin typeface="Arial" pitchFamily="34" charset="0"/>
                <a:ea typeface="Arial" pitchFamily="34" charset="-122"/>
                <a:cs typeface="Arial" pitchFamily="34" charset="-120"/>
              </a:rPr>
              <a:t>LIVE  ·  REAL MONEY</a:t>
            </a:r>
            <a:endParaRPr lang="en-US" sz="1400" dirty="0"/>
          </a:p>
        </p:txBody>
      </p:sp>
      <p:sp>
        <p:nvSpPr>
          <p:cNvPr id="5" name="Text 3"/>
          <p:cNvSpPr txBox="1"/>
          <p:nvPr/>
        </p:nvSpPr>
        <p:spPr>
          <a:xfrm>
            <a:off x="685800" y="1417320"/>
            <a:ext cx="10789920" cy="1143000"/>
          </a:xfrm>
          <a:prstGeom prst="rect">
            <a:avLst/>
          </a:prstGeom>
          <a:noFill/>
          <a:ln/>
        </p:spPr>
        <p:txBody>
          <a:bodyPr wrap="square" lIns="0" tIns="0" rIns="0" bIns="0" rtlCol="0" anchor="ctr"/>
          <a:lstStyle/>
          <a:p>
            <a:pPr indent="0" marL="0">
              <a:buNone/>
            </a:pPr>
            <a:r>
              <a:rPr lang="en-US" sz="6600" b="1" dirty="0">
                <a:solidFill>
                  <a:srgbClr val="FFFFFF"/>
                </a:solidFill>
                <a:latin typeface="Arial" pitchFamily="34" charset="0"/>
                <a:ea typeface="Arial" pitchFamily="34" charset="-122"/>
                <a:cs typeface="Arial" pitchFamily="34" charset="-120"/>
              </a:rPr>
              <a:t>Let's do it live.</a:t>
            </a:r>
            <a:endParaRPr lang="en-US" sz="6600" dirty="0"/>
          </a:p>
        </p:txBody>
      </p:sp>
      <p:sp>
        <p:nvSpPr>
          <p:cNvPr id="6" name="Shape 4"/>
          <p:cNvSpPr/>
          <p:nvPr/>
        </p:nvSpPr>
        <p:spPr>
          <a:xfrm>
            <a:off x="685800" y="2880360"/>
            <a:ext cx="6766560" cy="2743200"/>
          </a:xfrm>
          <a:prstGeom prst="roundRect">
            <a:avLst>
              <a:gd name="adj" fmla="val 5333"/>
            </a:avLst>
          </a:prstGeom>
          <a:solidFill>
            <a:srgbClr val="FBFBF9"/>
          </a:solidFill>
          <a:ln w="12700">
            <a:solidFill>
              <a:srgbClr val="FBFBF9"/>
            </a:solidFill>
            <a:prstDash val="solid"/>
          </a:ln>
        </p:spPr>
      </p:sp>
      <p:sp>
        <p:nvSpPr>
          <p:cNvPr id="7" name="Text 5"/>
          <p:cNvSpPr txBox="1"/>
          <p:nvPr/>
        </p:nvSpPr>
        <p:spPr>
          <a:xfrm>
            <a:off x="1051560" y="3154680"/>
            <a:ext cx="6035040" cy="320040"/>
          </a:xfrm>
          <a:prstGeom prst="rect">
            <a:avLst/>
          </a:prstGeom>
          <a:noFill/>
          <a:ln/>
        </p:spPr>
        <p:txBody>
          <a:bodyPr wrap="square" lIns="0" tIns="0" rIns="0" bIns="0" rtlCol="0" anchor="t"/>
          <a:lstStyle/>
          <a:p>
            <a:pPr indent="0" marL="0">
              <a:buNone/>
            </a:pPr>
            <a:r>
              <a:rPr lang="en-US" sz="1200" b="1" spc="300" kern="0" dirty="0">
                <a:solidFill>
                  <a:srgbClr val="6B6F76"/>
                </a:solidFill>
                <a:latin typeface="Arial" pitchFamily="34" charset="0"/>
                <a:ea typeface="Arial" pitchFamily="34" charset="-122"/>
                <a:cs typeface="Arial" pitchFamily="34" charset="-120"/>
              </a:rPr>
              <a:t>THE JOB, POSTED EARLIER TODAY</a:t>
            </a:r>
            <a:endParaRPr lang="en-US" sz="1200" dirty="0"/>
          </a:p>
        </p:txBody>
      </p:sp>
      <p:sp>
        <p:nvSpPr>
          <p:cNvPr id="8" name="Text 6"/>
          <p:cNvSpPr txBox="1"/>
          <p:nvPr/>
        </p:nvSpPr>
        <p:spPr>
          <a:xfrm>
            <a:off x="1051560" y="3520440"/>
            <a:ext cx="6035040" cy="548640"/>
          </a:xfrm>
          <a:prstGeom prst="rect">
            <a:avLst/>
          </a:prstGeom>
          <a:noFill/>
          <a:ln/>
        </p:spPr>
        <p:txBody>
          <a:bodyPr wrap="square" lIns="0" tIns="0" rIns="0" bIns="0" rtlCol="0" anchor="t"/>
          <a:lstStyle/>
          <a:p>
            <a:pPr indent="0" marL="0">
              <a:buNone/>
            </a:pPr>
            <a:r>
              <a:rPr lang="en-US" sz="2800" b="1" dirty="0">
                <a:solidFill>
                  <a:srgbClr val="1A1D21"/>
                </a:solidFill>
                <a:latin typeface="Arial" pitchFamily="34" charset="0"/>
                <a:ea typeface="Arial" pitchFamily="34" charset="-122"/>
                <a:cs typeface="Arial" pitchFamily="34" charset="-120"/>
              </a:rPr>
              <a:t>Put your shop's price list online</a:t>
            </a:r>
            <a:endParaRPr lang="en-US" sz="2800" dirty="0"/>
          </a:p>
        </p:txBody>
      </p:sp>
      <p:sp>
        <p:nvSpPr>
          <p:cNvPr id="9" name="Text 7"/>
          <p:cNvSpPr txBox="1"/>
          <p:nvPr/>
        </p:nvSpPr>
        <p:spPr>
          <a:xfrm>
            <a:off x="1051560" y="4114800"/>
            <a:ext cx="6035040" cy="411480"/>
          </a:xfrm>
          <a:prstGeom prst="rect">
            <a:avLst/>
          </a:prstGeom>
          <a:noFill/>
          <a:ln/>
        </p:spPr>
        <p:txBody>
          <a:bodyPr wrap="square" lIns="0" tIns="0" rIns="0" bIns="0" rtlCol="0" anchor="t"/>
          <a:lstStyle/>
          <a:p>
            <a:pPr indent="0" marL="0">
              <a:buNone/>
            </a:pPr>
            <a:r>
              <a:rPr lang="en-US" sz="1800" dirty="0">
                <a:solidFill>
                  <a:srgbClr val="3D4148"/>
                </a:solidFill>
                <a:latin typeface="Arial" pitchFamily="34" charset="0"/>
                <a:ea typeface="Arial" pitchFamily="34" charset="-122"/>
                <a:cs typeface="Arial" pitchFamily="34" charset="-120"/>
              </a:rPr>
              <a:t>Three items, each priced in J$, on a public page.</a:t>
            </a:r>
            <a:endParaRPr lang="en-US" sz="1800" dirty="0"/>
          </a:p>
        </p:txBody>
      </p:sp>
      <p:sp>
        <p:nvSpPr>
          <p:cNvPr id="10" name="Text 8"/>
          <p:cNvSpPr txBox="1"/>
          <p:nvPr/>
        </p:nvSpPr>
        <p:spPr>
          <a:xfrm>
            <a:off x="1051560" y="4663440"/>
            <a:ext cx="6035040" cy="731520"/>
          </a:xfrm>
          <a:prstGeom prst="rect">
            <a:avLst/>
          </a:prstGeom>
          <a:noFill/>
          <a:ln/>
        </p:spPr>
        <p:txBody>
          <a:bodyPr wrap="square" lIns="0" tIns="0" rIns="0" bIns="0" rtlCol="0" anchor="ctr"/>
          <a:lstStyle/>
          <a:p>
            <a:pPr indent="0" marL="0">
              <a:buNone/>
            </a:pPr>
            <a:r>
              <a:rPr lang="en-US" sz="4400" b="1" dirty="0">
                <a:solidFill>
                  <a:srgbClr val="1A1D21"/>
                </a:solidFill>
                <a:latin typeface="Arial" pitchFamily="34" charset="0"/>
                <a:ea typeface="Arial" pitchFamily="34" charset="-122"/>
                <a:cs typeface="Arial" pitchFamily="34" charset="-120"/>
              </a:rPr>
              <a:t>J$160  </a:t>
            </a:r>
            <a:pPr indent="0" marL="0">
              <a:buNone/>
            </a:pPr>
            <a:r>
              <a:rPr lang="en-US" sz="1600" dirty="0">
                <a:solidFill>
                  <a:srgbClr val="6B6F76"/>
                </a:solidFill>
                <a:latin typeface="Arial" pitchFamily="34" charset="0"/>
                <a:ea typeface="Arial" pitchFamily="34" charset="-122"/>
                <a:cs typeface="Arial" pitchFamily="34" charset="-120"/>
              </a:rPr>
              <a:t>≈ $1.01 in USDC  ·  Arc</a:t>
            </a:r>
            <a:endParaRPr lang="en-US" sz="4400" dirty="0"/>
          </a:p>
        </p:txBody>
      </p:sp>
      <p:sp>
        <p:nvSpPr>
          <p:cNvPr id="11" name="Shape 9"/>
          <p:cNvSpPr/>
          <p:nvPr/>
        </p:nvSpPr>
        <p:spPr>
          <a:xfrm>
            <a:off x="8001000" y="3063240"/>
            <a:ext cx="457200" cy="457200"/>
          </a:xfrm>
          <a:prstGeom prst="ellipse">
            <a:avLst/>
          </a:prstGeom>
          <a:solidFill>
            <a:srgbClr val="C2410C"/>
          </a:solidFill>
          <a:ln w="12700">
            <a:solidFill>
              <a:srgbClr val="C2410C"/>
            </a:solidFill>
            <a:prstDash val="solid"/>
          </a:ln>
        </p:spPr>
      </p:sp>
      <p:sp>
        <p:nvSpPr>
          <p:cNvPr id="12" name="Text 10"/>
          <p:cNvSpPr txBox="1"/>
          <p:nvPr/>
        </p:nvSpPr>
        <p:spPr>
          <a:xfrm>
            <a:off x="800100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3" name="Text 11"/>
          <p:cNvSpPr txBox="1"/>
          <p:nvPr/>
        </p:nvSpPr>
        <p:spPr>
          <a:xfrm>
            <a:off x="8686800" y="3044952"/>
            <a:ext cx="3291840" cy="384048"/>
          </a:xfrm>
          <a:prstGeom prst="rect">
            <a:avLst/>
          </a:prstGeom>
          <a:noFill/>
          <a:ln/>
        </p:spPr>
        <p:txBody>
          <a:bodyPr wrap="square" lIns="0" tIns="0" rIns="0" bIns="0" rtlCol="0" anchor="t"/>
          <a:lstStyle/>
          <a:p>
            <a:pPr indent="0" marL="0">
              <a:buNone/>
            </a:pPr>
            <a:r>
              <a:rPr lang="en-US" sz="1800" b="1" dirty="0">
                <a:solidFill>
                  <a:srgbClr val="E9E7E1"/>
                </a:solidFill>
                <a:latin typeface="Arial" pitchFamily="34" charset="0"/>
                <a:ea typeface="Arial" pitchFamily="34" charset="-122"/>
                <a:cs typeface="Arial" pitchFamily="34" charset="-120"/>
              </a:rPr>
              <a:t>I submit my link, on my phone</a:t>
            </a:r>
            <a:endParaRPr lang="en-US" sz="1800" dirty="0"/>
          </a:p>
        </p:txBody>
      </p:sp>
      <p:sp>
        <p:nvSpPr>
          <p:cNvPr id="14" name="Shape 12"/>
          <p:cNvSpPr/>
          <p:nvPr/>
        </p:nvSpPr>
        <p:spPr>
          <a:xfrm>
            <a:off x="8001000" y="3931920"/>
            <a:ext cx="457200" cy="457200"/>
          </a:xfrm>
          <a:prstGeom prst="ellipse">
            <a:avLst/>
          </a:prstGeom>
          <a:solidFill>
            <a:srgbClr val="C2410C"/>
          </a:solidFill>
          <a:ln w="12700">
            <a:solidFill>
              <a:srgbClr val="C2410C"/>
            </a:solidFill>
            <a:prstDash val="solid"/>
          </a:ln>
        </p:spPr>
      </p:sp>
      <p:sp>
        <p:nvSpPr>
          <p:cNvPr id="15" name="Text 13"/>
          <p:cNvSpPr txBox="1"/>
          <p:nvPr/>
        </p:nvSpPr>
        <p:spPr>
          <a:xfrm>
            <a:off x="800100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6" name="Text 14"/>
          <p:cNvSpPr txBox="1"/>
          <p:nvPr/>
        </p:nvSpPr>
        <p:spPr>
          <a:xfrm>
            <a:off x="8686800" y="3913632"/>
            <a:ext cx="3291840" cy="384048"/>
          </a:xfrm>
          <a:prstGeom prst="rect">
            <a:avLst/>
          </a:prstGeom>
          <a:noFill/>
          <a:ln/>
        </p:spPr>
        <p:txBody>
          <a:bodyPr wrap="square" lIns="0" tIns="0" rIns="0" bIns="0" rtlCol="0" anchor="t"/>
          <a:lstStyle/>
          <a:p>
            <a:pPr indent="0" marL="0">
              <a:buNone/>
            </a:pPr>
            <a:r>
              <a:rPr lang="en-US" sz="1800" b="1" dirty="0">
                <a:solidFill>
                  <a:srgbClr val="E9E7E1"/>
                </a:solidFill>
                <a:latin typeface="Arial" pitchFamily="34" charset="0"/>
                <a:ea typeface="Arial" pitchFamily="34" charset="-122"/>
                <a:cs typeface="Arial" pitchFamily="34" charset="-120"/>
              </a:rPr>
              <a:t>Sage opens the page and checks it</a:t>
            </a:r>
            <a:endParaRPr lang="en-US" sz="1800" dirty="0"/>
          </a:p>
        </p:txBody>
      </p:sp>
      <p:sp>
        <p:nvSpPr>
          <p:cNvPr id="17" name="Shape 15"/>
          <p:cNvSpPr/>
          <p:nvPr/>
        </p:nvSpPr>
        <p:spPr>
          <a:xfrm>
            <a:off x="8001000" y="4800600"/>
            <a:ext cx="457200" cy="457200"/>
          </a:xfrm>
          <a:prstGeom prst="ellipse">
            <a:avLst/>
          </a:prstGeom>
          <a:solidFill>
            <a:srgbClr val="C2410C"/>
          </a:solidFill>
          <a:ln w="12700">
            <a:solidFill>
              <a:srgbClr val="C2410C"/>
            </a:solidFill>
            <a:prstDash val="solid"/>
          </a:ln>
        </p:spPr>
      </p:sp>
      <p:sp>
        <p:nvSpPr>
          <p:cNvPr id="18" name="Text 16"/>
          <p:cNvSpPr txBox="1"/>
          <p:nvPr/>
        </p:nvSpPr>
        <p:spPr>
          <a:xfrm>
            <a:off x="8001000" y="48006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9" name="Text 17"/>
          <p:cNvSpPr txBox="1"/>
          <p:nvPr/>
        </p:nvSpPr>
        <p:spPr>
          <a:xfrm>
            <a:off x="8686800" y="4782312"/>
            <a:ext cx="3291840" cy="384048"/>
          </a:xfrm>
          <a:prstGeom prst="rect">
            <a:avLst/>
          </a:prstGeom>
          <a:noFill/>
          <a:ln/>
        </p:spPr>
        <p:txBody>
          <a:bodyPr wrap="square" lIns="0" tIns="0" rIns="0" bIns="0" rtlCol="0" anchor="t"/>
          <a:lstStyle/>
          <a:p>
            <a:pPr indent="0" marL="0">
              <a:buNone/>
            </a:pPr>
            <a:r>
              <a:rPr lang="en-US" sz="1800" b="1" dirty="0">
                <a:solidFill>
                  <a:srgbClr val="E9E7E1"/>
                </a:solidFill>
                <a:latin typeface="Arial" pitchFamily="34" charset="0"/>
                <a:ea typeface="Arial" pitchFamily="34" charset="-122"/>
                <a:cs typeface="Arial" pitchFamily="34" charset="-120"/>
              </a:rPr>
              <a:t>The vault pays. Nobody approves it.</a:t>
            </a:r>
            <a:endParaRPr lang="en-US" sz="1800" dirty="0"/>
          </a:p>
        </p:txBody>
      </p:sp>
      <p:sp>
        <p:nvSpPr>
          <p:cNvPr id="20" name="Text 18"/>
          <p:cNvSpPr txBox="1"/>
          <p:nvPr/>
        </p:nvSpPr>
        <p:spPr>
          <a:xfrm>
            <a:off x="685800" y="5989320"/>
            <a:ext cx="10789920" cy="365760"/>
          </a:xfrm>
          <a:prstGeom prst="rect">
            <a:avLst/>
          </a:prstGeom>
          <a:noFill/>
          <a:ln/>
        </p:spPr>
        <p:txBody>
          <a:bodyPr wrap="square" lIns="0" tIns="0" rIns="0" bIns="0" rtlCol="0" anchor="t"/>
          <a:lstStyle/>
          <a:p>
            <a:pPr indent="0" marL="0">
              <a:buNone/>
            </a:pPr>
            <a:r>
              <a:rPr lang="en-US" sz="1400" dirty="0">
                <a:solidFill>
                  <a:srgbClr val="9CA0A8"/>
                </a:solidFill>
                <a:latin typeface="Arial" pitchFamily="34" charset="0"/>
                <a:ea typeface="Arial" pitchFamily="34" charset="-122"/>
                <a:cs typeface="Arial" pitchFamily="34" charset="-120"/>
              </a:rPr>
              <a:t>I posted the job as the buyer. I'm the seller, on my phone. Sage decides on its own.</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85800" y="548640"/>
            <a:ext cx="10789920" cy="822960"/>
          </a:xfrm>
          <a:prstGeom prst="rect">
            <a:avLst/>
          </a:prstGeom>
          <a:noFill/>
          <a:ln/>
        </p:spPr>
        <p:txBody>
          <a:bodyPr wrap="square" lIns="0" tIns="0" rIns="0" bIns="0" rtlCol="0" anchor="t"/>
          <a:lstStyle/>
          <a:p>
            <a:pPr indent="0" marL="0">
              <a:buNone/>
            </a:pPr>
            <a:r>
              <a:rPr lang="en-US" sz="3600" b="1" dirty="0">
                <a:solidFill>
                  <a:srgbClr val="1A1D21"/>
                </a:solidFill>
                <a:latin typeface="Arial" pitchFamily="34" charset="0"/>
                <a:ea typeface="Arial" pitchFamily="34" charset="-122"/>
                <a:cs typeface="Arial" pitchFamily="34" charset="-120"/>
              </a:rPr>
              <a:t>Every payout leaves a receipt anyone can open</a:t>
            </a:r>
            <a:endParaRPr lang="en-US" sz="3600" dirty="0"/>
          </a:p>
        </p:txBody>
      </p:sp>
      <p:sp>
        <p:nvSpPr>
          <p:cNvPr id="3" name="A real decision receipt frame"/>
          <p:cNvSpPr/>
          <p:nvPr/>
        </p:nvSpPr>
        <p:spPr>
          <a:xfrm>
            <a:off x="685800" y="1600200"/>
            <a:ext cx="6720840" cy="4206240"/>
          </a:xfrm>
          <a:prstGeom prst="roundRect">
            <a:avLst>
              <a:gd name="adj" fmla="val 3043"/>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pic>
        <p:nvPicPr>
          <p:cNvPr id="4" name="Image 0" descr="A real decision receipt">    </p:cNvPr>
          <p:cNvPicPr>
            <a:picLocks noChangeAspect="1"/>
          </p:cNvPicPr>
          <p:nvPr/>
        </p:nvPicPr>
        <p:blipFill>
          <a:blip r:embed="rId1"/>
          <a:srcRect l="0" r="0" t="0" b="0"/>
          <a:stretch/>
        </p:blipFill>
        <p:spPr>
          <a:xfrm>
            <a:off x="758952" y="1673352"/>
            <a:ext cx="6574536" cy="4059936"/>
          </a:xfrm>
          <a:prstGeom prst="rect">
            <a:avLst/>
          </a:prstGeom>
        </p:spPr>
      </p:pic>
      <p:sp>
        <p:nvSpPr>
          <p:cNvPr id="5" name="Text 2"/>
          <p:cNvSpPr txBox="1"/>
          <p:nvPr/>
        </p:nvSpPr>
        <p:spPr>
          <a:xfrm>
            <a:off x="685800" y="5870448"/>
            <a:ext cx="6720840" cy="274320"/>
          </a:xfrm>
          <a:prstGeom prst="rect">
            <a:avLst/>
          </a:prstGeom>
          <a:noFill/>
          <a:ln/>
        </p:spPr>
        <p:txBody>
          <a:bodyPr wrap="square" lIns="0" tIns="0" rIns="0" bIns="0" rtlCol="0" anchor="t"/>
          <a:lstStyle/>
          <a:p>
            <a:pPr indent="0" marL="0">
              <a:buNone/>
            </a:pPr>
            <a:r>
              <a:rPr lang="en-US" sz="1100" dirty="0">
                <a:solidFill>
                  <a:srgbClr val="A4A7AD"/>
                </a:solidFill>
                <a:latin typeface="Arial" pitchFamily="34" charset="0"/>
                <a:ea typeface="Arial" pitchFamily="34" charset="-122"/>
                <a:cs typeface="Arial" pitchFamily="34" charset="-120"/>
              </a:rPr>
              <a:t>The decision Sage recorded on a rehearsal run, earlier today</a:t>
            </a:r>
            <a:endParaRPr lang="en-US" sz="1100" dirty="0"/>
          </a:p>
        </p:txBody>
      </p:sp>
      <p:sp>
        <p:nvSpPr>
          <p:cNvPr id="6" name="Shape 3"/>
          <p:cNvSpPr/>
          <p:nvPr/>
        </p:nvSpPr>
        <p:spPr>
          <a:xfrm>
            <a:off x="7863840" y="1828800"/>
            <a:ext cx="457200" cy="457200"/>
          </a:xfrm>
          <a:prstGeom prst="ellipse">
            <a:avLst/>
          </a:prstGeom>
          <a:solidFill>
            <a:srgbClr val="C2410C"/>
          </a:solidFill>
          <a:ln w="12700">
            <a:solidFill>
              <a:srgbClr val="C2410C"/>
            </a:solidFill>
            <a:prstDash val="solid"/>
          </a:ln>
        </p:spPr>
      </p:sp>
      <p:sp>
        <p:nvSpPr>
          <p:cNvPr id="7" name="Text 4"/>
          <p:cNvSpPr txBox="1"/>
          <p:nvPr/>
        </p:nvSpPr>
        <p:spPr>
          <a:xfrm>
            <a:off x="7863840" y="18288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5"/>
          <p:cNvSpPr txBox="1"/>
          <p:nvPr/>
        </p:nvSpPr>
        <p:spPr>
          <a:xfrm>
            <a:off x="8549640" y="1810512"/>
            <a:ext cx="3108960" cy="384048"/>
          </a:xfrm>
          <a:prstGeom prst="rect">
            <a:avLst/>
          </a:prstGeom>
          <a:noFill/>
          <a:ln/>
        </p:spPr>
        <p:txBody>
          <a:bodyPr wrap="square" lIns="0" tIns="0" rIns="0" bIns="0" rtlCol="0" anchor="t"/>
          <a:lstStyle/>
          <a:p>
            <a:pPr indent="0" marL="0">
              <a:buNone/>
            </a:pPr>
            <a:r>
              <a:rPr lang="en-US" sz="2000" b="1" dirty="0">
                <a:solidFill>
                  <a:srgbClr val="1A1D21"/>
                </a:solidFill>
                <a:latin typeface="Arial" pitchFamily="34" charset="0"/>
                <a:ea typeface="Arial" pitchFamily="34" charset="-122"/>
                <a:cs typeface="Arial" pitchFamily="34" charset="-120"/>
              </a:rPr>
              <a:t>The decision</a:t>
            </a:r>
            <a:endParaRPr lang="en-US" sz="2000" dirty="0"/>
          </a:p>
        </p:txBody>
      </p:sp>
      <p:sp>
        <p:nvSpPr>
          <p:cNvPr id="9" name="Text 6"/>
          <p:cNvSpPr txBox="1"/>
          <p:nvPr/>
        </p:nvSpPr>
        <p:spPr>
          <a:xfrm>
            <a:off x="8549640" y="2212848"/>
            <a:ext cx="3108960" cy="640080"/>
          </a:xfrm>
          <a:prstGeom prst="rect">
            <a:avLst/>
          </a:prstGeom>
          <a:noFill/>
          <a:ln/>
        </p:spPr>
        <p:txBody>
          <a:bodyPr wrap="square" lIns="0" tIns="0" rIns="0" bIns="0" rtlCol="0" anchor="t"/>
          <a:lstStyle/>
          <a:p>
            <a:pPr indent="0" marL="0">
              <a:buNone/>
            </a:pPr>
            <a:r>
              <a:rPr lang="en-US" sz="1500" dirty="0">
                <a:solidFill>
                  <a:srgbClr val="6B6F76"/>
                </a:solidFill>
                <a:latin typeface="Arial" pitchFamily="34" charset="0"/>
                <a:ea typeface="Arial" pitchFamily="34" charset="-122"/>
                <a:cs typeface="Arial" pitchFamily="34" charset="-120"/>
              </a:rPr>
              <a:t>Pay, and how sure it was, against an 85% bar it can't lower.</a:t>
            </a:r>
            <a:endParaRPr lang="en-US" sz="1500" dirty="0"/>
          </a:p>
        </p:txBody>
      </p:sp>
      <p:sp>
        <p:nvSpPr>
          <p:cNvPr id="10" name="Shape 7"/>
          <p:cNvSpPr/>
          <p:nvPr/>
        </p:nvSpPr>
        <p:spPr>
          <a:xfrm>
            <a:off x="7863840" y="3063240"/>
            <a:ext cx="457200" cy="457200"/>
          </a:xfrm>
          <a:prstGeom prst="ellipse">
            <a:avLst/>
          </a:prstGeom>
          <a:solidFill>
            <a:srgbClr val="C2410C"/>
          </a:solidFill>
          <a:ln w="12700">
            <a:solidFill>
              <a:srgbClr val="C2410C"/>
            </a:solidFill>
            <a:prstDash val="solid"/>
          </a:ln>
        </p:spPr>
      </p:sp>
      <p:sp>
        <p:nvSpPr>
          <p:cNvPr id="11" name="Text 8"/>
          <p:cNvSpPr txBox="1"/>
          <p:nvPr/>
        </p:nvSpPr>
        <p:spPr>
          <a:xfrm>
            <a:off x="786384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9"/>
          <p:cNvSpPr txBox="1"/>
          <p:nvPr/>
        </p:nvSpPr>
        <p:spPr>
          <a:xfrm>
            <a:off x="8549640" y="3044952"/>
            <a:ext cx="3108960" cy="384048"/>
          </a:xfrm>
          <a:prstGeom prst="rect">
            <a:avLst/>
          </a:prstGeom>
          <a:noFill/>
          <a:ln/>
        </p:spPr>
        <p:txBody>
          <a:bodyPr wrap="square" lIns="0" tIns="0" rIns="0" bIns="0" rtlCol="0" anchor="t"/>
          <a:lstStyle/>
          <a:p>
            <a:pPr indent="0" marL="0">
              <a:buNone/>
            </a:pPr>
            <a:r>
              <a:rPr lang="en-US" sz="2000" b="1" dirty="0">
                <a:solidFill>
                  <a:srgbClr val="1A1D21"/>
                </a:solidFill>
                <a:latin typeface="Arial" pitchFamily="34" charset="0"/>
                <a:ea typeface="Arial" pitchFamily="34" charset="-122"/>
                <a:cs typeface="Arial" pitchFamily="34" charset="-120"/>
              </a:rPr>
              <a:t>The reason</a:t>
            </a:r>
            <a:endParaRPr lang="en-US" sz="2000" dirty="0"/>
          </a:p>
        </p:txBody>
      </p:sp>
      <p:sp>
        <p:nvSpPr>
          <p:cNvPr id="13" name="Text 10"/>
          <p:cNvSpPr txBox="1"/>
          <p:nvPr/>
        </p:nvSpPr>
        <p:spPr>
          <a:xfrm>
            <a:off x="8549640" y="3447288"/>
            <a:ext cx="3108960" cy="640080"/>
          </a:xfrm>
          <a:prstGeom prst="rect">
            <a:avLst/>
          </a:prstGeom>
          <a:noFill/>
          <a:ln/>
        </p:spPr>
        <p:txBody>
          <a:bodyPr wrap="square" lIns="0" tIns="0" rIns="0" bIns="0" rtlCol="0" anchor="t"/>
          <a:lstStyle/>
          <a:p>
            <a:pPr indent="0" marL="0">
              <a:buNone/>
            </a:pPr>
            <a:r>
              <a:rPr lang="en-US" sz="1500" dirty="0">
                <a:solidFill>
                  <a:srgbClr val="6B6F76"/>
                </a:solidFill>
                <a:latin typeface="Arial" pitchFamily="34" charset="0"/>
                <a:ea typeface="Arial" pitchFamily="34" charset="-122"/>
                <a:cs typeface="Arial" pitchFamily="34" charset="-120"/>
              </a:rPr>
              <a:t>What it checked on the page, in plain words, item by item.</a:t>
            </a:r>
            <a:endParaRPr lang="en-US" sz="1500" dirty="0"/>
          </a:p>
        </p:txBody>
      </p:sp>
      <p:sp>
        <p:nvSpPr>
          <p:cNvPr id="14" name="Shape 11"/>
          <p:cNvSpPr/>
          <p:nvPr/>
        </p:nvSpPr>
        <p:spPr>
          <a:xfrm>
            <a:off x="7863840" y="4297680"/>
            <a:ext cx="457200" cy="457200"/>
          </a:xfrm>
          <a:prstGeom prst="ellipse">
            <a:avLst/>
          </a:prstGeom>
          <a:solidFill>
            <a:srgbClr val="C2410C"/>
          </a:solidFill>
          <a:ln w="12700">
            <a:solidFill>
              <a:srgbClr val="C2410C"/>
            </a:solidFill>
            <a:prstDash val="solid"/>
          </a:ln>
        </p:spPr>
      </p:sp>
      <p:sp>
        <p:nvSpPr>
          <p:cNvPr id="15" name="Text 12"/>
          <p:cNvSpPr txBox="1"/>
          <p:nvPr/>
        </p:nvSpPr>
        <p:spPr>
          <a:xfrm>
            <a:off x="7863840" y="42976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6" name="Text 13"/>
          <p:cNvSpPr txBox="1"/>
          <p:nvPr/>
        </p:nvSpPr>
        <p:spPr>
          <a:xfrm>
            <a:off x="8549640" y="4279392"/>
            <a:ext cx="3108960" cy="384048"/>
          </a:xfrm>
          <a:prstGeom prst="rect">
            <a:avLst/>
          </a:prstGeom>
          <a:noFill/>
          <a:ln/>
        </p:spPr>
        <p:txBody>
          <a:bodyPr wrap="square" lIns="0" tIns="0" rIns="0" bIns="0" rtlCol="0" anchor="t"/>
          <a:lstStyle/>
          <a:p>
            <a:pPr indent="0" marL="0">
              <a:buNone/>
            </a:pPr>
            <a:r>
              <a:rPr lang="en-US" sz="2000" b="1" dirty="0">
                <a:solidFill>
                  <a:srgbClr val="1A1D21"/>
                </a:solidFill>
                <a:latin typeface="Arial" pitchFamily="34" charset="0"/>
                <a:ea typeface="Arial" pitchFamily="34" charset="-122"/>
                <a:cs typeface="Arial" pitchFamily="34" charset="-120"/>
              </a:rPr>
              <a:t>The transaction</a:t>
            </a:r>
            <a:endParaRPr lang="en-US" sz="2000" dirty="0"/>
          </a:p>
        </p:txBody>
      </p:sp>
      <p:sp>
        <p:nvSpPr>
          <p:cNvPr id="17" name="Text 14"/>
          <p:cNvSpPr txBox="1"/>
          <p:nvPr/>
        </p:nvSpPr>
        <p:spPr>
          <a:xfrm>
            <a:off x="8549640" y="4681728"/>
            <a:ext cx="3108960" cy="640080"/>
          </a:xfrm>
          <a:prstGeom prst="rect">
            <a:avLst/>
          </a:prstGeom>
          <a:noFill/>
          <a:ln/>
        </p:spPr>
        <p:txBody>
          <a:bodyPr wrap="square" lIns="0" tIns="0" rIns="0" bIns="0" rtlCol="0" anchor="t"/>
          <a:lstStyle/>
          <a:p>
            <a:pPr indent="0" marL="0">
              <a:buNone/>
            </a:pPr>
            <a:r>
              <a:rPr lang="en-US" sz="1500" dirty="0">
                <a:solidFill>
                  <a:srgbClr val="6B6F76"/>
                </a:solidFill>
                <a:latin typeface="Arial" pitchFamily="34" charset="0"/>
                <a:ea typeface="Arial" pitchFamily="34" charset="-122"/>
                <a:cs typeface="Arial" pitchFamily="34" charset="-120"/>
              </a:rPr>
              <a:t>Settled on a public chain. Anyone can check it.</a:t>
            </a:r>
            <a:endParaRPr lang="en-US" sz="15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85800" y="457200"/>
            <a:ext cx="7315200" cy="320040"/>
          </a:xfrm>
          <a:prstGeom prst="rect">
            <a:avLst/>
          </a:prstGeom>
          <a:noFill/>
          <a:ln/>
        </p:spPr>
        <p:txBody>
          <a:bodyPr wrap="square" lIns="0" tIns="0" rIns="0" bIns="0" rtlCol="0" anchor="t"/>
          <a:lstStyle/>
          <a:p>
            <a:pPr indent="0" marL="0">
              <a:buNone/>
            </a:pPr>
            <a:r>
              <a:rPr lang="en-US" sz="1300" b="1" spc="300" kern="0" dirty="0">
                <a:solidFill>
                  <a:srgbClr val="6B6F76"/>
                </a:solidFill>
                <a:latin typeface="Arial" pitchFamily="34" charset="0"/>
                <a:ea typeface="Arial" pitchFamily="34" charset="-122"/>
                <a:cs typeface="Arial" pitchFamily="34" charset="-120"/>
              </a:rPr>
              <a:t>THE PART THAT MATTERS FOR FINANCE</a:t>
            </a:r>
            <a:endParaRPr lang="en-US" sz="1300" dirty="0"/>
          </a:p>
        </p:txBody>
      </p:sp>
      <p:sp>
        <p:nvSpPr>
          <p:cNvPr id="3" name="Text 1"/>
          <p:cNvSpPr txBox="1"/>
          <p:nvPr/>
        </p:nvSpPr>
        <p:spPr>
          <a:xfrm>
            <a:off x="685800" y="777240"/>
            <a:ext cx="10789920" cy="731520"/>
          </a:xfrm>
          <a:prstGeom prst="rect">
            <a:avLst/>
          </a:prstGeom>
          <a:noFill/>
          <a:ln/>
        </p:spPr>
        <p:txBody>
          <a:bodyPr wrap="square" lIns="0" tIns="0" rIns="0" bIns="0" rtlCol="0" anchor="t"/>
          <a:lstStyle/>
          <a:p>
            <a:pPr indent="0" marL="0">
              <a:buNone/>
            </a:pPr>
            <a:r>
              <a:rPr lang="en-US" sz="3600" b="1" dirty="0">
                <a:solidFill>
                  <a:srgbClr val="1A1D21"/>
                </a:solidFill>
                <a:latin typeface="Arial" pitchFamily="34" charset="0"/>
                <a:ea typeface="Arial" pitchFamily="34" charset="-122"/>
                <a:cs typeface="Arial" pitchFamily="34" charset="-120"/>
              </a:rPr>
              <a:t>That payment just became a credit record</a:t>
            </a:r>
            <a:endParaRPr lang="en-US" sz="3600" dirty="0"/>
          </a:p>
        </p:txBody>
      </p:sp>
      <p:sp>
        <p:nvSpPr>
          <p:cNvPr id="4" name="The seller's verified work record frame"/>
          <p:cNvSpPr/>
          <p:nvPr/>
        </p:nvSpPr>
        <p:spPr>
          <a:xfrm>
            <a:off x="685800" y="1691640"/>
            <a:ext cx="10835640" cy="3246120"/>
          </a:xfrm>
          <a:prstGeom prst="roundRect">
            <a:avLst>
              <a:gd name="adj" fmla="val 3944"/>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pic>
        <p:nvPicPr>
          <p:cNvPr id="5" name="Image 0" descr="The seller's verified work record">    </p:cNvPr>
          <p:cNvPicPr>
            <a:picLocks noChangeAspect="1"/>
          </p:cNvPicPr>
          <p:nvPr/>
        </p:nvPicPr>
        <p:blipFill>
          <a:blip r:embed="rId1"/>
          <a:srcRect l="0" r="0" t="0" b="0"/>
          <a:stretch/>
        </p:blipFill>
        <p:spPr>
          <a:xfrm>
            <a:off x="758952" y="1764792"/>
            <a:ext cx="10689336" cy="3099816"/>
          </a:xfrm>
          <a:prstGeom prst="rect">
            <a:avLst/>
          </a:prstGeom>
        </p:spPr>
      </p:pic>
      <p:sp>
        <p:nvSpPr>
          <p:cNvPr id="6" name="Text 3"/>
          <p:cNvSpPr txBox="1"/>
          <p:nvPr/>
        </p:nvSpPr>
        <p:spPr>
          <a:xfrm>
            <a:off x="685800" y="4983480"/>
            <a:ext cx="10835640" cy="274320"/>
          </a:xfrm>
          <a:prstGeom prst="rect">
            <a:avLst/>
          </a:prstGeom>
          <a:noFill/>
          <a:ln/>
        </p:spPr>
        <p:txBody>
          <a:bodyPr wrap="square" lIns="0" tIns="0" rIns="0" bIns="0" rtlCol="0" anchor="t"/>
          <a:lstStyle/>
          <a:p>
            <a:pPr indent="0" marL="0">
              <a:buNone/>
            </a:pPr>
            <a:r>
              <a:rPr lang="en-US" sz="1100" dirty="0">
                <a:solidFill>
                  <a:srgbClr val="A4A7AD"/>
                </a:solidFill>
                <a:latin typeface="Arial" pitchFamily="34" charset="0"/>
                <a:ea typeface="Arial" pitchFamily="34" charset="-122"/>
                <a:cs typeface="Arial" pitchFamily="34" charset="-120"/>
              </a:rPr>
              <a:t>Excerpt of the seller's live record on sagepays.xyz/record, after this week's runs</a:t>
            </a:r>
            <a:endParaRPr lang="en-US" sz="1100" dirty="0"/>
          </a:p>
        </p:txBody>
      </p:sp>
      <p:sp>
        <p:nvSpPr>
          <p:cNvPr id="7" name="Shape 4"/>
          <p:cNvSpPr/>
          <p:nvPr/>
        </p:nvSpPr>
        <p:spPr>
          <a:xfrm>
            <a:off x="685800" y="5394960"/>
            <a:ext cx="457200" cy="457200"/>
          </a:xfrm>
          <a:prstGeom prst="ellipse">
            <a:avLst/>
          </a:prstGeom>
          <a:solidFill>
            <a:srgbClr val="C2410C"/>
          </a:solidFill>
          <a:ln w="12700">
            <a:solidFill>
              <a:srgbClr val="C2410C"/>
            </a:solidFill>
            <a:prstDash val="solid"/>
          </a:ln>
        </p:spPr>
      </p:sp>
      <p:sp>
        <p:nvSpPr>
          <p:cNvPr id="8" name="Text 5"/>
          <p:cNvSpPr txBox="1"/>
          <p:nvPr/>
        </p:nvSpPr>
        <p:spPr>
          <a:xfrm>
            <a:off x="685800" y="53949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9" name="Text 6"/>
          <p:cNvSpPr txBox="1"/>
          <p:nvPr/>
        </p:nvSpPr>
        <p:spPr>
          <a:xfrm>
            <a:off x="1371600" y="5376672"/>
            <a:ext cx="2743200" cy="384048"/>
          </a:xfrm>
          <a:prstGeom prst="rect">
            <a:avLst/>
          </a:prstGeom>
          <a:noFill/>
          <a:ln/>
        </p:spPr>
        <p:txBody>
          <a:bodyPr wrap="square" lIns="0" tIns="0" rIns="0" bIns="0" rtlCol="0" anchor="t"/>
          <a:lstStyle/>
          <a:p>
            <a:pPr indent="0" marL="0">
              <a:buNone/>
            </a:pPr>
            <a:r>
              <a:rPr lang="en-US" sz="1800" b="1" dirty="0">
                <a:solidFill>
                  <a:srgbClr val="1A1D21"/>
                </a:solidFill>
                <a:latin typeface="Arial" pitchFamily="34" charset="0"/>
                <a:ea typeface="Arial" pitchFamily="34" charset="-122"/>
                <a:cs typeface="Arial" pitchFamily="34" charset="-120"/>
              </a:rPr>
              <a:t>Verified income</a:t>
            </a:r>
            <a:endParaRPr lang="en-US" sz="1800" dirty="0"/>
          </a:p>
        </p:txBody>
      </p:sp>
      <p:sp>
        <p:nvSpPr>
          <p:cNvPr id="10" name="Text 7"/>
          <p:cNvSpPr txBox="1"/>
          <p:nvPr/>
        </p:nvSpPr>
        <p:spPr>
          <a:xfrm>
            <a:off x="1371600" y="5779008"/>
            <a:ext cx="2743200" cy="365760"/>
          </a:xfrm>
          <a:prstGeom prst="rect">
            <a:avLst/>
          </a:prstGeom>
          <a:noFill/>
          <a:ln/>
        </p:spPr>
        <p:txBody>
          <a:bodyPr wrap="square" lIns="0" tIns="0" rIns="0" bIns="0" rtlCol="0" anchor="t"/>
          <a:lstStyle/>
          <a:p>
            <a:pPr indent="0" marL="0">
              <a:buNone/>
            </a:pPr>
            <a:r>
              <a:rPr lang="en-US" sz="1300" dirty="0">
                <a:solidFill>
                  <a:srgbClr val="6B6F76"/>
                </a:solidFill>
                <a:latin typeface="Arial" pitchFamily="34" charset="0"/>
                <a:ea typeface="Arial" pitchFamily="34" charset="-122"/>
                <a:cs typeface="Arial" pitchFamily="34" charset="-120"/>
              </a:rPr>
              <a:t>30 and 90 days, receipts only.</a:t>
            </a:r>
            <a:endParaRPr lang="en-US" sz="1300" dirty="0"/>
          </a:p>
        </p:txBody>
      </p:sp>
      <p:sp>
        <p:nvSpPr>
          <p:cNvPr id="11" name="Shape 8"/>
          <p:cNvSpPr/>
          <p:nvPr/>
        </p:nvSpPr>
        <p:spPr>
          <a:xfrm>
            <a:off x="4434840" y="5394960"/>
            <a:ext cx="457200" cy="457200"/>
          </a:xfrm>
          <a:prstGeom prst="ellipse">
            <a:avLst/>
          </a:prstGeom>
          <a:solidFill>
            <a:srgbClr val="C2410C"/>
          </a:solidFill>
          <a:ln w="12700">
            <a:solidFill>
              <a:srgbClr val="C2410C"/>
            </a:solidFill>
            <a:prstDash val="solid"/>
          </a:ln>
        </p:spPr>
      </p:sp>
      <p:sp>
        <p:nvSpPr>
          <p:cNvPr id="12" name="Text 9"/>
          <p:cNvSpPr txBox="1"/>
          <p:nvPr/>
        </p:nvSpPr>
        <p:spPr>
          <a:xfrm>
            <a:off x="4434840" y="53949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10"/>
          <p:cNvSpPr txBox="1"/>
          <p:nvPr/>
        </p:nvSpPr>
        <p:spPr>
          <a:xfrm>
            <a:off x="5120640" y="5376672"/>
            <a:ext cx="2743200" cy="384048"/>
          </a:xfrm>
          <a:prstGeom prst="rect">
            <a:avLst/>
          </a:prstGeom>
          <a:noFill/>
          <a:ln/>
        </p:spPr>
        <p:txBody>
          <a:bodyPr wrap="square" lIns="0" tIns="0" rIns="0" bIns="0" rtlCol="0" anchor="t"/>
          <a:lstStyle/>
          <a:p>
            <a:pPr indent="0" marL="0">
              <a:buNone/>
            </a:pPr>
            <a:r>
              <a:rPr lang="en-US" sz="1800" b="1" dirty="0">
                <a:solidFill>
                  <a:srgbClr val="1A1D21"/>
                </a:solidFill>
                <a:latin typeface="Arial" pitchFamily="34" charset="0"/>
                <a:ea typeface="Arial" pitchFamily="34" charset="-122"/>
                <a:cs typeface="Arial" pitchFamily="34" charset="-120"/>
              </a:rPr>
              <a:t>Who paid, how long</a:t>
            </a:r>
            <a:endParaRPr lang="en-US" sz="1800" dirty="0"/>
          </a:p>
        </p:txBody>
      </p:sp>
      <p:sp>
        <p:nvSpPr>
          <p:cNvPr id="14" name="Text 11"/>
          <p:cNvSpPr txBox="1"/>
          <p:nvPr/>
        </p:nvSpPr>
        <p:spPr>
          <a:xfrm>
            <a:off x="5120640" y="5779008"/>
            <a:ext cx="2743200" cy="365760"/>
          </a:xfrm>
          <a:prstGeom prst="rect">
            <a:avLst/>
          </a:prstGeom>
          <a:noFill/>
          <a:ln/>
        </p:spPr>
        <p:txBody>
          <a:bodyPr wrap="square" lIns="0" tIns="0" rIns="0" bIns="0" rtlCol="0" anchor="t"/>
          <a:lstStyle/>
          <a:p>
            <a:pPr indent="0" marL="0">
              <a:buNone/>
            </a:pPr>
            <a:r>
              <a:rPr lang="en-US" sz="1300" dirty="0">
                <a:solidFill>
                  <a:srgbClr val="6B6F76"/>
                </a:solidFill>
                <a:latin typeface="Arial" pitchFamily="34" charset="0"/>
                <a:ea typeface="Arial" pitchFamily="34" charset="-122"/>
                <a:cs typeface="Arial" pitchFamily="34" charset="-120"/>
              </a:rPr>
              <a:t>Distinct payers, tenure, pass rate.</a:t>
            </a:r>
            <a:endParaRPr lang="en-US" sz="1300" dirty="0"/>
          </a:p>
        </p:txBody>
      </p:sp>
      <p:sp>
        <p:nvSpPr>
          <p:cNvPr id="15" name="Shape 12"/>
          <p:cNvSpPr/>
          <p:nvPr/>
        </p:nvSpPr>
        <p:spPr>
          <a:xfrm>
            <a:off x="8183880" y="5394960"/>
            <a:ext cx="457200" cy="457200"/>
          </a:xfrm>
          <a:prstGeom prst="ellipse">
            <a:avLst/>
          </a:prstGeom>
          <a:solidFill>
            <a:srgbClr val="C2410C"/>
          </a:solidFill>
          <a:ln w="12700">
            <a:solidFill>
              <a:srgbClr val="C2410C"/>
            </a:solidFill>
            <a:prstDash val="solid"/>
          </a:ln>
        </p:spPr>
      </p:sp>
      <p:sp>
        <p:nvSpPr>
          <p:cNvPr id="16" name="Text 13"/>
          <p:cNvSpPr txBox="1"/>
          <p:nvPr/>
        </p:nvSpPr>
        <p:spPr>
          <a:xfrm>
            <a:off x="8183880" y="53949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4"/>
          <p:cNvSpPr txBox="1"/>
          <p:nvPr/>
        </p:nvSpPr>
        <p:spPr>
          <a:xfrm>
            <a:off x="8869680" y="5376672"/>
            <a:ext cx="2743200" cy="384048"/>
          </a:xfrm>
          <a:prstGeom prst="rect">
            <a:avLst/>
          </a:prstGeom>
          <a:noFill/>
          <a:ln/>
        </p:spPr>
        <p:txBody>
          <a:bodyPr wrap="square" lIns="0" tIns="0" rIns="0" bIns="0" rtlCol="0" anchor="t"/>
          <a:lstStyle/>
          <a:p>
            <a:pPr indent="0" marL="0">
              <a:buNone/>
            </a:pPr>
            <a:r>
              <a:rPr lang="en-US" sz="1800" b="1" dirty="0">
                <a:solidFill>
                  <a:srgbClr val="1A1D21"/>
                </a:solidFill>
                <a:latin typeface="Arial" pitchFamily="34" charset="0"/>
                <a:ea typeface="Arial" pitchFamily="34" charset="-122"/>
                <a:cs typeface="Arial" pitchFamily="34" charset="-120"/>
              </a:rPr>
              <a:t>One call for a lender</a:t>
            </a:r>
            <a:endParaRPr lang="en-US" sz="1800" dirty="0"/>
          </a:p>
        </p:txBody>
      </p:sp>
      <p:sp>
        <p:nvSpPr>
          <p:cNvPr id="18" name="Text 15"/>
          <p:cNvSpPr txBox="1"/>
          <p:nvPr/>
        </p:nvSpPr>
        <p:spPr>
          <a:xfrm>
            <a:off x="8869680" y="5779008"/>
            <a:ext cx="2743200" cy="365760"/>
          </a:xfrm>
          <a:prstGeom prst="rect">
            <a:avLst/>
          </a:prstGeom>
          <a:noFill/>
          <a:ln/>
        </p:spPr>
        <p:txBody>
          <a:bodyPr wrap="square" lIns="0" tIns="0" rIns="0" bIns="0" rtlCol="0" anchor="t"/>
          <a:lstStyle/>
          <a:p>
            <a:pPr indent="0" marL="0">
              <a:buNone/>
            </a:pPr>
            <a:r>
              <a:rPr lang="en-US" sz="1300" dirty="0">
                <a:solidFill>
                  <a:srgbClr val="6B6F76"/>
                </a:solidFill>
                <a:latin typeface="Arial" pitchFamily="34" charset="0"/>
                <a:ea typeface="Arial" pitchFamily="34" charset="-122"/>
                <a:cs typeface="Arial" pitchFamily="34" charset="-120"/>
              </a:rPr>
              <a:t>JSON, CSV or a printed statement.</a:t>
            </a:r>
            <a:endParaRPr lang="en-US" sz="13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85800" y="548640"/>
            <a:ext cx="10789920" cy="822960"/>
          </a:xfrm>
          <a:prstGeom prst="rect">
            <a:avLst/>
          </a:prstGeom>
          <a:noFill/>
          <a:ln/>
        </p:spPr>
        <p:txBody>
          <a:bodyPr wrap="square" lIns="0" tIns="0" rIns="0" bIns="0" rtlCol="0" anchor="t"/>
          <a:lstStyle/>
          <a:p>
            <a:pPr indent="0" marL="0">
              <a:buNone/>
            </a:pPr>
            <a:r>
              <a:rPr lang="en-US" sz="3400" b="1" dirty="0">
                <a:solidFill>
                  <a:srgbClr val="1A1D21"/>
                </a:solidFill>
                <a:latin typeface="Arial" pitchFamily="34" charset="0"/>
                <a:ea typeface="Arial" pitchFamily="34" charset="-122"/>
                <a:cs typeface="Arial" pitchFamily="34" charset="-120"/>
              </a:rPr>
              <a:t>Priced in local money. Paid in digital dollars.</a:t>
            </a:r>
            <a:endParaRPr lang="en-US" sz="3400" dirty="0"/>
          </a:p>
        </p:txBody>
      </p:sp>
      <p:sp>
        <p:nvSpPr>
          <p:cNvPr id="3" name="Shape 1"/>
          <p:cNvSpPr/>
          <p:nvPr/>
        </p:nvSpPr>
        <p:spPr>
          <a:xfrm>
            <a:off x="2586838" y="1950319"/>
            <a:ext cx="288036" cy="2917658"/>
          </a:xfrm>
          <a:prstGeom prst="line">
            <a:avLst/>
          </a:prstGeom>
          <a:noFill/>
          <a:ln w="12700">
            <a:solidFill>
              <a:srgbClr val="C2410C">
                <a:alpha val="45000"/>
              </a:srgbClr>
            </a:solidFill>
            <a:prstDash val="dash"/>
          </a:ln>
        </p:spPr>
      </p:sp>
      <p:sp>
        <p:nvSpPr>
          <p:cNvPr id="4" name="Shape 2"/>
          <p:cNvSpPr/>
          <p:nvPr/>
        </p:nvSpPr>
        <p:spPr>
          <a:xfrm>
            <a:off x="916229" y="3525854"/>
            <a:ext cx="1958645" cy="1342123"/>
          </a:xfrm>
          <a:prstGeom prst="line">
            <a:avLst/>
          </a:prstGeom>
          <a:noFill/>
          <a:ln w="12700">
            <a:solidFill>
              <a:srgbClr val="C2410C">
                <a:alpha val="45000"/>
              </a:srgbClr>
            </a:solidFill>
            <a:prstDash val="dash"/>
          </a:ln>
        </p:spPr>
      </p:sp>
      <p:sp>
        <p:nvSpPr>
          <p:cNvPr id="5" name="Shape 3"/>
          <p:cNvSpPr/>
          <p:nvPr/>
        </p:nvSpPr>
        <p:spPr>
          <a:xfrm>
            <a:off x="2010766" y="3700914"/>
            <a:ext cx="864108" cy="1167063"/>
          </a:xfrm>
          <a:prstGeom prst="line">
            <a:avLst/>
          </a:prstGeom>
          <a:noFill/>
          <a:ln w="12700">
            <a:solidFill>
              <a:srgbClr val="C2410C">
                <a:alpha val="45000"/>
              </a:srgbClr>
            </a:solidFill>
            <a:prstDash val="dash"/>
          </a:ln>
        </p:spPr>
      </p:sp>
      <p:sp>
        <p:nvSpPr>
          <p:cNvPr id="6" name="Shape 4"/>
          <p:cNvSpPr/>
          <p:nvPr/>
        </p:nvSpPr>
        <p:spPr>
          <a:xfrm flipV="1">
            <a:off x="2874874" y="3059029"/>
            <a:ext cx="345643" cy="1808948"/>
          </a:xfrm>
          <a:prstGeom prst="line">
            <a:avLst/>
          </a:prstGeom>
          <a:noFill/>
          <a:ln w="12700">
            <a:solidFill>
              <a:srgbClr val="C2410C">
                <a:alpha val="45000"/>
              </a:srgbClr>
            </a:solidFill>
            <a:prstDash val="dash"/>
          </a:ln>
        </p:spPr>
      </p:sp>
      <p:sp>
        <p:nvSpPr>
          <p:cNvPr id="7" name="Shape 5"/>
          <p:cNvSpPr/>
          <p:nvPr/>
        </p:nvSpPr>
        <p:spPr>
          <a:xfrm flipV="1">
            <a:off x="2874874" y="2708910"/>
            <a:ext cx="1382573" cy="2159067"/>
          </a:xfrm>
          <a:prstGeom prst="line">
            <a:avLst/>
          </a:prstGeom>
          <a:noFill/>
          <a:ln w="12700">
            <a:solidFill>
              <a:srgbClr val="C2410C">
                <a:alpha val="45000"/>
              </a:srgbClr>
            </a:solidFill>
            <a:prstDash val="dash"/>
          </a:ln>
        </p:spPr>
      </p:sp>
      <p:sp>
        <p:nvSpPr>
          <p:cNvPr id="8" name="Shape 6"/>
          <p:cNvSpPr/>
          <p:nvPr/>
        </p:nvSpPr>
        <p:spPr>
          <a:xfrm flipV="1">
            <a:off x="2874874" y="3525854"/>
            <a:ext cx="2361895" cy="1342123"/>
          </a:xfrm>
          <a:prstGeom prst="line">
            <a:avLst/>
          </a:prstGeom>
          <a:noFill/>
          <a:ln w="12700">
            <a:solidFill>
              <a:srgbClr val="C2410C">
                <a:alpha val="45000"/>
              </a:srgbClr>
            </a:solidFill>
            <a:prstDash val="dash"/>
          </a:ln>
        </p:spPr>
      </p:sp>
      <p:sp>
        <p:nvSpPr>
          <p:cNvPr id="9" name="Shape 7"/>
          <p:cNvSpPr/>
          <p:nvPr/>
        </p:nvSpPr>
        <p:spPr>
          <a:xfrm flipV="1">
            <a:off x="2874874" y="4167739"/>
            <a:ext cx="2765146" cy="700238"/>
          </a:xfrm>
          <a:prstGeom prst="line">
            <a:avLst/>
          </a:prstGeom>
          <a:noFill/>
          <a:ln w="12700">
            <a:solidFill>
              <a:srgbClr val="C2410C">
                <a:alpha val="45000"/>
              </a:srgbClr>
            </a:solidFill>
            <a:prstDash val="dash"/>
          </a:ln>
        </p:spPr>
      </p:sp>
      <p:sp>
        <p:nvSpPr>
          <p:cNvPr id="10" name="Shape 8"/>
          <p:cNvSpPr/>
          <p:nvPr/>
        </p:nvSpPr>
        <p:spPr>
          <a:xfrm flipV="1">
            <a:off x="2874874" y="4751271"/>
            <a:ext cx="2189074" cy="116706"/>
          </a:xfrm>
          <a:prstGeom prst="line">
            <a:avLst/>
          </a:prstGeom>
          <a:noFill/>
          <a:ln w="12700">
            <a:solidFill>
              <a:srgbClr val="C2410C">
                <a:alpha val="45000"/>
              </a:srgbClr>
            </a:solidFill>
            <a:prstDash val="dash"/>
          </a:ln>
        </p:spPr>
      </p:sp>
      <p:sp>
        <p:nvSpPr>
          <p:cNvPr id="11" name="Shape 9"/>
          <p:cNvSpPr/>
          <p:nvPr/>
        </p:nvSpPr>
        <p:spPr>
          <a:xfrm>
            <a:off x="2874874" y="4867977"/>
            <a:ext cx="1843430" cy="525178"/>
          </a:xfrm>
          <a:prstGeom prst="line">
            <a:avLst/>
          </a:prstGeom>
          <a:noFill/>
          <a:ln w="12700">
            <a:solidFill>
              <a:srgbClr val="C2410C">
                <a:alpha val="45000"/>
              </a:srgbClr>
            </a:solidFill>
            <a:prstDash val="dash"/>
          </a:ln>
        </p:spPr>
      </p:sp>
      <p:sp>
        <p:nvSpPr>
          <p:cNvPr id="12" name="Shape 10"/>
          <p:cNvSpPr/>
          <p:nvPr/>
        </p:nvSpPr>
        <p:spPr>
          <a:xfrm>
            <a:off x="2874874" y="4867977"/>
            <a:ext cx="2649931" cy="816944"/>
          </a:xfrm>
          <a:prstGeom prst="line">
            <a:avLst/>
          </a:prstGeom>
          <a:noFill/>
          <a:ln w="12700">
            <a:solidFill>
              <a:srgbClr val="C2410C">
                <a:alpha val="45000"/>
              </a:srgbClr>
            </a:solidFill>
            <a:prstDash val="dash"/>
          </a:ln>
        </p:spPr>
      </p:sp>
      <p:sp>
        <p:nvSpPr>
          <p:cNvPr id="13" name="Shape 11"/>
          <p:cNvSpPr/>
          <p:nvPr/>
        </p:nvSpPr>
        <p:spPr>
          <a:xfrm>
            <a:off x="2431390" y="1794871"/>
            <a:ext cx="310896" cy="310896"/>
          </a:xfrm>
          <a:prstGeom prst="ellipse">
            <a:avLst/>
          </a:prstGeom>
          <a:solidFill>
            <a:srgbClr val="C2410C">
              <a:alpha val="18000"/>
            </a:srgbClr>
          </a:solidFill>
          <a:ln w="12700">
            <a:solidFill>
              <a:srgbClr val="C2410C">
                <a:alpha val="50000"/>
              </a:srgbClr>
            </a:solidFill>
            <a:prstDash val="solid"/>
          </a:ln>
        </p:spPr>
      </p:sp>
      <p:sp>
        <p:nvSpPr>
          <p:cNvPr id="14" name="Shape 12"/>
          <p:cNvSpPr/>
          <p:nvPr/>
        </p:nvSpPr>
        <p:spPr>
          <a:xfrm>
            <a:off x="2513686" y="1877167"/>
            <a:ext cx="146304" cy="146304"/>
          </a:xfrm>
          <a:prstGeom prst="ellipse">
            <a:avLst/>
          </a:prstGeom>
          <a:solidFill>
            <a:srgbClr val="C2410C"/>
          </a:solidFill>
          <a:ln w="12700">
            <a:solidFill>
              <a:srgbClr val="C2410C"/>
            </a:solidFill>
            <a:prstDash val="solid"/>
          </a:ln>
        </p:spPr>
      </p:sp>
      <p:sp>
        <p:nvSpPr>
          <p:cNvPr id="15" name="Text 13"/>
          <p:cNvSpPr txBox="1"/>
          <p:nvPr/>
        </p:nvSpPr>
        <p:spPr>
          <a:xfrm>
            <a:off x="2842870" y="1749151"/>
            <a:ext cx="1828800" cy="502920"/>
          </a:xfrm>
          <a:prstGeom prst="rect">
            <a:avLst/>
          </a:prstGeom>
          <a:noFill/>
          <a:ln/>
        </p:spPr>
        <p:txBody>
          <a:bodyPr wrap="square" lIns="0" tIns="0" rIns="0" bIns="0" rtlCol="0" anchor="t"/>
          <a:lstStyle/>
          <a:p>
            <a:pPr algn="l" indent="0" marL="0">
              <a:buNone/>
            </a:pPr>
            <a:r>
              <a:rPr lang="en-US" sz="1600" b="1" dirty="0">
                <a:solidFill>
                  <a:srgbClr val="1A1D21"/>
                </a:solidFill>
                <a:latin typeface="Arial" pitchFamily="34" charset="0"/>
                <a:ea typeface="Arial" pitchFamily="34" charset="-122"/>
                <a:cs typeface="Arial" pitchFamily="34" charset="-120"/>
              </a:rPr>
              <a:t>B$</a:t>
            </a:r>
            <a:endParaRPr lang="en-US" sz="1600" dirty="0"/>
          </a:p>
          <a:p>
            <a:pPr algn="l" indent="0" marL="0">
              <a:buNone/>
            </a:pPr>
            <a:r>
              <a:rPr lang="en-US" sz="1100" dirty="0">
                <a:solidFill>
                  <a:srgbClr val="6B6F76"/>
                </a:solidFill>
                <a:latin typeface="Arial" pitchFamily="34" charset="0"/>
                <a:ea typeface="Arial" pitchFamily="34" charset="-122"/>
                <a:cs typeface="Arial" pitchFamily="34" charset="-120"/>
              </a:rPr>
              <a:t>The Bahamas</a:t>
            </a:r>
            <a:endParaRPr lang="en-US" sz="1600" dirty="0"/>
          </a:p>
        </p:txBody>
      </p:sp>
      <p:sp>
        <p:nvSpPr>
          <p:cNvPr id="16" name="Shape 14"/>
          <p:cNvSpPr/>
          <p:nvPr/>
        </p:nvSpPr>
        <p:spPr>
          <a:xfrm>
            <a:off x="760781" y="3370406"/>
            <a:ext cx="310896" cy="310896"/>
          </a:xfrm>
          <a:prstGeom prst="ellipse">
            <a:avLst/>
          </a:prstGeom>
          <a:solidFill>
            <a:srgbClr val="C2410C">
              <a:alpha val="18000"/>
            </a:srgbClr>
          </a:solidFill>
          <a:ln w="12700">
            <a:solidFill>
              <a:srgbClr val="C2410C">
                <a:alpha val="50000"/>
              </a:srgbClr>
            </a:solidFill>
            <a:prstDash val="solid"/>
          </a:ln>
        </p:spPr>
      </p:sp>
      <p:sp>
        <p:nvSpPr>
          <p:cNvPr id="17" name="Shape 15"/>
          <p:cNvSpPr/>
          <p:nvPr/>
        </p:nvSpPr>
        <p:spPr>
          <a:xfrm>
            <a:off x="843077" y="3452702"/>
            <a:ext cx="146304" cy="146304"/>
          </a:xfrm>
          <a:prstGeom prst="ellipse">
            <a:avLst/>
          </a:prstGeom>
          <a:solidFill>
            <a:srgbClr val="C2410C"/>
          </a:solidFill>
          <a:ln w="12700">
            <a:solidFill>
              <a:srgbClr val="C2410C"/>
            </a:solidFill>
            <a:prstDash val="solid"/>
          </a:ln>
        </p:spPr>
      </p:sp>
      <p:sp>
        <p:nvSpPr>
          <p:cNvPr id="18" name="Text 16"/>
          <p:cNvSpPr txBox="1"/>
          <p:nvPr/>
        </p:nvSpPr>
        <p:spPr>
          <a:xfrm>
            <a:off x="1172261" y="3324686"/>
            <a:ext cx="1828800" cy="502920"/>
          </a:xfrm>
          <a:prstGeom prst="rect">
            <a:avLst/>
          </a:prstGeom>
          <a:noFill/>
          <a:ln/>
        </p:spPr>
        <p:txBody>
          <a:bodyPr wrap="square" lIns="0" tIns="0" rIns="0" bIns="0" rtlCol="0" anchor="t"/>
          <a:lstStyle/>
          <a:p>
            <a:pPr algn="l" indent="0" marL="0">
              <a:buNone/>
            </a:pPr>
            <a:r>
              <a:rPr lang="en-US" sz="1600" b="1" dirty="0">
                <a:solidFill>
                  <a:srgbClr val="1A1D21"/>
                </a:solidFill>
                <a:latin typeface="Arial" pitchFamily="34" charset="0"/>
                <a:ea typeface="Arial" pitchFamily="34" charset="-122"/>
                <a:cs typeface="Arial" pitchFamily="34" charset="-120"/>
              </a:rPr>
              <a:t>BZ$</a:t>
            </a:r>
            <a:endParaRPr lang="en-US" sz="1600" dirty="0"/>
          </a:p>
          <a:p>
            <a:pPr algn="l" indent="0" marL="0">
              <a:buNone/>
            </a:pPr>
            <a:r>
              <a:rPr lang="en-US" sz="1100" dirty="0">
                <a:solidFill>
                  <a:srgbClr val="6B6F76"/>
                </a:solidFill>
                <a:latin typeface="Arial" pitchFamily="34" charset="0"/>
                <a:ea typeface="Arial" pitchFamily="34" charset="-122"/>
                <a:cs typeface="Arial" pitchFamily="34" charset="-120"/>
              </a:rPr>
              <a:t>Belize</a:t>
            </a:r>
            <a:endParaRPr lang="en-US" sz="1600" dirty="0"/>
          </a:p>
        </p:txBody>
      </p:sp>
      <p:sp>
        <p:nvSpPr>
          <p:cNvPr id="19" name="Shape 17"/>
          <p:cNvSpPr/>
          <p:nvPr/>
        </p:nvSpPr>
        <p:spPr>
          <a:xfrm>
            <a:off x="1855318" y="3545466"/>
            <a:ext cx="310896" cy="310896"/>
          </a:xfrm>
          <a:prstGeom prst="ellipse">
            <a:avLst/>
          </a:prstGeom>
          <a:solidFill>
            <a:srgbClr val="C2410C">
              <a:alpha val="18000"/>
            </a:srgbClr>
          </a:solidFill>
          <a:ln w="12700">
            <a:solidFill>
              <a:srgbClr val="C2410C">
                <a:alpha val="50000"/>
              </a:srgbClr>
            </a:solidFill>
            <a:prstDash val="solid"/>
          </a:ln>
        </p:spPr>
      </p:sp>
      <p:sp>
        <p:nvSpPr>
          <p:cNvPr id="20" name="Shape 18"/>
          <p:cNvSpPr/>
          <p:nvPr/>
        </p:nvSpPr>
        <p:spPr>
          <a:xfrm>
            <a:off x="1937614" y="3627762"/>
            <a:ext cx="146304" cy="146304"/>
          </a:xfrm>
          <a:prstGeom prst="ellipse">
            <a:avLst/>
          </a:prstGeom>
          <a:solidFill>
            <a:srgbClr val="C2410C"/>
          </a:solidFill>
          <a:ln w="12700">
            <a:solidFill>
              <a:srgbClr val="C2410C"/>
            </a:solidFill>
            <a:prstDash val="solid"/>
          </a:ln>
        </p:spPr>
      </p:sp>
      <p:sp>
        <p:nvSpPr>
          <p:cNvPr id="21" name="Text 19"/>
          <p:cNvSpPr txBox="1"/>
          <p:nvPr/>
        </p:nvSpPr>
        <p:spPr>
          <a:xfrm>
            <a:off x="2266798" y="3499746"/>
            <a:ext cx="1828800" cy="502920"/>
          </a:xfrm>
          <a:prstGeom prst="rect">
            <a:avLst/>
          </a:prstGeom>
          <a:noFill/>
          <a:ln/>
        </p:spPr>
        <p:txBody>
          <a:bodyPr wrap="square" lIns="0" tIns="0" rIns="0" bIns="0" rtlCol="0" anchor="t"/>
          <a:lstStyle/>
          <a:p>
            <a:pPr algn="l" indent="0" marL="0">
              <a:buNone/>
            </a:pPr>
            <a:r>
              <a:rPr lang="en-US" sz="1600" b="1" dirty="0">
                <a:solidFill>
                  <a:srgbClr val="1A1D21"/>
                </a:solidFill>
                <a:latin typeface="Arial" pitchFamily="34" charset="0"/>
                <a:ea typeface="Arial" pitchFamily="34" charset="-122"/>
                <a:cs typeface="Arial" pitchFamily="34" charset="-120"/>
              </a:rPr>
              <a:t>J$</a:t>
            </a:r>
            <a:endParaRPr lang="en-US" sz="1600" dirty="0"/>
          </a:p>
          <a:p>
            <a:pPr algn="l" indent="0" marL="0">
              <a:buNone/>
            </a:pPr>
            <a:r>
              <a:rPr lang="en-US" sz="1100" dirty="0">
                <a:solidFill>
                  <a:srgbClr val="6B6F76"/>
                </a:solidFill>
                <a:latin typeface="Arial" pitchFamily="34" charset="0"/>
                <a:ea typeface="Arial" pitchFamily="34" charset="-122"/>
                <a:cs typeface="Arial" pitchFamily="34" charset="-120"/>
              </a:rPr>
              <a:t>Jamaica</a:t>
            </a:r>
            <a:endParaRPr lang="en-US" sz="1600" dirty="0"/>
          </a:p>
        </p:txBody>
      </p:sp>
      <p:sp>
        <p:nvSpPr>
          <p:cNvPr id="22" name="Shape 20"/>
          <p:cNvSpPr/>
          <p:nvPr/>
        </p:nvSpPr>
        <p:spPr>
          <a:xfrm>
            <a:off x="3065069" y="2903581"/>
            <a:ext cx="310896" cy="310896"/>
          </a:xfrm>
          <a:prstGeom prst="ellipse">
            <a:avLst/>
          </a:prstGeom>
          <a:solidFill>
            <a:srgbClr val="C2410C">
              <a:alpha val="18000"/>
            </a:srgbClr>
          </a:solidFill>
          <a:ln w="12700">
            <a:solidFill>
              <a:srgbClr val="C2410C">
                <a:alpha val="50000"/>
              </a:srgbClr>
            </a:solidFill>
            <a:prstDash val="solid"/>
          </a:ln>
        </p:spPr>
      </p:sp>
      <p:sp>
        <p:nvSpPr>
          <p:cNvPr id="23" name="Shape 21"/>
          <p:cNvSpPr/>
          <p:nvPr/>
        </p:nvSpPr>
        <p:spPr>
          <a:xfrm>
            <a:off x="3147365" y="2985877"/>
            <a:ext cx="146304" cy="146304"/>
          </a:xfrm>
          <a:prstGeom prst="ellipse">
            <a:avLst/>
          </a:prstGeom>
          <a:solidFill>
            <a:srgbClr val="C2410C"/>
          </a:solidFill>
          <a:ln w="12700">
            <a:solidFill>
              <a:srgbClr val="C2410C"/>
            </a:solidFill>
            <a:prstDash val="solid"/>
          </a:ln>
        </p:spPr>
      </p:sp>
      <p:sp>
        <p:nvSpPr>
          <p:cNvPr id="24" name="Text 22"/>
          <p:cNvSpPr txBox="1"/>
          <p:nvPr/>
        </p:nvSpPr>
        <p:spPr>
          <a:xfrm>
            <a:off x="3476549" y="2857861"/>
            <a:ext cx="1828800" cy="502920"/>
          </a:xfrm>
          <a:prstGeom prst="rect">
            <a:avLst/>
          </a:prstGeom>
          <a:noFill/>
          <a:ln/>
        </p:spPr>
        <p:txBody>
          <a:bodyPr wrap="square" lIns="0" tIns="0" rIns="0" bIns="0" rtlCol="0" anchor="t"/>
          <a:lstStyle/>
          <a:p>
            <a:pPr algn="l" indent="0" marL="0">
              <a:buNone/>
            </a:pPr>
            <a:r>
              <a:rPr lang="en-US" sz="1600" b="1" dirty="0">
                <a:solidFill>
                  <a:srgbClr val="1A1D21"/>
                </a:solidFill>
                <a:latin typeface="Arial" pitchFamily="34" charset="0"/>
                <a:ea typeface="Arial" pitchFamily="34" charset="-122"/>
                <a:cs typeface="Arial" pitchFamily="34" charset="-120"/>
              </a:rPr>
              <a:t>G</a:t>
            </a:r>
            <a:endParaRPr lang="en-US" sz="1600" dirty="0"/>
          </a:p>
          <a:p>
            <a:pPr algn="l" indent="0" marL="0">
              <a:buNone/>
            </a:pPr>
            <a:r>
              <a:rPr lang="en-US" sz="1100" dirty="0">
                <a:solidFill>
                  <a:srgbClr val="6B6F76"/>
                </a:solidFill>
                <a:latin typeface="Arial" pitchFamily="34" charset="0"/>
                <a:ea typeface="Arial" pitchFamily="34" charset="-122"/>
                <a:cs typeface="Arial" pitchFamily="34" charset="-120"/>
              </a:rPr>
              <a:t>Haiti</a:t>
            </a:r>
            <a:endParaRPr lang="en-US" sz="1600" dirty="0"/>
          </a:p>
        </p:txBody>
      </p:sp>
      <p:sp>
        <p:nvSpPr>
          <p:cNvPr id="25" name="Shape 23"/>
          <p:cNvSpPr/>
          <p:nvPr/>
        </p:nvSpPr>
        <p:spPr>
          <a:xfrm>
            <a:off x="4101998" y="2553462"/>
            <a:ext cx="310896" cy="310896"/>
          </a:xfrm>
          <a:prstGeom prst="ellipse">
            <a:avLst/>
          </a:prstGeom>
          <a:solidFill>
            <a:srgbClr val="C2410C">
              <a:alpha val="18000"/>
            </a:srgbClr>
          </a:solidFill>
          <a:ln w="12700">
            <a:solidFill>
              <a:srgbClr val="C2410C">
                <a:alpha val="50000"/>
              </a:srgbClr>
            </a:solidFill>
            <a:prstDash val="solid"/>
          </a:ln>
        </p:spPr>
      </p:sp>
      <p:sp>
        <p:nvSpPr>
          <p:cNvPr id="26" name="Shape 24"/>
          <p:cNvSpPr/>
          <p:nvPr/>
        </p:nvSpPr>
        <p:spPr>
          <a:xfrm>
            <a:off x="4184294" y="2635758"/>
            <a:ext cx="146304" cy="146304"/>
          </a:xfrm>
          <a:prstGeom prst="ellipse">
            <a:avLst/>
          </a:prstGeom>
          <a:solidFill>
            <a:srgbClr val="C2410C"/>
          </a:solidFill>
          <a:ln w="12700">
            <a:solidFill>
              <a:srgbClr val="C2410C"/>
            </a:solidFill>
            <a:prstDash val="solid"/>
          </a:ln>
        </p:spPr>
      </p:sp>
      <p:sp>
        <p:nvSpPr>
          <p:cNvPr id="27" name="Text 25"/>
          <p:cNvSpPr txBox="1"/>
          <p:nvPr/>
        </p:nvSpPr>
        <p:spPr>
          <a:xfrm>
            <a:off x="4513478" y="2507742"/>
            <a:ext cx="1828800" cy="502920"/>
          </a:xfrm>
          <a:prstGeom prst="rect">
            <a:avLst/>
          </a:prstGeom>
          <a:noFill/>
          <a:ln/>
        </p:spPr>
        <p:txBody>
          <a:bodyPr wrap="square" lIns="0" tIns="0" rIns="0" bIns="0" rtlCol="0" anchor="t"/>
          <a:lstStyle/>
          <a:p>
            <a:pPr algn="l" indent="0" marL="0">
              <a:buNone/>
            </a:pPr>
            <a:r>
              <a:rPr lang="en-US" sz="1600" b="1" dirty="0">
                <a:solidFill>
                  <a:srgbClr val="1A1D21"/>
                </a:solidFill>
                <a:latin typeface="Arial" pitchFamily="34" charset="0"/>
                <a:ea typeface="Arial" pitchFamily="34" charset="-122"/>
                <a:cs typeface="Arial" pitchFamily="34" charset="-120"/>
              </a:rPr>
              <a:t>RD$</a:t>
            </a:r>
            <a:endParaRPr lang="en-US" sz="1600" dirty="0"/>
          </a:p>
          <a:p>
            <a:pPr algn="l" indent="0" marL="0">
              <a:buNone/>
            </a:pPr>
            <a:r>
              <a:rPr lang="en-US" sz="1100" dirty="0">
                <a:solidFill>
                  <a:srgbClr val="6B6F76"/>
                </a:solidFill>
                <a:latin typeface="Arial" pitchFamily="34" charset="0"/>
                <a:ea typeface="Arial" pitchFamily="34" charset="-122"/>
                <a:cs typeface="Arial" pitchFamily="34" charset="-120"/>
              </a:rPr>
              <a:t>Dominican Rep.</a:t>
            </a:r>
            <a:endParaRPr lang="en-US" sz="1600" dirty="0"/>
          </a:p>
        </p:txBody>
      </p:sp>
      <p:sp>
        <p:nvSpPr>
          <p:cNvPr id="28" name="Shape 26"/>
          <p:cNvSpPr/>
          <p:nvPr/>
        </p:nvSpPr>
        <p:spPr>
          <a:xfrm>
            <a:off x="5081321" y="3370406"/>
            <a:ext cx="310896" cy="310896"/>
          </a:xfrm>
          <a:prstGeom prst="ellipse">
            <a:avLst/>
          </a:prstGeom>
          <a:solidFill>
            <a:srgbClr val="C2410C">
              <a:alpha val="18000"/>
            </a:srgbClr>
          </a:solidFill>
          <a:ln w="12700">
            <a:solidFill>
              <a:srgbClr val="C2410C">
                <a:alpha val="50000"/>
              </a:srgbClr>
            </a:solidFill>
            <a:prstDash val="solid"/>
          </a:ln>
        </p:spPr>
      </p:sp>
      <p:sp>
        <p:nvSpPr>
          <p:cNvPr id="29" name="Shape 27"/>
          <p:cNvSpPr/>
          <p:nvPr/>
        </p:nvSpPr>
        <p:spPr>
          <a:xfrm>
            <a:off x="5163617" y="3452702"/>
            <a:ext cx="146304" cy="146304"/>
          </a:xfrm>
          <a:prstGeom prst="ellipse">
            <a:avLst/>
          </a:prstGeom>
          <a:solidFill>
            <a:srgbClr val="C2410C"/>
          </a:solidFill>
          <a:ln w="12700">
            <a:solidFill>
              <a:srgbClr val="C2410C"/>
            </a:solidFill>
            <a:prstDash val="solid"/>
          </a:ln>
        </p:spPr>
      </p:sp>
      <p:sp>
        <p:nvSpPr>
          <p:cNvPr id="30" name="Text 28"/>
          <p:cNvSpPr txBox="1"/>
          <p:nvPr/>
        </p:nvSpPr>
        <p:spPr>
          <a:xfrm>
            <a:off x="5492801" y="3324686"/>
            <a:ext cx="1828800" cy="502920"/>
          </a:xfrm>
          <a:prstGeom prst="rect">
            <a:avLst/>
          </a:prstGeom>
          <a:noFill/>
          <a:ln/>
        </p:spPr>
        <p:txBody>
          <a:bodyPr wrap="square" lIns="0" tIns="0" rIns="0" bIns="0" rtlCol="0" anchor="t"/>
          <a:lstStyle/>
          <a:p>
            <a:pPr algn="l" indent="0" marL="0">
              <a:buNone/>
            </a:pPr>
            <a:r>
              <a:rPr lang="en-US" sz="1600" b="1" dirty="0">
                <a:solidFill>
                  <a:srgbClr val="1A1D21"/>
                </a:solidFill>
                <a:latin typeface="Arial" pitchFamily="34" charset="0"/>
                <a:ea typeface="Arial" pitchFamily="34" charset="-122"/>
                <a:cs typeface="Arial" pitchFamily="34" charset="-120"/>
              </a:rPr>
              <a:t>EC$</a:t>
            </a:r>
            <a:endParaRPr lang="en-US" sz="1600" dirty="0"/>
          </a:p>
          <a:p>
            <a:pPr algn="l" indent="0" marL="0">
              <a:buNone/>
            </a:pPr>
            <a:r>
              <a:rPr lang="en-US" sz="1100" dirty="0">
                <a:solidFill>
                  <a:srgbClr val="6B6F76"/>
                </a:solidFill>
                <a:latin typeface="Arial" pitchFamily="34" charset="0"/>
                <a:ea typeface="Arial" pitchFamily="34" charset="-122"/>
                <a:cs typeface="Arial" pitchFamily="34" charset="-120"/>
              </a:rPr>
              <a:t>Eastern Caribbean</a:t>
            </a:r>
            <a:endParaRPr lang="en-US" sz="1600" dirty="0"/>
          </a:p>
        </p:txBody>
      </p:sp>
      <p:sp>
        <p:nvSpPr>
          <p:cNvPr id="31" name="Shape 29"/>
          <p:cNvSpPr/>
          <p:nvPr/>
        </p:nvSpPr>
        <p:spPr>
          <a:xfrm>
            <a:off x="5484571" y="4012291"/>
            <a:ext cx="310896" cy="310896"/>
          </a:xfrm>
          <a:prstGeom prst="ellipse">
            <a:avLst/>
          </a:prstGeom>
          <a:solidFill>
            <a:srgbClr val="C2410C">
              <a:alpha val="18000"/>
            </a:srgbClr>
          </a:solidFill>
          <a:ln w="12700">
            <a:solidFill>
              <a:srgbClr val="C2410C">
                <a:alpha val="50000"/>
              </a:srgbClr>
            </a:solidFill>
            <a:prstDash val="solid"/>
          </a:ln>
        </p:spPr>
      </p:sp>
      <p:sp>
        <p:nvSpPr>
          <p:cNvPr id="32" name="Shape 30"/>
          <p:cNvSpPr/>
          <p:nvPr/>
        </p:nvSpPr>
        <p:spPr>
          <a:xfrm>
            <a:off x="5566867" y="4094587"/>
            <a:ext cx="146304" cy="146304"/>
          </a:xfrm>
          <a:prstGeom prst="ellipse">
            <a:avLst/>
          </a:prstGeom>
          <a:solidFill>
            <a:srgbClr val="C2410C"/>
          </a:solidFill>
          <a:ln w="12700">
            <a:solidFill>
              <a:srgbClr val="C2410C"/>
            </a:solidFill>
            <a:prstDash val="solid"/>
          </a:ln>
        </p:spPr>
      </p:sp>
      <p:sp>
        <p:nvSpPr>
          <p:cNvPr id="33" name="Text 31"/>
          <p:cNvSpPr txBox="1"/>
          <p:nvPr/>
        </p:nvSpPr>
        <p:spPr>
          <a:xfrm>
            <a:off x="5896051" y="3966571"/>
            <a:ext cx="1828800" cy="502920"/>
          </a:xfrm>
          <a:prstGeom prst="rect">
            <a:avLst/>
          </a:prstGeom>
          <a:noFill/>
          <a:ln/>
        </p:spPr>
        <p:txBody>
          <a:bodyPr wrap="square" lIns="0" tIns="0" rIns="0" bIns="0" rtlCol="0" anchor="t"/>
          <a:lstStyle/>
          <a:p>
            <a:pPr algn="l" indent="0" marL="0">
              <a:buNone/>
            </a:pPr>
            <a:r>
              <a:rPr lang="en-US" sz="1600" b="1" dirty="0">
                <a:solidFill>
                  <a:srgbClr val="1A1D21"/>
                </a:solidFill>
                <a:latin typeface="Arial" pitchFamily="34" charset="0"/>
                <a:ea typeface="Arial" pitchFamily="34" charset="-122"/>
                <a:cs typeface="Arial" pitchFamily="34" charset="-120"/>
              </a:rPr>
              <a:t>Bds$</a:t>
            </a:r>
            <a:endParaRPr lang="en-US" sz="1600" dirty="0"/>
          </a:p>
          <a:p>
            <a:pPr algn="l" indent="0" marL="0">
              <a:buNone/>
            </a:pPr>
            <a:r>
              <a:rPr lang="en-US" sz="1100" dirty="0">
                <a:solidFill>
                  <a:srgbClr val="6B6F76"/>
                </a:solidFill>
                <a:latin typeface="Arial" pitchFamily="34" charset="0"/>
                <a:ea typeface="Arial" pitchFamily="34" charset="-122"/>
                <a:cs typeface="Arial" pitchFamily="34" charset="-120"/>
              </a:rPr>
              <a:t>Barbados</a:t>
            </a:r>
            <a:endParaRPr lang="en-US" sz="1600" dirty="0"/>
          </a:p>
        </p:txBody>
      </p:sp>
      <p:sp>
        <p:nvSpPr>
          <p:cNvPr id="34" name="Shape 32"/>
          <p:cNvSpPr/>
          <p:nvPr/>
        </p:nvSpPr>
        <p:spPr>
          <a:xfrm>
            <a:off x="4908499" y="4595823"/>
            <a:ext cx="310896" cy="310896"/>
          </a:xfrm>
          <a:prstGeom prst="ellipse">
            <a:avLst/>
          </a:prstGeom>
          <a:solidFill>
            <a:srgbClr val="C2410C">
              <a:alpha val="18000"/>
            </a:srgbClr>
          </a:solidFill>
          <a:ln w="12700">
            <a:solidFill>
              <a:srgbClr val="C2410C">
                <a:alpha val="50000"/>
              </a:srgbClr>
            </a:solidFill>
            <a:prstDash val="solid"/>
          </a:ln>
        </p:spPr>
      </p:sp>
      <p:sp>
        <p:nvSpPr>
          <p:cNvPr id="35" name="Shape 33"/>
          <p:cNvSpPr/>
          <p:nvPr/>
        </p:nvSpPr>
        <p:spPr>
          <a:xfrm>
            <a:off x="4990795" y="4678119"/>
            <a:ext cx="146304" cy="146304"/>
          </a:xfrm>
          <a:prstGeom prst="ellipse">
            <a:avLst/>
          </a:prstGeom>
          <a:solidFill>
            <a:srgbClr val="C2410C"/>
          </a:solidFill>
          <a:ln w="12700">
            <a:solidFill>
              <a:srgbClr val="C2410C"/>
            </a:solidFill>
            <a:prstDash val="solid"/>
          </a:ln>
        </p:spPr>
      </p:sp>
      <p:sp>
        <p:nvSpPr>
          <p:cNvPr id="36" name="Text 34"/>
          <p:cNvSpPr txBox="1"/>
          <p:nvPr/>
        </p:nvSpPr>
        <p:spPr>
          <a:xfrm>
            <a:off x="5319979" y="4550103"/>
            <a:ext cx="1828800" cy="502920"/>
          </a:xfrm>
          <a:prstGeom prst="rect">
            <a:avLst/>
          </a:prstGeom>
          <a:noFill/>
          <a:ln/>
        </p:spPr>
        <p:txBody>
          <a:bodyPr wrap="square" lIns="0" tIns="0" rIns="0" bIns="0" rtlCol="0" anchor="t"/>
          <a:lstStyle/>
          <a:p>
            <a:pPr algn="l" indent="0" marL="0">
              <a:buNone/>
            </a:pPr>
            <a:r>
              <a:rPr lang="en-US" sz="1600" b="1" dirty="0">
                <a:solidFill>
                  <a:srgbClr val="1A1D21"/>
                </a:solidFill>
                <a:latin typeface="Arial" pitchFamily="34" charset="0"/>
                <a:ea typeface="Arial" pitchFamily="34" charset="-122"/>
                <a:cs typeface="Arial" pitchFamily="34" charset="-120"/>
              </a:rPr>
              <a:t>TT$</a:t>
            </a:r>
            <a:endParaRPr lang="en-US" sz="1600" dirty="0"/>
          </a:p>
          <a:p>
            <a:pPr algn="l" indent="0" marL="0">
              <a:buNone/>
            </a:pPr>
            <a:r>
              <a:rPr lang="en-US" sz="1100" dirty="0">
                <a:solidFill>
                  <a:srgbClr val="6B6F76"/>
                </a:solidFill>
                <a:latin typeface="Arial" pitchFamily="34" charset="0"/>
                <a:ea typeface="Arial" pitchFamily="34" charset="-122"/>
                <a:cs typeface="Arial" pitchFamily="34" charset="-120"/>
              </a:rPr>
              <a:t>Trinidad &amp; Tobago</a:t>
            </a:r>
            <a:endParaRPr lang="en-US" sz="1600" dirty="0"/>
          </a:p>
        </p:txBody>
      </p:sp>
      <p:sp>
        <p:nvSpPr>
          <p:cNvPr id="37" name="Shape 35"/>
          <p:cNvSpPr/>
          <p:nvPr/>
        </p:nvSpPr>
        <p:spPr>
          <a:xfrm>
            <a:off x="4562856" y="5237707"/>
            <a:ext cx="310896" cy="310896"/>
          </a:xfrm>
          <a:prstGeom prst="ellipse">
            <a:avLst/>
          </a:prstGeom>
          <a:solidFill>
            <a:srgbClr val="C2410C">
              <a:alpha val="18000"/>
            </a:srgbClr>
          </a:solidFill>
          <a:ln w="12700">
            <a:solidFill>
              <a:srgbClr val="C2410C">
                <a:alpha val="50000"/>
              </a:srgbClr>
            </a:solidFill>
            <a:prstDash val="solid"/>
          </a:ln>
        </p:spPr>
      </p:sp>
      <p:sp>
        <p:nvSpPr>
          <p:cNvPr id="38" name="Shape 36"/>
          <p:cNvSpPr/>
          <p:nvPr/>
        </p:nvSpPr>
        <p:spPr>
          <a:xfrm>
            <a:off x="4645152" y="5320003"/>
            <a:ext cx="146304" cy="146304"/>
          </a:xfrm>
          <a:prstGeom prst="ellipse">
            <a:avLst/>
          </a:prstGeom>
          <a:solidFill>
            <a:srgbClr val="C2410C"/>
          </a:solidFill>
          <a:ln w="12700">
            <a:solidFill>
              <a:srgbClr val="C2410C"/>
            </a:solidFill>
            <a:prstDash val="solid"/>
          </a:ln>
        </p:spPr>
      </p:sp>
      <p:sp>
        <p:nvSpPr>
          <p:cNvPr id="39" name="Text 37"/>
          <p:cNvSpPr txBox="1"/>
          <p:nvPr/>
        </p:nvSpPr>
        <p:spPr>
          <a:xfrm>
            <a:off x="2633472" y="5191987"/>
            <a:ext cx="1828800" cy="502920"/>
          </a:xfrm>
          <a:prstGeom prst="rect">
            <a:avLst/>
          </a:prstGeom>
          <a:noFill/>
          <a:ln/>
        </p:spPr>
        <p:txBody>
          <a:bodyPr wrap="square" lIns="0" tIns="0" rIns="0" bIns="0" rtlCol="0" anchor="t"/>
          <a:lstStyle/>
          <a:p>
            <a:pPr algn="r" indent="0" marL="0">
              <a:buNone/>
            </a:pPr>
            <a:r>
              <a:rPr lang="en-US" sz="1600" b="1" dirty="0">
                <a:solidFill>
                  <a:srgbClr val="1A1D21"/>
                </a:solidFill>
                <a:latin typeface="Arial" pitchFamily="34" charset="0"/>
                <a:ea typeface="Arial" pitchFamily="34" charset="-122"/>
                <a:cs typeface="Arial" pitchFamily="34" charset="-120"/>
              </a:rPr>
              <a:t>G$</a:t>
            </a:r>
            <a:endParaRPr lang="en-US" sz="1600" dirty="0"/>
          </a:p>
          <a:p>
            <a:pPr algn="r" indent="0" marL="0">
              <a:buNone/>
            </a:pPr>
            <a:r>
              <a:rPr lang="en-US" sz="1100" dirty="0">
                <a:solidFill>
                  <a:srgbClr val="6B6F76"/>
                </a:solidFill>
                <a:latin typeface="Arial" pitchFamily="34" charset="0"/>
                <a:ea typeface="Arial" pitchFamily="34" charset="-122"/>
                <a:cs typeface="Arial" pitchFamily="34" charset="-120"/>
              </a:rPr>
              <a:t>Guyana</a:t>
            </a:r>
            <a:endParaRPr lang="en-US" sz="1600" dirty="0"/>
          </a:p>
        </p:txBody>
      </p:sp>
      <p:sp>
        <p:nvSpPr>
          <p:cNvPr id="40" name="Shape 38"/>
          <p:cNvSpPr/>
          <p:nvPr/>
        </p:nvSpPr>
        <p:spPr>
          <a:xfrm>
            <a:off x="5369357" y="5529473"/>
            <a:ext cx="310896" cy="310896"/>
          </a:xfrm>
          <a:prstGeom prst="ellipse">
            <a:avLst/>
          </a:prstGeom>
          <a:solidFill>
            <a:srgbClr val="C2410C">
              <a:alpha val="18000"/>
            </a:srgbClr>
          </a:solidFill>
          <a:ln w="12700">
            <a:solidFill>
              <a:srgbClr val="C2410C">
                <a:alpha val="50000"/>
              </a:srgbClr>
            </a:solidFill>
            <a:prstDash val="solid"/>
          </a:ln>
        </p:spPr>
      </p:sp>
      <p:sp>
        <p:nvSpPr>
          <p:cNvPr id="41" name="Shape 39"/>
          <p:cNvSpPr/>
          <p:nvPr/>
        </p:nvSpPr>
        <p:spPr>
          <a:xfrm>
            <a:off x="5451653" y="5611769"/>
            <a:ext cx="146304" cy="146304"/>
          </a:xfrm>
          <a:prstGeom prst="ellipse">
            <a:avLst/>
          </a:prstGeom>
          <a:solidFill>
            <a:srgbClr val="C2410C"/>
          </a:solidFill>
          <a:ln w="12700">
            <a:solidFill>
              <a:srgbClr val="C2410C"/>
            </a:solidFill>
            <a:prstDash val="solid"/>
          </a:ln>
        </p:spPr>
      </p:sp>
      <p:sp>
        <p:nvSpPr>
          <p:cNvPr id="42" name="Text 40"/>
          <p:cNvSpPr txBox="1"/>
          <p:nvPr/>
        </p:nvSpPr>
        <p:spPr>
          <a:xfrm>
            <a:off x="5780837" y="5483753"/>
            <a:ext cx="1828800" cy="502920"/>
          </a:xfrm>
          <a:prstGeom prst="rect">
            <a:avLst/>
          </a:prstGeom>
          <a:noFill/>
          <a:ln/>
        </p:spPr>
        <p:txBody>
          <a:bodyPr wrap="square" lIns="0" tIns="0" rIns="0" bIns="0" rtlCol="0" anchor="t"/>
          <a:lstStyle/>
          <a:p>
            <a:pPr algn="l" indent="0" marL="0">
              <a:buNone/>
            </a:pPr>
            <a:r>
              <a:rPr lang="en-US" sz="1600" b="1" dirty="0">
                <a:solidFill>
                  <a:srgbClr val="1A1D21"/>
                </a:solidFill>
                <a:latin typeface="Arial" pitchFamily="34" charset="0"/>
                <a:ea typeface="Arial" pitchFamily="34" charset="-122"/>
                <a:cs typeface="Arial" pitchFamily="34" charset="-120"/>
              </a:rPr>
              <a:t>SRD</a:t>
            </a:r>
            <a:endParaRPr lang="en-US" sz="1600" dirty="0"/>
          </a:p>
          <a:p>
            <a:pPr algn="l" indent="0" marL="0">
              <a:buNone/>
            </a:pPr>
            <a:r>
              <a:rPr lang="en-US" sz="1100" dirty="0">
                <a:solidFill>
                  <a:srgbClr val="6B6F76"/>
                </a:solidFill>
                <a:latin typeface="Arial" pitchFamily="34" charset="0"/>
                <a:ea typeface="Arial" pitchFamily="34" charset="-122"/>
                <a:cs typeface="Arial" pitchFamily="34" charset="-120"/>
              </a:rPr>
              <a:t>Suriname</a:t>
            </a:r>
            <a:endParaRPr lang="en-US" sz="1600" dirty="0"/>
          </a:p>
        </p:txBody>
      </p:sp>
      <p:sp>
        <p:nvSpPr>
          <p:cNvPr id="43" name="Shape 41"/>
          <p:cNvSpPr/>
          <p:nvPr/>
        </p:nvSpPr>
        <p:spPr>
          <a:xfrm>
            <a:off x="1960474" y="4611945"/>
            <a:ext cx="1828800" cy="512064"/>
          </a:xfrm>
          <a:prstGeom prst="roundRect">
            <a:avLst>
              <a:gd name="adj" fmla="val 25000"/>
            </a:avLst>
          </a:prstGeom>
          <a:solidFill>
            <a:srgbClr val="1A1D21"/>
          </a:solidFill>
          <a:ln w="12700">
            <a:solidFill>
              <a:srgbClr val="1A1D21"/>
            </a:solidFill>
            <a:prstDash val="solid"/>
          </a:ln>
        </p:spPr>
      </p:sp>
      <p:sp>
        <p:nvSpPr>
          <p:cNvPr id="44" name="Text 42"/>
          <p:cNvSpPr txBox="1"/>
          <p:nvPr/>
        </p:nvSpPr>
        <p:spPr>
          <a:xfrm>
            <a:off x="1960474" y="4611945"/>
            <a:ext cx="1828800"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USDC  ·  Sage</a:t>
            </a:r>
            <a:endParaRPr lang="en-US" sz="1400" dirty="0"/>
          </a:p>
        </p:txBody>
      </p:sp>
      <p:sp>
        <p:nvSpPr>
          <p:cNvPr id="45" name="Text 43"/>
          <p:cNvSpPr txBox="1"/>
          <p:nvPr/>
        </p:nvSpPr>
        <p:spPr>
          <a:xfrm>
            <a:off x="6949440" y="1691640"/>
            <a:ext cx="4572000" cy="365760"/>
          </a:xfrm>
          <a:prstGeom prst="rect">
            <a:avLst/>
          </a:prstGeom>
          <a:noFill/>
          <a:ln/>
        </p:spPr>
        <p:txBody>
          <a:bodyPr wrap="square" lIns="0" tIns="0" rIns="0" bIns="0" rtlCol="0" anchor="t"/>
          <a:lstStyle/>
          <a:p>
            <a:pPr indent="0" marL="0">
              <a:buNone/>
            </a:pPr>
            <a:r>
              <a:rPr lang="en-US" sz="1600" b="1" dirty="0">
                <a:solidFill>
                  <a:srgbClr val="1A1D21"/>
                </a:solidFill>
                <a:latin typeface="Arial" pitchFamily="34" charset="0"/>
                <a:ea typeface="Arial" pitchFamily="34" charset="-122"/>
                <a:cs typeface="Arial" pitchFamily="34" charset="-120"/>
              </a:rPr>
              <a:t>Cost of sending $200</a:t>
            </a:r>
            <a:endParaRPr lang="en-US" sz="1600" dirty="0"/>
          </a:p>
        </p:txBody>
      </p:sp>
      <p:sp>
        <p:nvSpPr>
          <p:cNvPr id="46" name="Text 44"/>
          <p:cNvSpPr txBox="1"/>
          <p:nvPr/>
        </p:nvSpPr>
        <p:spPr>
          <a:xfrm>
            <a:off x="6949440" y="2029968"/>
            <a:ext cx="4572000" cy="274320"/>
          </a:xfrm>
          <a:prstGeom prst="rect">
            <a:avLst/>
          </a:prstGeom>
          <a:noFill/>
          <a:ln/>
        </p:spPr>
        <p:txBody>
          <a:bodyPr wrap="square" lIns="0" tIns="0" rIns="0" bIns="0" rtlCol="0" anchor="t"/>
          <a:lstStyle/>
          <a:p>
            <a:pPr indent="0" marL="0">
              <a:buNone/>
            </a:pPr>
            <a:r>
              <a:rPr lang="en-US" sz="1100" dirty="0">
                <a:solidFill>
                  <a:srgbClr val="A4A7AD"/>
                </a:solidFill>
                <a:latin typeface="Arial" pitchFamily="34" charset="0"/>
                <a:ea typeface="Arial" pitchFamily="34" charset="-122"/>
                <a:cs typeface="Arial" pitchFamily="34" charset="-120"/>
              </a:rPr>
              <a:t>World Bank remittance prices, 2023</a:t>
            </a:r>
            <a:endParaRPr lang="en-US" sz="1100" dirty="0"/>
          </a:p>
        </p:txBody>
      </p:sp>
      <p:sp>
        <p:nvSpPr>
          <p:cNvPr id="47" name="Text 45"/>
          <p:cNvSpPr txBox="1"/>
          <p:nvPr/>
        </p:nvSpPr>
        <p:spPr>
          <a:xfrm>
            <a:off x="6949440" y="2514600"/>
            <a:ext cx="960120" cy="384048"/>
          </a:xfrm>
          <a:prstGeom prst="rect">
            <a:avLst/>
          </a:prstGeom>
          <a:noFill/>
          <a:ln/>
        </p:spPr>
        <p:txBody>
          <a:bodyPr wrap="square" lIns="0" tIns="0" rIns="0" bIns="0" rtlCol="0" anchor="ctr"/>
          <a:lstStyle/>
          <a:p>
            <a:pPr indent="0" marL="0">
              <a:buNone/>
            </a:pPr>
            <a:r>
              <a:rPr lang="en-US" sz="1500" dirty="0">
                <a:solidFill>
                  <a:srgbClr val="3D4148"/>
                </a:solidFill>
                <a:latin typeface="Arial" pitchFamily="34" charset="0"/>
                <a:ea typeface="Arial" pitchFamily="34" charset="-122"/>
                <a:cs typeface="Arial" pitchFamily="34" charset="-120"/>
              </a:rPr>
              <a:t>Jamaica</a:t>
            </a:r>
            <a:endParaRPr lang="en-US" sz="1500" dirty="0"/>
          </a:p>
        </p:txBody>
      </p:sp>
      <p:sp>
        <p:nvSpPr>
          <p:cNvPr id="48" name="Shape 46"/>
          <p:cNvSpPr/>
          <p:nvPr/>
        </p:nvSpPr>
        <p:spPr>
          <a:xfrm>
            <a:off x="7955280" y="2587752"/>
            <a:ext cx="2560320" cy="237744"/>
          </a:xfrm>
          <a:prstGeom prst="rect">
            <a:avLst/>
          </a:prstGeom>
          <a:solidFill>
            <a:srgbClr val="EFEDE7"/>
          </a:solidFill>
          <a:ln w="12700">
            <a:solidFill>
              <a:srgbClr val="EFEDE7"/>
            </a:solidFill>
            <a:prstDash val="solid"/>
          </a:ln>
        </p:spPr>
      </p:sp>
      <p:sp>
        <p:nvSpPr>
          <p:cNvPr id="49" name="Shape 47"/>
          <p:cNvSpPr/>
          <p:nvPr/>
        </p:nvSpPr>
        <p:spPr>
          <a:xfrm>
            <a:off x="7955280" y="2587752"/>
            <a:ext cx="1160549" cy="237744"/>
          </a:xfrm>
          <a:prstGeom prst="rect">
            <a:avLst/>
          </a:prstGeom>
          <a:solidFill>
            <a:srgbClr val="A4A7AD"/>
          </a:solidFill>
          <a:ln w="12700">
            <a:solidFill>
              <a:srgbClr val="A4A7AD"/>
            </a:solidFill>
            <a:prstDash val="solid"/>
          </a:ln>
        </p:spPr>
      </p:sp>
      <p:sp>
        <p:nvSpPr>
          <p:cNvPr id="50" name="Text 48"/>
          <p:cNvSpPr txBox="1"/>
          <p:nvPr/>
        </p:nvSpPr>
        <p:spPr>
          <a:xfrm>
            <a:off x="10607040" y="2514600"/>
            <a:ext cx="914400" cy="384048"/>
          </a:xfrm>
          <a:prstGeom prst="rect">
            <a:avLst/>
          </a:prstGeom>
          <a:noFill/>
          <a:ln/>
        </p:spPr>
        <p:txBody>
          <a:bodyPr wrap="square" lIns="0" tIns="0" rIns="0" bIns="0" rtlCol="0" anchor="ctr"/>
          <a:lstStyle/>
          <a:p>
            <a:pPr algn="r" indent="0" marL="0">
              <a:buNone/>
            </a:pPr>
            <a:r>
              <a:rPr lang="en-US" sz="1400" b="1" dirty="0">
                <a:solidFill>
                  <a:srgbClr val="1A1D21"/>
                </a:solidFill>
                <a:latin typeface="Arial" pitchFamily="34" charset="0"/>
                <a:ea typeface="Arial" pitchFamily="34" charset="-122"/>
                <a:cs typeface="Arial" pitchFamily="34" charset="-120"/>
              </a:rPr>
              <a:t>3.59%</a:t>
            </a:r>
            <a:endParaRPr lang="en-US" sz="1400" dirty="0"/>
          </a:p>
        </p:txBody>
      </p:sp>
      <p:sp>
        <p:nvSpPr>
          <p:cNvPr id="51" name="Text 49"/>
          <p:cNvSpPr txBox="1"/>
          <p:nvPr/>
        </p:nvSpPr>
        <p:spPr>
          <a:xfrm>
            <a:off x="6949440" y="3063240"/>
            <a:ext cx="960120" cy="384048"/>
          </a:xfrm>
          <a:prstGeom prst="rect">
            <a:avLst/>
          </a:prstGeom>
          <a:noFill/>
          <a:ln/>
        </p:spPr>
        <p:txBody>
          <a:bodyPr wrap="square" lIns="0" tIns="0" rIns="0" bIns="0" rtlCol="0" anchor="ctr"/>
          <a:lstStyle/>
          <a:p>
            <a:pPr indent="0" marL="0">
              <a:buNone/>
            </a:pPr>
            <a:r>
              <a:rPr lang="en-US" sz="1500" dirty="0">
                <a:solidFill>
                  <a:srgbClr val="3D4148"/>
                </a:solidFill>
                <a:latin typeface="Arial" pitchFamily="34" charset="0"/>
                <a:ea typeface="Arial" pitchFamily="34" charset="-122"/>
                <a:cs typeface="Arial" pitchFamily="34" charset="-120"/>
              </a:rPr>
              <a:t>Haiti</a:t>
            </a:r>
            <a:endParaRPr lang="en-US" sz="1500" dirty="0"/>
          </a:p>
        </p:txBody>
      </p:sp>
      <p:sp>
        <p:nvSpPr>
          <p:cNvPr id="52" name="Shape 50"/>
          <p:cNvSpPr/>
          <p:nvPr/>
        </p:nvSpPr>
        <p:spPr>
          <a:xfrm>
            <a:off x="7955280" y="3136392"/>
            <a:ext cx="2560320" cy="237744"/>
          </a:xfrm>
          <a:prstGeom prst="rect">
            <a:avLst/>
          </a:prstGeom>
          <a:solidFill>
            <a:srgbClr val="EFEDE7"/>
          </a:solidFill>
          <a:ln w="12700">
            <a:solidFill>
              <a:srgbClr val="EFEDE7"/>
            </a:solidFill>
            <a:prstDash val="solid"/>
          </a:ln>
        </p:spPr>
      </p:sp>
      <p:sp>
        <p:nvSpPr>
          <p:cNvPr id="53" name="Shape 51"/>
          <p:cNvSpPr/>
          <p:nvPr/>
        </p:nvSpPr>
        <p:spPr>
          <a:xfrm>
            <a:off x="7955280" y="3136392"/>
            <a:ext cx="1519382" cy="237744"/>
          </a:xfrm>
          <a:prstGeom prst="rect">
            <a:avLst/>
          </a:prstGeom>
          <a:solidFill>
            <a:srgbClr val="A4A7AD"/>
          </a:solidFill>
          <a:ln w="12700">
            <a:solidFill>
              <a:srgbClr val="A4A7AD"/>
            </a:solidFill>
            <a:prstDash val="solid"/>
          </a:ln>
        </p:spPr>
      </p:sp>
      <p:sp>
        <p:nvSpPr>
          <p:cNvPr id="54" name="Text 52"/>
          <p:cNvSpPr txBox="1"/>
          <p:nvPr/>
        </p:nvSpPr>
        <p:spPr>
          <a:xfrm>
            <a:off x="10607040" y="3063240"/>
            <a:ext cx="914400" cy="384048"/>
          </a:xfrm>
          <a:prstGeom prst="rect">
            <a:avLst/>
          </a:prstGeom>
          <a:noFill/>
          <a:ln/>
        </p:spPr>
        <p:txBody>
          <a:bodyPr wrap="square" lIns="0" tIns="0" rIns="0" bIns="0" rtlCol="0" anchor="ctr"/>
          <a:lstStyle/>
          <a:p>
            <a:pPr algn="r" indent="0" marL="0">
              <a:buNone/>
            </a:pPr>
            <a:r>
              <a:rPr lang="en-US" sz="1400" b="1" dirty="0">
                <a:solidFill>
                  <a:srgbClr val="1A1D21"/>
                </a:solidFill>
                <a:latin typeface="Arial" pitchFamily="34" charset="0"/>
                <a:ea typeface="Arial" pitchFamily="34" charset="-122"/>
                <a:cs typeface="Arial" pitchFamily="34" charset="-120"/>
              </a:rPr>
              <a:t>4.70%</a:t>
            </a:r>
            <a:endParaRPr lang="en-US" sz="1400" dirty="0"/>
          </a:p>
        </p:txBody>
      </p:sp>
      <p:sp>
        <p:nvSpPr>
          <p:cNvPr id="55" name="Text 53"/>
          <p:cNvSpPr txBox="1"/>
          <p:nvPr/>
        </p:nvSpPr>
        <p:spPr>
          <a:xfrm>
            <a:off x="6949440" y="3611880"/>
            <a:ext cx="960120" cy="384048"/>
          </a:xfrm>
          <a:prstGeom prst="rect">
            <a:avLst/>
          </a:prstGeom>
          <a:noFill/>
          <a:ln/>
        </p:spPr>
        <p:txBody>
          <a:bodyPr wrap="square" lIns="0" tIns="0" rIns="0" bIns="0" rtlCol="0" anchor="ctr"/>
          <a:lstStyle/>
          <a:p>
            <a:pPr indent="0" marL="0">
              <a:buNone/>
            </a:pPr>
            <a:r>
              <a:rPr lang="en-US" sz="1500" dirty="0">
                <a:solidFill>
                  <a:srgbClr val="3D4148"/>
                </a:solidFill>
                <a:latin typeface="Arial" pitchFamily="34" charset="0"/>
                <a:ea typeface="Arial" pitchFamily="34" charset="-122"/>
                <a:cs typeface="Arial" pitchFamily="34" charset="-120"/>
              </a:rPr>
              <a:t>Guyana</a:t>
            </a:r>
            <a:endParaRPr lang="en-US" sz="1500" dirty="0"/>
          </a:p>
        </p:txBody>
      </p:sp>
      <p:sp>
        <p:nvSpPr>
          <p:cNvPr id="56" name="Shape 54"/>
          <p:cNvSpPr/>
          <p:nvPr/>
        </p:nvSpPr>
        <p:spPr>
          <a:xfrm>
            <a:off x="7955280" y="3685032"/>
            <a:ext cx="2560320" cy="237744"/>
          </a:xfrm>
          <a:prstGeom prst="rect">
            <a:avLst/>
          </a:prstGeom>
          <a:solidFill>
            <a:srgbClr val="EFEDE7"/>
          </a:solidFill>
          <a:ln w="12700">
            <a:solidFill>
              <a:srgbClr val="EFEDE7"/>
            </a:solidFill>
            <a:prstDash val="solid"/>
          </a:ln>
        </p:spPr>
      </p:sp>
      <p:sp>
        <p:nvSpPr>
          <p:cNvPr id="57" name="Shape 55"/>
          <p:cNvSpPr/>
          <p:nvPr/>
        </p:nvSpPr>
        <p:spPr>
          <a:xfrm>
            <a:off x="7955280" y="3685032"/>
            <a:ext cx="2560320" cy="237744"/>
          </a:xfrm>
          <a:prstGeom prst="rect">
            <a:avLst/>
          </a:prstGeom>
          <a:solidFill>
            <a:srgbClr val="A4A7AD"/>
          </a:solidFill>
          <a:ln w="12700">
            <a:solidFill>
              <a:srgbClr val="A4A7AD"/>
            </a:solidFill>
            <a:prstDash val="solid"/>
          </a:ln>
        </p:spPr>
      </p:sp>
      <p:sp>
        <p:nvSpPr>
          <p:cNvPr id="58" name="Text 56"/>
          <p:cNvSpPr txBox="1"/>
          <p:nvPr/>
        </p:nvSpPr>
        <p:spPr>
          <a:xfrm>
            <a:off x="10607040" y="3611880"/>
            <a:ext cx="914400" cy="384048"/>
          </a:xfrm>
          <a:prstGeom prst="rect">
            <a:avLst/>
          </a:prstGeom>
          <a:noFill/>
          <a:ln/>
        </p:spPr>
        <p:txBody>
          <a:bodyPr wrap="square" lIns="0" tIns="0" rIns="0" bIns="0" rtlCol="0" anchor="ctr"/>
          <a:lstStyle/>
          <a:p>
            <a:pPr algn="r" indent="0" marL="0">
              <a:buNone/>
            </a:pPr>
            <a:r>
              <a:rPr lang="en-US" sz="1400" b="1" dirty="0">
                <a:solidFill>
                  <a:srgbClr val="1A1D21"/>
                </a:solidFill>
                <a:latin typeface="Arial" pitchFamily="34" charset="0"/>
                <a:ea typeface="Arial" pitchFamily="34" charset="-122"/>
                <a:cs typeface="Arial" pitchFamily="34" charset="-120"/>
              </a:rPr>
              <a:t>7.92%</a:t>
            </a:r>
            <a:endParaRPr lang="en-US" sz="1400" dirty="0"/>
          </a:p>
        </p:txBody>
      </p:sp>
      <p:sp>
        <p:nvSpPr>
          <p:cNvPr id="59" name="Text 57"/>
          <p:cNvSpPr txBox="1"/>
          <p:nvPr/>
        </p:nvSpPr>
        <p:spPr>
          <a:xfrm>
            <a:off x="6949440" y="4160520"/>
            <a:ext cx="960120" cy="384048"/>
          </a:xfrm>
          <a:prstGeom prst="rect">
            <a:avLst/>
          </a:prstGeom>
          <a:noFill/>
          <a:ln/>
        </p:spPr>
        <p:txBody>
          <a:bodyPr wrap="square" lIns="0" tIns="0" rIns="0" bIns="0" rtlCol="0" anchor="ctr"/>
          <a:lstStyle/>
          <a:p>
            <a:pPr indent="0" marL="0">
              <a:buNone/>
            </a:pPr>
            <a:r>
              <a:rPr lang="en-US" sz="1500" b="1" dirty="0">
                <a:solidFill>
                  <a:srgbClr val="C2410C"/>
                </a:solidFill>
                <a:latin typeface="Arial" pitchFamily="34" charset="0"/>
                <a:ea typeface="Arial" pitchFamily="34" charset="-122"/>
                <a:cs typeface="Arial" pitchFamily="34" charset="-120"/>
              </a:rPr>
              <a:t>Sage</a:t>
            </a:r>
            <a:endParaRPr lang="en-US" sz="1500" dirty="0"/>
          </a:p>
        </p:txBody>
      </p:sp>
      <p:sp>
        <p:nvSpPr>
          <p:cNvPr id="60" name="Shape 58"/>
          <p:cNvSpPr/>
          <p:nvPr/>
        </p:nvSpPr>
        <p:spPr>
          <a:xfrm>
            <a:off x="7955280" y="4233672"/>
            <a:ext cx="2560320" cy="237744"/>
          </a:xfrm>
          <a:prstGeom prst="rect">
            <a:avLst/>
          </a:prstGeom>
          <a:solidFill>
            <a:srgbClr val="EFEDE7"/>
          </a:solidFill>
          <a:ln w="12700">
            <a:solidFill>
              <a:srgbClr val="EFEDE7"/>
            </a:solidFill>
            <a:prstDash val="solid"/>
          </a:ln>
        </p:spPr>
      </p:sp>
      <p:sp>
        <p:nvSpPr>
          <p:cNvPr id="61" name="Shape 59"/>
          <p:cNvSpPr/>
          <p:nvPr/>
        </p:nvSpPr>
        <p:spPr>
          <a:xfrm>
            <a:off x="7955280" y="4233672"/>
            <a:ext cx="54864" cy="237744"/>
          </a:xfrm>
          <a:prstGeom prst="rect">
            <a:avLst/>
          </a:prstGeom>
          <a:solidFill>
            <a:srgbClr val="C2410C"/>
          </a:solidFill>
          <a:ln w="12700">
            <a:solidFill>
              <a:srgbClr val="C2410C"/>
            </a:solidFill>
            <a:prstDash val="solid"/>
          </a:ln>
        </p:spPr>
      </p:sp>
      <p:sp>
        <p:nvSpPr>
          <p:cNvPr id="62" name="Text 60"/>
          <p:cNvSpPr txBox="1"/>
          <p:nvPr/>
        </p:nvSpPr>
        <p:spPr>
          <a:xfrm>
            <a:off x="10607040" y="4160520"/>
            <a:ext cx="914400" cy="384048"/>
          </a:xfrm>
          <a:prstGeom prst="rect">
            <a:avLst/>
          </a:prstGeom>
          <a:noFill/>
          <a:ln/>
        </p:spPr>
        <p:txBody>
          <a:bodyPr wrap="square" lIns="0" tIns="0" rIns="0" bIns="0" rtlCol="0" anchor="ctr"/>
          <a:lstStyle/>
          <a:p>
            <a:pPr algn="r" indent="0" marL="0">
              <a:buNone/>
            </a:pPr>
            <a:r>
              <a:rPr lang="en-US" sz="1400" b="1" dirty="0">
                <a:solidFill>
                  <a:srgbClr val="C2410C"/>
                </a:solidFill>
                <a:latin typeface="Arial" pitchFamily="34" charset="0"/>
                <a:ea typeface="Arial" pitchFamily="34" charset="-122"/>
                <a:cs typeface="Arial" pitchFamily="34" charset="-120"/>
              </a:rPr>
              <a:t>$0.10 flat</a:t>
            </a:r>
            <a:endParaRPr lang="en-US" sz="1400" dirty="0"/>
          </a:p>
        </p:txBody>
      </p:sp>
      <p:sp>
        <p:nvSpPr>
          <p:cNvPr id="63" name="Text 61"/>
          <p:cNvSpPr txBox="1"/>
          <p:nvPr/>
        </p:nvSpPr>
        <p:spPr>
          <a:xfrm>
            <a:off x="6812280" y="4937760"/>
            <a:ext cx="4709160" cy="685800"/>
          </a:xfrm>
          <a:prstGeom prst="rect">
            <a:avLst/>
          </a:prstGeom>
          <a:noFill/>
          <a:ln/>
        </p:spPr>
        <p:txBody>
          <a:bodyPr wrap="square" lIns="0" tIns="0" rIns="0" bIns="0" rtlCol="0" anchor="t"/>
          <a:lstStyle/>
          <a:p>
            <a:pPr indent="0" marL="0">
              <a:buNone/>
            </a:pPr>
            <a:r>
              <a:rPr lang="en-US" sz="1800" b="1" dirty="0">
                <a:solidFill>
                  <a:srgbClr val="1A1D21"/>
                </a:solidFill>
                <a:latin typeface="Arial" pitchFamily="34" charset="0"/>
                <a:ea typeface="Arial" pitchFamily="34" charset="-122"/>
                <a:cs typeface="Arial" pitchFamily="34" charset="-120"/>
              </a:rPr>
              <a:t>A flat $0.10 per payment is Sage's fee. The person paid keeps 100%.</a:t>
            </a:r>
            <a:endParaRPr lang="en-US" sz="1800" dirty="0"/>
          </a:p>
        </p:txBody>
      </p:sp>
      <p:sp>
        <p:nvSpPr>
          <p:cNvPr id="64" name="Text 62"/>
          <p:cNvSpPr txBox="1"/>
          <p:nvPr/>
        </p:nvSpPr>
        <p:spPr>
          <a:xfrm>
            <a:off x="6812280" y="5623560"/>
            <a:ext cx="4709160" cy="457200"/>
          </a:xfrm>
          <a:prstGeom prst="rect">
            <a:avLst/>
          </a:prstGeom>
          <a:noFill/>
          <a:ln/>
        </p:spPr>
        <p:txBody>
          <a:bodyPr wrap="square" lIns="0" tIns="0" rIns="0" bIns="0" rtlCol="0" anchor="t"/>
          <a:lstStyle/>
          <a:p>
            <a:pPr indent="0" marL="0">
              <a:buNone/>
            </a:pPr>
            <a:r>
              <a:rPr lang="en-US" sz="1300" dirty="0">
                <a:solidFill>
                  <a:srgbClr val="6B6F76"/>
                </a:solidFill>
                <a:latin typeface="Arial" pitchFamily="34" charset="0"/>
                <a:ea typeface="Arial" pitchFamily="34" charset="-122"/>
                <a:cs typeface="Arial" pitchFamily="34" charset="-120"/>
              </a:rPr>
              <a:t>J$, TT$, EC$, Bds$ and six more: the work is priced in the money people think in.</a:t>
            </a:r>
            <a:endParaRPr lang="en-US" sz="13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685800" y="548640"/>
            <a:ext cx="3566160" cy="457200"/>
          </a:xfrm>
          <a:prstGeom prst="roundRect">
            <a:avLst>
              <a:gd name="adj" fmla="val 50000"/>
            </a:avLst>
          </a:prstGeom>
          <a:solidFill>
            <a:srgbClr val="FBFBF9"/>
          </a:solidFill>
          <a:ln w="12700">
            <a:solidFill>
              <a:srgbClr val="1A1D21"/>
            </a:solidFill>
            <a:prstDash val="dash"/>
          </a:ln>
        </p:spPr>
      </p:sp>
      <p:sp>
        <p:nvSpPr>
          <p:cNvPr id="3" name="Text 1"/>
          <p:cNvSpPr txBox="1"/>
          <p:nvPr/>
        </p:nvSpPr>
        <p:spPr>
          <a:xfrm>
            <a:off x="685800" y="548640"/>
            <a:ext cx="3566160" cy="457200"/>
          </a:xfrm>
          <a:prstGeom prst="rect">
            <a:avLst/>
          </a:prstGeom>
          <a:noFill/>
          <a:ln/>
        </p:spPr>
        <p:txBody>
          <a:bodyPr wrap="square" lIns="0" tIns="0" rIns="0" bIns="0" rtlCol="0" anchor="ctr"/>
          <a:lstStyle/>
          <a:p>
            <a:pPr algn="ctr" indent="0" marL="0">
              <a:buNone/>
            </a:pPr>
            <a:r>
              <a:rPr lang="en-US" sz="1300" b="1" spc="300" kern="0" dirty="0">
                <a:solidFill>
                  <a:srgbClr val="1A1D21"/>
                </a:solidFill>
                <a:latin typeface="Arial" pitchFamily="34" charset="0"/>
                <a:ea typeface="Arial" pitchFamily="34" charset="-122"/>
                <a:cs typeface="Arial" pitchFamily="34" charset="-120"/>
              </a:rPr>
              <a:t>NEXT  ·  WHERE THIS GOES</a:t>
            </a:r>
            <a:endParaRPr lang="en-US" sz="1300" dirty="0"/>
          </a:p>
        </p:txBody>
      </p:sp>
      <p:sp>
        <p:nvSpPr>
          <p:cNvPr id="4" name="Text 2"/>
          <p:cNvSpPr txBox="1"/>
          <p:nvPr/>
        </p:nvSpPr>
        <p:spPr>
          <a:xfrm>
            <a:off x="685800" y="1234440"/>
            <a:ext cx="10789920" cy="822960"/>
          </a:xfrm>
          <a:prstGeom prst="rect">
            <a:avLst/>
          </a:prstGeom>
          <a:noFill/>
          <a:ln/>
        </p:spPr>
        <p:txBody>
          <a:bodyPr wrap="square" lIns="0" tIns="0" rIns="0" bIns="0" rtlCol="0" anchor="t"/>
          <a:lstStyle/>
          <a:p>
            <a:pPr indent="0" marL="0">
              <a:buNone/>
            </a:pPr>
            <a:r>
              <a:rPr lang="en-US" sz="3800" b="1" dirty="0">
                <a:solidFill>
                  <a:srgbClr val="1A1D21"/>
                </a:solidFill>
                <a:latin typeface="Arial" pitchFamily="34" charset="0"/>
                <a:ea typeface="Arial" pitchFamily="34" charset="-122"/>
                <a:cs typeface="Arial" pitchFamily="34" charset="-120"/>
              </a:rPr>
              <a:t>An AI finance worker for every small business</a:t>
            </a:r>
            <a:endParaRPr lang="en-US" sz="3800" dirty="0"/>
          </a:p>
        </p:txBody>
      </p:sp>
      <p:sp>
        <p:nvSpPr>
          <p:cNvPr id="5" name="card"/>
          <p:cNvSpPr/>
          <p:nvPr/>
        </p:nvSpPr>
        <p:spPr>
          <a:xfrm>
            <a:off x="685800" y="2377440"/>
            <a:ext cx="3429000" cy="3520440"/>
          </a:xfrm>
          <a:prstGeom prst="roundRect">
            <a:avLst>
              <a:gd name="adj" fmla="val 3733"/>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sp>
        <p:nvSpPr>
          <p:cNvPr id="6" name="Text 4"/>
          <p:cNvSpPr txBox="1"/>
          <p:nvPr/>
        </p:nvSpPr>
        <p:spPr>
          <a:xfrm>
            <a:off x="1005840" y="2651760"/>
            <a:ext cx="2834640" cy="320040"/>
          </a:xfrm>
          <a:prstGeom prst="rect">
            <a:avLst/>
          </a:prstGeom>
          <a:noFill/>
          <a:ln/>
        </p:spPr>
        <p:txBody>
          <a:bodyPr wrap="square" lIns="0" tIns="0" rIns="0" bIns="0" rtlCol="0" anchor="t"/>
          <a:lstStyle/>
          <a:p>
            <a:pPr indent="0" marL="0">
              <a:buNone/>
            </a:pPr>
            <a:r>
              <a:rPr lang="en-US" sz="1200" b="1" spc="200" kern="0" dirty="0">
                <a:solidFill>
                  <a:srgbClr val="C2410C"/>
                </a:solidFill>
                <a:latin typeface="Arial" pitchFamily="34" charset="0"/>
                <a:ea typeface="Arial" pitchFamily="34" charset="-122"/>
                <a:cs typeface="Arial" pitchFamily="34" charset="-120"/>
              </a:rPr>
              <a:t>BUILT · PILOTS NEXT</a:t>
            </a:r>
            <a:endParaRPr lang="en-US" sz="1200" dirty="0"/>
          </a:p>
        </p:txBody>
      </p:sp>
      <p:sp>
        <p:nvSpPr>
          <p:cNvPr id="7" name="Text 5"/>
          <p:cNvSpPr txBox="1"/>
          <p:nvPr/>
        </p:nvSpPr>
        <p:spPr>
          <a:xfrm>
            <a:off x="1005840" y="3063240"/>
            <a:ext cx="2834640" cy="868680"/>
          </a:xfrm>
          <a:prstGeom prst="rect">
            <a:avLst/>
          </a:prstGeom>
          <a:noFill/>
          <a:ln/>
        </p:spPr>
        <p:txBody>
          <a:bodyPr wrap="square" lIns="0" tIns="0" rIns="0" bIns="0" rtlCol="0" anchor="t"/>
          <a:lstStyle/>
          <a:p>
            <a:pPr indent="0" marL="0">
              <a:buNone/>
            </a:pPr>
            <a:r>
              <a:rPr lang="en-US" sz="2300" b="1" dirty="0">
                <a:solidFill>
                  <a:srgbClr val="1A1D21"/>
                </a:solidFill>
                <a:latin typeface="Arial" pitchFamily="34" charset="0"/>
                <a:ea typeface="Arial" pitchFamily="34" charset="-122"/>
                <a:cs typeface="Arial" pitchFamily="34" charset="-120"/>
              </a:rPr>
              <a:t>Give it a goal and a budget</a:t>
            </a:r>
            <a:endParaRPr lang="en-US" sz="2300" dirty="0"/>
          </a:p>
        </p:txBody>
      </p:sp>
      <p:sp>
        <p:nvSpPr>
          <p:cNvPr id="8" name="Text 6"/>
          <p:cNvSpPr txBox="1"/>
          <p:nvPr/>
        </p:nvSpPr>
        <p:spPr>
          <a:xfrm>
            <a:off x="1005840" y="3977640"/>
            <a:ext cx="2834640" cy="1234440"/>
          </a:xfrm>
          <a:prstGeom prst="rect">
            <a:avLst/>
          </a:prstGeom>
          <a:noFill/>
          <a:ln/>
        </p:spPr>
        <p:txBody>
          <a:bodyPr wrap="square" lIns="0" tIns="0" rIns="0" bIns="0" rtlCol="0" anchor="t"/>
          <a:lstStyle/>
          <a:p>
            <a:pPr indent="0" marL="0">
              <a:buNone/>
            </a:pPr>
            <a:r>
              <a:rPr lang="en-US" sz="1500" dirty="0">
                <a:solidFill>
                  <a:srgbClr val="3D4148"/>
                </a:solidFill>
                <a:latin typeface="Arial" pitchFamily="34" charset="0"/>
                <a:ea typeface="Arial" pitchFamily="34" charset="-122"/>
                <a:cs typeface="Arial" pitchFamily="34" charset="-120"/>
              </a:rPr>
              <a:t>Sage decides what work to buy, says why before it spends, and you can veto any move.</a:t>
            </a:r>
            <a:endParaRPr lang="en-US" sz="1500" dirty="0"/>
          </a:p>
        </p:txBody>
      </p:sp>
      <p:sp>
        <p:nvSpPr>
          <p:cNvPr id="9" name="Text 7"/>
          <p:cNvSpPr txBox="1"/>
          <p:nvPr/>
        </p:nvSpPr>
        <p:spPr>
          <a:xfrm>
            <a:off x="1005840" y="5257800"/>
            <a:ext cx="2834640" cy="45720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Its limits are code it can't change.</a:t>
            </a:r>
            <a:endParaRPr lang="en-US" sz="1200" dirty="0"/>
          </a:p>
        </p:txBody>
      </p:sp>
      <p:sp>
        <p:nvSpPr>
          <p:cNvPr id="10" name="card"/>
          <p:cNvSpPr/>
          <p:nvPr/>
        </p:nvSpPr>
        <p:spPr>
          <a:xfrm>
            <a:off x="4389120" y="2377440"/>
            <a:ext cx="3429000" cy="3520440"/>
          </a:xfrm>
          <a:prstGeom prst="roundRect">
            <a:avLst>
              <a:gd name="adj" fmla="val 3733"/>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sp>
        <p:nvSpPr>
          <p:cNvPr id="11" name="Text 9"/>
          <p:cNvSpPr txBox="1"/>
          <p:nvPr/>
        </p:nvSpPr>
        <p:spPr>
          <a:xfrm>
            <a:off x="4709160" y="2651760"/>
            <a:ext cx="2834640" cy="320040"/>
          </a:xfrm>
          <a:prstGeom prst="rect">
            <a:avLst/>
          </a:prstGeom>
          <a:noFill/>
          <a:ln/>
        </p:spPr>
        <p:txBody>
          <a:bodyPr wrap="square" lIns="0" tIns="0" rIns="0" bIns="0" rtlCol="0" anchor="t"/>
          <a:lstStyle/>
          <a:p>
            <a:pPr indent="0" marL="0">
              <a:buNone/>
            </a:pPr>
            <a:r>
              <a:rPr lang="en-US" sz="1200" b="1" spc="200" kern="0" dirty="0">
                <a:solidFill>
                  <a:srgbClr val="C2410C"/>
                </a:solidFill>
                <a:latin typeface="Arial" pitchFamily="34" charset="0"/>
                <a:ea typeface="Arial" pitchFamily="34" charset="-122"/>
                <a:cs typeface="Arial" pitchFamily="34" charset="-120"/>
              </a:rPr>
              <a:t>NEXT</a:t>
            </a:r>
            <a:endParaRPr lang="en-US" sz="1200" dirty="0"/>
          </a:p>
        </p:txBody>
      </p:sp>
      <p:sp>
        <p:nvSpPr>
          <p:cNvPr id="12" name="Text 10"/>
          <p:cNvSpPr txBox="1"/>
          <p:nvPr/>
        </p:nvSpPr>
        <p:spPr>
          <a:xfrm>
            <a:off x="4709160" y="3063240"/>
            <a:ext cx="2834640" cy="868680"/>
          </a:xfrm>
          <a:prstGeom prst="rect">
            <a:avLst/>
          </a:prstGeom>
          <a:noFill/>
          <a:ln/>
        </p:spPr>
        <p:txBody>
          <a:bodyPr wrap="square" lIns="0" tIns="0" rIns="0" bIns="0" rtlCol="0" anchor="t"/>
          <a:lstStyle/>
          <a:p>
            <a:pPr indent="0" marL="0">
              <a:buNone/>
            </a:pPr>
            <a:r>
              <a:rPr lang="en-US" sz="2300" b="1" dirty="0">
                <a:solidFill>
                  <a:srgbClr val="1A1D21"/>
                </a:solidFill>
                <a:latin typeface="Arial" pitchFamily="34" charset="0"/>
                <a:ea typeface="Arial" pitchFamily="34" charset="-122"/>
                <a:cs typeface="Arial" pitchFamily="34" charset="-120"/>
              </a:rPr>
              <a:t>Pay on proof, keep the books</a:t>
            </a:r>
            <a:endParaRPr lang="en-US" sz="2300" dirty="0"/>
          </a:p>
        </p:txBody>
      </p:sp>
      <p:sp>
        <p:nvSpPr>
          <p:cNvPr id="13" name="Text 11"/>
          <p:cNvSpPr txBox="1"/>
          <p:nvPr/>
        </p:nvSpPr>
        <p:spPr>
          <a:xfrm>
            <a:off x="4709160" y="3977640"/>
            <a:ext cx="2834640" cy="1234440"/>
          </a:xfrm>
          <a:prstGeom prst="rect">
            <a:avLst/>
          </a:prstGeom>
          <a:noFill/>
          <a:ln/>
        </p:spPr>
        <p:txBody>
          <a:bodyPr wrap="square" lIns="0" tIns="0" rIns="0" bIns="0" rtlCol="0" anchor="t"/>
          <a:lstStyle/>
          <a:p>
            <a:pPr indent="0" marL="0">
              <a:buNone/>
            </a:pPr>
            <a:r>
              <a:rPr lang="en-US" sz="1500" dirty="0">
                <a:solidFill>
                  <a:srgbClr val="3D4148"/>
                </a:solidFill>
                <a:latin typeface="Arial" pitchFamily="34" charset="0"/>
                <a:ea typeface="Arial" pitchFamily="34" charset="-122"/>
                <a:cs typeface="Arial" pitchFamily="34" charset="-120"/>
              </a:rPr>
              <a:t>Suppliers and freelancers paid the moment the work is verified. Every job builds the business's credit.</a:t>
            </a:r>
            <a:endParaRPr lang="en-US" sz="1500" dirty="0"/>
          </a:p>
        </p:txBody>
      </p:sp>
      <p:sp>
        <p:nvSpPr>
          <p:cNvPr id="14" name="Text 12"/>
          <p:cNvSpPr txBox="1"/>
          <p:nvPr/>
        </p:nvSpPr>
        <p:spPr>
          <a:xfrm>
            <a:off x="4709160" y="5257800"/>
            <a:ext cx="2834640" cy="45720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Local cash-out through licensed partners.</a:t>
            </a:r>
            <a:endParaRPr lang="en-US" sz="1200" dirty="0"/>
          </a:p>
        </p:txBody>
      </p:sp>
      <p:sp>
        <p:nvSpPr>
          <p:cNvPr id="15" name="card"/>
          <p:cNvSpPr/>
          <p:nvPr/>
        </p:nvSpPr>
        <p:spPr>
          <a:xfrm>
            <a:off x="8092440" y="2377440"/>
            <a:ext cx="3429000" cy="3520440"/>
          </a:xfrm>
          <a:prstGeom prst="roundRect">
            <a:avLst>
              <a:gd name="adj" fmla="val 3733"/>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sp>
        <p:nvSpPr>
          <p:cNvPr id="16" name="Text 14"/>
          <p:cNvSpPr txBox="1"/>
          <p:nvPr/>
        </p:nvSpPr>
        <p:spPr>
          <a:xfrm>
            <a:off x="8412480" y="2651760"/>
            <a:ext cx="2834640" cy="320040"/>
          </a:xfrm>
          <a:prstGeom prst="rect">
            <a:avLst/>
          </a:prstGeom>
          <a:noFill/>
          <a:ln/>
        </p:spPr>
        <p:txBody>
          <a:bodyPr wrap="square" lIns="0" tIns="0" rIns="0" bIns="0" rtlCol="0" anchor="t"/>
          <a:lstStyle/>
          <a:p>
            <a:pPr indent="0" marL="0">
              <a:buNone/>
            </a:pPr>
            <a:r>
              <a:rPr lang="en-US" sz="1200" b="1" spc="200" kern="0" dirty="0">
                <a:solidFill>
                  <a:srgbClr val="C2410C"/>
                </a:solidFill>
                <a:latin typeface="Arial" pitchFamily="34" charset="0"/>
                <a:ea typeface="Arial" pitchFamily="34" charset="-122"/>
                <a:cs typeface="Arial" pitchFamily="34" charset="-120"/>
              </a:rPr>
              <a:t>NEXT</a:t>
            </a:r>
            <a:endParaRPr lang="en-US" sz="1200" dirty="0"/>
          </a:p>
        </p:txBody>
      </p:sp>
      <p:sp>
        <p:nvSpPr>
          <p:cNvPr id="17" name="Text 15"/>
          <p:cNvSpPr txBox="1"/>
          <p:nvPr/>
        </p:nvSpPr>
        <p:spPr>
          <a:xfrm>
            <a:off x="8412480" y="3063240"/>
            <a:ext cx="2834640" cy="868680"/>
          </a:xfrm>
          <a:prstGeom prst="rect">
            <a:avLst/>
          </a:prstGeom>
          <a:noFill/>
          <a:ln/>
        </p:spPr>
        <p:txBody>
          <a:bodyPr wrap="square" lIns="0" tIns="0" rIns="0" bIns="0" rtlCol="0" anchor="t"/>
          <a:lstStyle/>
          <a:p>
            <a:pPr indent="0" marL="0">
              <a:buNone/>
            </a:pPr>
            <a:r>
              <a:rPr lang="en-US" sz="2300" b="1" dirty="0">
                <a:solidFill>
                  <a:srgbClr val="1A1D21"/>
                </a:solidFill>
                <a:latin typeface="Arial" pitchFamily="34" charset="0"/>
                <a:ea typeface="Arial" pitchFamily="34" charset="-122"/>
                <a:cs typeface="Arial" pitchFamily="34" charset="-120"/>
              </a:rPr>
              <a:t>Recovery, paid in minutes</a:t>
            </a:r>
            <a:endParaRPr lang="en-US" sz="2300" dirty="0"/>
          </a:p>
        </p:txBody>
      </p:sp>
      <p:sp>
        <p:nvSpPr>
          <p:cNvPr id="18" name="Text 16"/>
          <p:cNvSpPr txBox="1"/>
          <p:nvPr/>
        </p:nvSpPr>
        <p:spPr>
          <a:xfrm>
            <a:off x="8412480" y="3977640"/>
            <a:ext cx="2834640" cy="1234440"/>
          </a:xfrm>
          <a:prstGeom prst="rect">
            <a:avLst/>
          </a:prstGeom>
          <a:noFill/>
          <a:ln/>
        </p:spPr>
        <p:txBody>
          <a:bodyPr wrap="square" lIns="0" tIns="0" rIns="0" bIns="0" rtlCol="0" anchor="t"/>
          <a:lstStyle/>
          <a:p>
            <a:pPr indent="0" marL="0">
              <a:buNone/>
            </a:pPr>
            <a:r>
              <a:rPr lang="en-US" sz="1500" dirty="0">
                <a:solidFill>
                  <a:srgbClr val="3D4148"/>
                </a:solidFill>
                <a:latin typeface="Arial" pitchFamily="34" charset="0"/>
                <a:ea typeface="Arial" pitchFamily="34" charset="-122"/>
                <a:cs typeface="Arial" pitchFamily="34" charset="-120"/>
              </a:rPr>
              <a:t>After a hurricane, a programme pays a thousand people for verified clean-up the same day, not in weeks.</a:t>
            </a:r>
            <a:endParaRPr lang="en-US" sz="1500" dirty="0"/>
          </a:p>
        </p:txBody>
      </p:sp>
      <p:sp>
        <p:nvSpPr>
          <p:cNvPr id="19" name="Text 17"/>
          <p:cNvSpPr txBox="1"/>
          <p:nvPr/>
        </p:nvSpPr>
        <p:spPr>
          <a:xfrm>
            <a:off x="8412480" y="5257800"/>
            <a:ext cx="2834640" cy="457200"/>
          </a:xfrm>
          <a:prstGeom prst="rect">
            <a:avLst/>
          </a:prstGeom>
          <a:noFill/>
          <a:ln/>
        </p:spPr>
        <p:txBody>
          <a:bodyPr wrap="square" lIns="0" tIns="0" rIns="0" bIns="0" rtlCol="0" anchor="t"/>
          <a:lstStyle/>
          <a:p>
            <a:pPr indent="0" marL="0">
              <a:buNone/>
            </a:pPr>
            <a:r>
              <a:rPr lang="en-US" sz="1200" dirty="0">
                <a:solidFill>
                  <a:srgbClr val="6B6F76"/>
                </a:solidFill>
                <a:latin typeface="Arial" pitchFamily="34" charset="0"/>
                <a:ea typeface="Arial" pitchFamily="34" charset="-122"/>
                <a:cs typeface="Arial" pitchFamily="34" charset="-120"/>
              </a:rPr>
              <a:t>Every payout auditable by anyone.</a:t>
            </a:r>
            <a:endParaRPr lang="en-US" sz="12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85800" y="548640"/>
            <a:ext cx="5486400" cy="320040"/>
          </a:xfrm>
          <a:prstGeom prst="rect">
            <a:avLst/>
          </a:prstGeom>
          <a:noFill/>
          <a:ln/>
        </p:spPr>
        <p:txBody>
          <a:bodyPr wrap="square" lIns="0" tIns="0" rIns="0" bIns="0" rtlCol="0" anchor="t"/>
          <a:lstStyle/>
          <a:p>
            <a:pPr indent="0" marL="0">
              <a:buNone/>
            </a:pPr>
            <a:r>
              <a:rPr lang="en-US" sz="1300" b="1" spc="300" kern="0" dirty="0">
                <a:solidFill>
                  <a:srgbClr val="6B6F76"/>
                </a:solidFill>
                <a:latin typeface="Arial" pitchFamily="34" charset="0"/>
                <a:ea typeface="Arial" pitchFamily="34" charset="-122"/>
                <a:cs typeface="Arial" pitchFamily="34" charset="-120"/>
              </a:rPr>
              <a:t>WHAT WE NEED NOW</a:t>
            </a:r>
            <a:endParaRPr lang="en-US" sz="1300" dirty="0"/>
          </a:p>
        </p:txBody>
      </p:sp>
      <p:sp>
        <p:nvSpPr>
          <p:cNvPr id="3" name="Text 1"/>
          <p:cNvSpPr txBox="1"/>
          <p:nvPr/>
        </p:nvSpPr>
        <p:spPr>
          <a:xfrm>
            <a:off x="685800" y="914400"/>
            <a:ext cx="7589520" cy="1463040"/>
          </a:xfrm>
          <a:prstGeom prst="rect">
            <a:avLst/>
          </a:prstGeom>
          <a:noFill/>
          <a:ln/>
        </p:spPr>
        <p:txBody>
          <a:bodyPr wrap="square" lIns="0" tIns="0" rIns="0" bIns="0" rtlCol="0" anchor="t"/>
          <a:lstStyle/>
          <a:p>
            <a:pPr indent="0" marL="0">
              <a:buNone/>
            </a:pPr>
            <a:r>
              <a:rPr lang="en-US" sz="3600" b="1" dirty="0">
                <a:solidFill>
                  <a:srgbClr val="1A1D21"/>
                </a:solidFill>
                <a:latin typeface="Arial" pitchFamily="34" charset="0"/>
                <a:ea typeface="Arial" pitchFamily="34" charset="-122"/>
                <a:cs typeface="Arial" pitchFamily="34" charset="-120"/>
              </a:rPr>
              <a:t>The engine is live. It needs the institutions it was built for</a:t>
            </a:r>
            <a:endParaRPr lang="en-US" sz="3600" dirty="0"/>
          </a:p>
        </p:txBody>
      </p:sp>
      <p:sp>
        <p:nvSpPr>
          <p:cNvPr id="4" name="Shape 2"/>
          <p:cNvSpPr/>
          <p:nvPr/>
        </p:nvSpPr>
        <p:spPr>
          <a:xfrm>
            <a:off x="685800" y="2743200"/>
            <a:ext cx="548640" cy="548640"/>
          </a:xfrm>
          <a:prstGeom prst="roundRect">
            <a:avLst>
              <a:gd name="adj" fmla="val 23333"/>
            </a:avLst>
          </a:prstGeom>
          <a:solidFill>
            <a:srgbClr val="FDF1EA"/>
          </a:solidFill>
          <a:ln w="12700">
            <a:solidFill>
              <a:srgbClr val="FDF1EA"/>
            </a:solidFill>
            <a:prstDash val="solid"/>
          </a:ln>
        </p:spPr>
      </p:sp>
      <p:sp>
        <p:nvSpPr>
          <p:cNvPr id="5" name="Text 3"/>
          <p:cNvSpPr txBox="1"/>
          <p:nvPr/>
        </p:nvSpPr>
        <p:spPr>
          <a:xfrm>
            <a:off x="685800" y="2743200"/>
            <a:ext cx="548640" cy="548640"/>
          </a:xfrm>
          <a:prstGeom prst="rect">
            <a:avLst/>
          </a:prstGeom>
          <a:noFill/>
          <a:ln/>
        </p:spPr>
        <p:txBody>
          <a:bodyPr wrap="square" lIns="0" tIns="0" rIns="0" bIns="0" rtlCol="0" anchor="ctr"/>
          <a:lstStyle/>
          <a:p>
            <a:pPr algn="ctr" indent="0" marL="0">
              <a:buNone/>
            </a:pPr>
            <a:r>
              <a:rPr lang="en-US" sz="1800" b="1" dirty="0">
                <a:solidFill>
                  <a:srgbClr val="C2410C"/>
                </a:solidFill>
                <a:latin typeface="Arial" pitchFamily="34" charset="0"/>
                <a:ea typeface="Arial" pitchFamily="34" charset="-122"/>
                <a:cs typeface="Arial" pitchFamily="34" charset="-120"/>
              </a:rPr>
              <a:t>1</a:t>
            </a:r>
            <a:endParaRPr lang="en-US" sz="1800" dirty="0"/>
          </a:p>
        </p:txBody>
      </p:sp>
      <p:sp>
        <p:nvSpPr>
          <p:cNvPr id="6" name="Text 4"/>
          <p:cNvSpPr txBox="1"/>
          <p:nvPr/>
        </p:nvSpPr>
        <p:spPr>
          <a:xfrm>
            <a:off x="1463040" y="2743200"/>
            <a:ext cx="6766560" cy="548640"/>
          </a:xfrm>
          <a:prstGeom prst="rect">
            <a:avLst/>
          </a:prstGeom>
          <a:noFill/>
          <a:ln/>
        </p:spPr>
        <p:txBody>
          <a:bodyPr wrap="square" lIns="0" tIns="0" rIns="0" bIns="0" rtlCol="0" anchor="ctr"/>
          <a:lstStyle/>
          <a:p>
            <a:pPr indent="0" marL="0">
              <a:buNone/>
            </a:pPr>
            <a:r>
              <a:rPr lang="en-US" sz="2200" dirty="0">
                <a:solidFill>
                  <a:srgbClr val="1A1D21"/>
                </a:solidFill>
                <a:latin typeface="Arial" pitchFamily="34" charset="0"/>
                <a:ea typeface="Arial" pitchFamily="34" charset="-122"/>
                <a:cs typeface="Arial" pitchFamily="34" charset="-120"/>
              </a:rPr>
              <a:t>An MSME programme that wants to pay on proof</a:t>
            </a:r>
            <a:endParaRPr lang="en-US" sz="2200" dirty="0"/>
          </a:p>
        </p:txBody>
      </p:sp>
      <p:sp>
        <p:nvSpPr>
          <p:cNvPr id="7" name="Shape 5"/>
          <p:cNvSpPr/>
          <p:nvPr/>
        </p:nvSpPr>
        <p:spPr>
          <a:xfrm>
            <a:off x="685800" y="3520440"/>
            <a:ext cx="548640" cy="548640"/>
          </a:xfrm>
          <a:prstGeom prst="roundRect">
            <a:avLst>
              <a:gd name="adj" fmla="val 23333"/>
            </a:avLst>
          </a:prstGeom>
          <a:solidFill>
            <a:srgbClr val="FDF1EA"/>
          </a:solidFill>
          <a:ln w="12700">
            <a:solidFill>
              <a:srgbClr val="FDF1EA"/>
            </a:solidFill>
            <a:prstDash val="solid"/>
          </a:ln>
        </p:spPr>
      </p:sp>
      <p:sp>
        <p:nvSpPr>
          <p:cNvPr id="8" name="Text 6"/>
          <p:cNvSpPr txBox="1"/>
          <p:nvPr/>
        </p:nvSpPr>
        <p:spPr>
          <a:xfrm>
            <a:off x="685800" y="3520440"/>
            <a:ext cx="548640" cy="548640"/>
          </a:xfrm>
          <a:prstGeom prst="rect">
            <a:avLst/>
          </a:prstGeom>
          <a:noFill/>
          <a:ln/>
        </p:spPr>
        <p:txBody>
          <a:bodyPr wrap="square" lIns="0" tIns="0" rIns="0" bIns="0" rtlCol="0" anchor="ctr"/>
          <a:lstStyle/>
          <a:p>
            <a:pPr algn="ctr" indent="0" marL="0">
              <a:buNone/>
            </a:pPr>
            <a:r>
              <a:rPr lang="en-US" sz="1800" b="1" dirty="0">
                <a:solidFill>
                  <a:srgbClr val="C2410C"/>
                </a:solidFill>
                <a:latin typeface="Arial" pitchFamily="34" charset="0"/>
                <a:ea typeface="Arial" pitchFamily="34" charset="-122"/>
                <a:cs typeface="Arial" pitchFamily="34" charset="-120"/>
              </a:rPr>
              <a:t>2</a:t>
            </a:r>
            <a:endParaRPr lang="en-US" sz="1800" dirty="0"/>
          </a:p>
        </p:txBody>
      </p:sp>
      <p:sp>
        <p:nvSpPr>
          <p:cNvPr id="9" name="Text 7"/>
          <p:cNvSpPr txBox="1"/>
          <p:nvPr/>
        </p:nvSpPr>
        <p:spPr>
          <a:xfrm>
            <a:off x="1463040" y="3520440"/>
            <a:ext cx="6766560" cy="548640"/>
          </a:xfrm>
          <a:prstGeom prst="rect">
            <a:avLst/>
          </a:prstGeom>
          <a:noFill/>
          <a:ln/>
        </p:spPr>
        <p:txBody>
          <a:bodyPr wrap="square" lIns="0" tIns="0" rIns="0" bIns="0" rtlCol="0" anchor="ctr"/>
          <a:lstStyle/>
          <a:p>
            <a:pPr indent="0" marL="0">
              <a:buNone/>
            </a:pPr>
            <a:r>
              <a:rPr lang="en-US" sz="2200" dirty="0">
                <a:solidFill>
                  <a:srgbClr val="1A1D21"/>
                </a:solidFill>
                <a:latin typeface="Arial" pitchFamily="34" charset="0"/>
                <a:ea typeface="Arial" pitchFamily="34" charset="-122"/>
                <a:cs typeface="Arial" pitchFamily="34" charset="-120"/>
              </a:rPr>
              <a:t>A cooperative paying members for delivered work</a:t>
            </a:r>
            <a:endParaRPr lang="en-US" sz="2200" dirty="0"/>
          </a:p>
        </p:txBody>
      </p:sp>
      <p:sp>
        <p:nvSpPr>
          <p:cNvPr id="10" name="Shape 8"/>
          <p:cNvSpPr/>
          <p:nvPr/>
        </p:nvSpPr>
        <p:spPr>
          <a:xfrm>
            <a:off x="685800" y="4297680"/>
            <a:ext cx="548640" cy="548640"/>
          </a:xfrm>
          <a:prstGeom prst="roundRect">
            <a:avLst>
              <a:gd name="adj" fmla="val 23333"/>
            </a:avLst>
          </a:prstGeom>
          <a:solidFill>
            <a:srgbClr val="FDF1EA"/>
          </a:solidFill>
          <a:ln w="12700">
            <a:solidFill>
              <a:srgbClr val="FDF1EA"/>
            </a:solidFill>
            <a:prstDash val="solid"/>
          </a:ln>
        </p:spPr>
      </p:sp>
      <p:sp>
        <p:nvSpPr>
          <p:cNvPr id="11" name="Text 9"/>
          <p:cNvSpPr txBox="1"/>
          <p:nvPr/>
        </p:nvSpPr>
        <p:spPr>
          <a:xfrm>
            <a:off x="685800" y="4297680"/>
            <a:ext cx="548640" cy="548640"/>
          </a:xfrm>
          <a:prstGeom prst="rect">
            <a:avLst/>
          </a:prstGeom>
          <a:noFill/>
          <a:ln/>
        </p:spPr>
        <p:txBody>
          <a:bodyPr wrap="square" lIns="0" tIns="0" rIns="0" bIns="0" rtlCol="0" anchor="ctr"/>
          <a:lstStyle/>
          <a:p>
            <a:pPr algn="ctr" indent="0" marL="0">
              <a:buNone/>
            </a:pPr>
            <a:r>
              <a:rPr lang="en-US" sz="1800" b="1" dirty="0">
                <a:solidFill>
                  <a:srgbClr val="C2410C"/>
                </a:solidFill>
                <a:latin typeface="Arial" pitchFamily="34" charset="0"/>
                <a:ea typeface="Arial" pitchFamily="34" charset="-122"/>
                <a:cs typeface="Arial" pitchFamily="34" charset="-120"/>
              </a:rPr>
              <a:t>3</a:t>
            </a:r>
            <a:endParaRPr lang="en-US" sz="1800" dirty="0"/>
          </a:p>
        </p:txBody>
      </p:sp>
      <p:sp>
        <p:nvSpPr>
          <p:cNvPr id="12" name="Text 10"/>
          <p:cNvSpPr txBox="1"/>
          <p:nvPr/>
        </p:nvSpPr>
        <p:spPr>
          <a:xfrm>
            <a:off x="1463040" y="4297680"/>
            <a:ext cx="6766560" cy="548640"/>
          </a:xfrm>
          <a:prstGeom prst="rect">
            <a:avLst/>
          </a:prstGeom>
          <a:noFill/>
          <a:ln/>
        </p:spPr>
        <p:txBody>
          <a:bodyPr wrap="square" lIns="0" tIns="0" rIns="0" bIns="0" rtlCol="0" anchor="ctr"/>
          <a:lstStyle/>
          <a:p>
            <a:pPr indent="0" marL="0">
              <a:buNone/>
            </a:pPr>
            <a:r>
              <a:rPr lang="en-US" sz="2200" dirty="0">
                <a:solidFill>
                  <a:srgbClr val="1A1D21"/>
                </a:solidFill>
                <a:latin typeface="Arial" pitchFamily="34" charset="0"/>
                <a:ea typeface="Arial" pitchFamily="34" charset="-122"/>
                <a:cs typeface="Arial" pitchFamily="34" charset="-120"/>
              </a:rPr>
              <a:t>A lender who'd price verified cash flow, not collateral</a:t>
            </a:r>
            <a:endParaRPr lang="en-US" sz="2200" dirty="0"/>
          </a:p>
        </p:txBody>
      </p:sp>
      <p:sp>
        <p:nvSpPr>
          <p:cNvPr id="13" name="Text 11"/>
          <p:cNvSpPr txBox="1"/>
          <p:nvPr/>
        </p:nvSpPr>
        <p:spPr>
          <a:xfrm>
            <a:off x="685800" y="5257800"/>
            <a:ext cx="7589520" cy="457200"/>
          </a:xfrm>
          <a:prstGeom prst="rect">
            <a:avLst/>
          </a:prstGeom>
          <a:noFill/>
          <a:ln/>
        </p:spPr>
        <p:txBody>
          <a:bodyPr wrap="square" lIns="0" tIns="0" rIns="0" bIns="0" rtlCol="0" anchor="t"/>
          <a:lstStyle/>
          <a:p>
            <a:pPr indent="0" marL="0">
              <a:buNone/>
            </a:pPr>
            <a:r>
              <a:rPr lang="en-US" sz="2000" b="1" dirty="0">
                <a:solidFill>
                  <a:srgbClr val="C2410C"/>
                </a:solidFill>
                <a:latin typeface="Arial" pitchFamily="34" charset="0"/>
                <a:ea typeface="Arial" pitchFamily="34" charset="-122"/>
                <a:cs typeface="Arial" pitchFamily="34" charset="-120"/>
              </a:rPr>
              <a:t>Twenty minutes with you is our next milestone.</a:t>
            </a:r>
            <a:endParaRPr lang="en-US" sz="2000" dirty="0"/>
          </a:p>
        </p:txBody>
      </p:sp>
      <p:sp>
        <p:nvSpPr>
          <p:cNvPr id="14" name="card"/>
          <p:cNvSpPr/>
          <p:nvPr/>
        </p:nvSpPr>
        <p:spPr>
          <a:xfrm>
            <a:off x="8732520" y="1097280"/>
            <a:ext cx="2788920" cy="3429000"/>
          </a:xfrm>
          <a:prstGeom prst="roundRect">
            <a:avLst>
              <a:gd name="adj" fmla="val 4590"/>
            </a:avLst>
          </a:prstGeom>
          <a:solidFill>
            <a:srgbClr val="FFFFFF"/>
          </a:solidFill>
          <a:ln w="12700">
            <a:solidFill>
              <a:srgbClr val="D9D6CE"/>
            </a:solidFill>
            <a:prstDash val="solid"/>
          </a:ln>
          <a:effectLst>
            <a:outerShdw sx="100000" sy="100000" kx="0" ky="0" algn="bl" rotWithShape="0" blurRad="152400" dist="50800" dir="5400000">
              <a:srgbClr val="1A1D21">
                <a:alpha val="18000"/>
              </a:srgbClr>
            </a:outerShdw>
          </a:effectLst>
        </p:spPr>
      </p:sp>
      <p:pic>
        <p:nvPicPr>
          <p:cNvPr id="15" name="Image 0" descr="QR code to sagepays.xyz/caribbean">    </p:cNvPr>
          <p:cNvPicPr>
            <a:picLocks noChangeAspect="1"/>
          </p:cNvPicPr>
          <p:nvPr/>
        </p:nvPicPr>
        <p:blipFill>
          <a:blip r:embed="rId1"/>
          <a:stretch>
            <a:fillRect/>
          </a:stretch>
        </p:blipFill>
        <p:spPr>
          <a:xfrm>
            <a:off x="9006840" y="1325880"/>
            <a:ext cx="2240280" cy="2240280"/>
          </a:xfrm>
          <a:prstGeom prst="rect">
            <a:avLst/>
          </a:prstGeom>
        </p:spPr>
      </p:pic>
      <p:sp>
        <p:nvSpPr>
          <p:cNvPr id="16" name="Text 13"/>
          <p:cNvSpPr txBox="1"/>
          <p:nvPr/>
        </p:nvSpPr>
        <p:spPr>
          <a:xfrm>
            <a:off x="8732520" y="3794760"/>
            <a:ext cx="2788920" cy="411480"/>
          </a:xfrm>
          <a:prstGeom prst="rect">
            <a:avLst/>
          </a:prstGeom>
          <a:noFill/>
          <a:ln/>
        </p:spPr>
        <p:txBody>
          <a:bodyPr wrap="square" lIns="0" tIns="0" rIns="0" bIns="0" rtlCol="0" anchor="t"/>
          <a:lstStyle/>
          <a:p>
            <a:pPr algn="ctr" indent="0" marL="0">
              <a:buNone/>
            </a:pPr>
            <a:r>
              <a:rPr lang="en-US" sz="1400" b="1" dirty="0">
                <a:solidFill>
                  <a:srgbClr val="1A1D21"/>
                </a:solidFill>
                <a:latin typeface="Arial" pitchFamily="34" charset="0"/>
                <a:ea typeface="Arial" pitchFamily="34" charset="-122"/>
                <a:cs typeface="Arial" pitchFamily="34" charset="-120"/>
              </a:rPr>
              <a:t>sagepays.xyz/caribbean</a:t>
            </a:r>
            <a:endParaRPr lang="en-US" sz="1400" dirty="0"/>
          </a:p>
        </p:txBody>
      </p:sp>
      <p:sp>
        <p:nvSpPr>
          <p:cNvPr id="17" name="Text 14"/>
          <p:cNvSpPr txBox="1"/>
          <p:nvPr/>
        </p:nvSpPr>
        <p:spPr>
          <a:xfrm>
            <a:off x="8732520" y="4114800"/>
            <a:ext cx="2788920" cy="320040"/>
          </a:xfrm>
          <a:prstGeom prst="rect">
            <a:avLst/>
          </a:prstGeom>
          <a:noFill/>
          <a:ln/>
        </p:spPr>
        <p:txBody>
          <a:bodyPr wrap="square" lIns="0" tIns="0" rIns="0" bIns="0" rtlCol="0" anchor="t"/>
          <a:lstStyle/>
          <a:p>
            <a:pPr algn="ctr" indent="0" marL="0">
              <a:buNone/>
            </a:pPr>
            <a:r>
              <a:rPr lang="en-US" sz="1200" dirty="0">
                <a:solidFill>
                  <a:srgbClr val="6B6F76"/>
                </a:solidFill>
                <a:latin typeface="Arial" pitchFamily="34" charset="0"/>
                <a:ea typeface="Arial" pitchFamily="34" charset="-122"/>
                <a:cs typeface="Arial" pitchFamily="34" charset="-120"/>
              </a:rPr>
              <a:t>Everything you saw today</a:t>
            </a:r>
            <a:endParaRPr lang="en-US" sz="1200" dirty="0"/>
          </a:p>
        </p:txBody>
      </p:sp>
      <p:sp>
        <p:nvSpPr>
          <p:cNvPr id="25" name="Slide Number Placeholder 0"/>
          <p:cNvSpPr>
            <a:spLocks noGrp="1"/>
          </p:cNvSpPr>
          <p:nvPr>
            <p:ph type="sldNum" sz="quarter" idx="4294967295"/>
          </p:nvPr>
        </p:nvSpPr>
        <p:spPr>
          <a:xfrm>
            <a:off x="10972800" y="6217920"/>
            <a:ext cx="54864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A4A7AD"/>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age mark"/>
          <p:cNvSpPr/>
          <p:nvPr/>
        </p:nvSpPr>
        <p:spPr>
          <a:xfrm>
            <a:off x="685800" y="1783080"/>
            <a:ext cx="1188720" cy="1188720"/>
          </a:xfrm>
          <a:prstGeom prst="roundRect">
            <a:avLst>
              <a:gd name="adj" fmla="val 22000"/>
            </a:avLst>
          </a:prstGeom>
          <a:solidFill>
            <a:srgbClr val="C2410C"/>
          </a:solidFill>
          <a:ln w="12700">
            <a:solidFill>
              <a:srgbClr val="C2410C"/>
            </a:solidFill>
            <a:prstDash val="solid"/>
          </a:ln>
        </p:spPr>
      </p:sp>
      <p:sp>
        <p:nvSpPr>
          <p:cNvPr id="3" name="Text 1"/>
          <p:cNvSpPr txBox="1"/>
          <p:nvPr/>
        </p:nvSpPr>
        <p:spPr>
          <a:xfrm>
            <a:off x="2194560" y="1554480"/>
            <a:ext cx="7315200" cy="1645920"/>
          </a:xfrm>
          <a:prstGeom prst="rect">
            <a:avLst/>
          </a:prstGeom>
          <a:noFill/>
          <a:ln/>
        </p:spPr>
        <p:txBody>
          <a:bodyPr wrap="square" lIns="0" tIns="0" rIns="0" bIns="0" rtlCol="0" anchor="ctr"/>
          <a:lstStyle/>
          <a:p>
            <a:pPr indent="0" marL="0">
              <a:buNone/>
            </a:pPr>
            <a:r>
              <a:rPr lang="en-US" sz="12000" b="1" dirty="0">
                <a:solidFill>
                  <a:srgbClr val="FFFFFF"/>
                </a:solidFill>
                <a:latin typeface="Arial" pitchFamily="34" charset="0"/>
                <a:ea typeface="Arial" pitchFamily="34" charset="-122"/>
                <a:cs typeface="Arial" pitchFamily="34" charset="-120"/>
              </a:rPr>
              <a:t>Sage</a:t>
            </a:r>
            <a:endParaRPr lang="en-US" sz="12000" dirty="0"/>
          </a:p>
        </p:txBody>
      </p:sp>
      <p:sp>
        <p:nvSpPr>
          <p:cNvPr id="4" name="Text 2"/>
          <p:cNvSpPr txBox="1"/>
          <p:nvPr/>
        </p:nvSpPr>
        <p:spPr>
          <a:xfrm>
            <a:off x="685800" y="3520440"/>
            <a:ext cx="10789920" cy="1280160"/>
          </a:xfrm>
          <a:prstGeom prst="rect">
            <a:avLst/>
          </a:prstGeom>
          <a:noFill/>
          <a:ln/>
        </p:spPr>
        <p:txBody>
          <a:bodyPr wrap="square" lIns="0" tIns="0" rIns="0" bIns="0" rtlCol="0" anchor="t"/>
          <a:lstStyle/>
          <a:p>
            <a:pPr indent="0" marL="0">
              <a:buNone/>
            </a:pPr>
            <a:r>
              <a:rPr lang="en-US" sz="3200" dirty="0">
                <a:solidFill>
                  <a:srgbClr val="E9E7E1"/>
                </a:solidFill>
                <a:latin typeface="Arial" pitchFamily="34" charset="0"/>
                <a:ea typeface="Arial" pitchFamily="34" charset="-122"/>
                <a:cs typeface="Arial" pitchFamily="34" charset="-120"/>
              </a:rPr>
              <a:t>Payments that verify themselves.</a:t>
            </a:r>
            <a:endParaRPr lang="en-US" sz="3200" dirty="0"/>
          </a:p>
          <a:p>
            <a:pPr indent="0" marL="0">
              <a:buNone/>
            </a:pPr>
            <a:r>
              <a:rPr lang="en-US" sz="3200" dirty="0">
                <a:solidFill>
                  <a:srgbClr val="E9E7E1"/>
                </a:solidFill>
                <a:latin typeface="Arial" pitchFamily="34" charset="0"/>
                <a:ea typeface="Arial" pitchFamily="34" charset="-122"/>
                <a:cs typeface="Arial" pitchFamily="34" charset="-120"/>
              </a:rPr>
              <a:t>Credit records that write themselves.</a:t>
            </a:r>
            <a:endParaRPr lang="en-US" sz="3200" dirty="0"/>
          </a:p>
        </p:txBody>
      </p:sp>
      <p:sp>
        <p:nvSpPr>
          <p:cNvPr id="5" name="Text 3"/>
          <p:cNvSpPr txBox="1"/>
          <p:nvPr/>
        </p:nvSpPr>
        <p:spPr>
          <a:xfrm>
            <a:off x="685800" y="5989320"/>
            <a:ext cx="10789920" cy="365760"/>
          </a:xfrm>
          <a:prstGeom prst="rect">
            <a:avLst/>
          </a:prstGeom>
          <a:noFill/>
          <a:ln/>
        </p:spPr>
        <p:txBody>
          <a:bodyPr wrap="square" lIns="0" tIns="0" rIns="0" bIns="0" rtlCol="0" anchor="t"/>
          <a:lstStyle/>
          <a:p>
            <a:pPr indent="0" marL="0">
              <a:buNone/>
            </a:pPr>
            <a:r>
              <a:rPr lang="en-US" sz="1500" dirty="0">
                <a:solidFill>
                  <a:srgbClr val="9CA0A8"/>
                </a:solidFill>
                <a:latin typeface="Arial" pitchFamily="34" charset="0"/>
                <a:ea typeface="Arial" pitchFamily="34" charset="-122"/>
                <a:cs typeface="Arial" pitchFamily="34" charset="-120"/>
              </a:rPr>
              <a:t>sagepays.xyz   ·   @sagepaysai on X   ·   Shariq Shaukat on LinkedIn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Sage · Future Caribbean Demo Day</dc:title>
  <dc:subject>PptxGenJS Presentation</dc:subject>
  <dc:creator>Shariq Shaukat</dc:creator>
  <cp:lastModifiedBy>Shariq Shaukat</cp:lastModifiedBy>
  <cp:revision>1</cp:revision>
  <dcterms:created xsi:type="dcterms:W3CDTF">2026-10-06T04:04:48Z</dcterms:created>
  <dcterms:modified xsi:type="dcterms:W3CDTF">2026-10-06T04:04:48Z</dcterms:modified>
</cp:coreProperties>
</file>