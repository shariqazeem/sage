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565b24-7cf7-0120-b693-aed180c791e5}">
          <p14:sldIdLst>
            <p14:sldId id="256"/>
          </p14:sldIdLst>
        </p14:section>
        <p14:section name="Problem" id="{c637d14a-8296-0729-6a05-6497ae891e26}">
          <p14:sldIdLst>
            <p14:sldId id="257"/>
          </p14:sldIdLst>
        </p14:section>
        <p14:section name="Sage" id="{1d8d99f1-4be4-3b68-162c-a54897e8fd96}">
          <p14:sldIdLst>
            <p14:sldId id="258"/>
          </p14:sldIdLst>
        </p14:section>
        <p14:section name="Live" id="{07733bff-dc58-0fd2-6c04-5502ab1b938f}">
          <p14:sldIdLst>
            <p14:sldId id="259"/>
          </p14:sldIdLst>
        </p14:section>
        <p14:section name="Finance" id="{b6b55d1f-af14-c282-5819-72615853658a}">
          <p14:sldIdLst>
            <p14:sldId id="260"/>
          </p14:sldIdLst>
        </p14:section>
        <p14:section name="Next" id="{87c2800b-68f8-36f0-f2fa-7f36f22db2c4}">
          <p14:sldIdLst>
            <p14:sldId id="261"/>
            <p14:sldId id="262"/>
          </p14:sldIdLst>
        </p14:section>
        <p14:section name="Close" id="{13b9d080-29eb-c7c1-5491-482d1ae8fd3d}">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OPENING (to 0:15). Learn these three lines by heart.
Hi, I'm Shariq, and I built Sage.
In the next few minutes I'll post a job, and an AI agent will check the work and pay for it. Live, with real money. Nobody will approve that payment, not even me.
But first, why it matters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THE PROBLEM (to 0:45)
Think of a seller in Kingston. She delivers, she gets paid on WhatsApp, and the proof stays in a chat.
So when she asks a bank for credit, she has nothing to show.
In Jamaica, small businesses are ninety percent of jobs, and over forty percent of firms say finance is a major constraint. Not bad businesses. Unrecorded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SAGE (to 1:10)
Sage fixes the record by fixing the payment. It's an AI agent that checks the work, pays for it in minutes from a vault it can't overspend, and turns every payment into a record a lender can read.
And it's not a prototype. It has paid real people real money since July. In August it won first place, Grand Champion, at the OpenClaw Summer Bootcamp, from Metis, GOAT Network, ClawUp and CryptoChicks.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LIVE (to 1:15)
Let me show you. Live, with real money, on Arc, where the dollar pays its own fee.
&gt;&gt; CMD+TAB TO CHROME: THE BUYER'S WINDOW, ON SAGEPAYS.XYZ, ALREADY SIGNED IN.
CHROME · BUYER · POST THE JOB (to 2:10)
I'm the buyer. I write what I want in one sentence, in my own money: put my shop's price list online, three items in Jamaican dollars, J$160.
&gt;&gt; CLICK "DRAFT WITH SAGE".
Sage is turning that sentence into a real job: the steps, what must be true when it's done, and what counts as proof. Those are the rules it will judge by.
No forms, no categories. And one thing it never does: set the price. The money is mine to set.
&gt;&gt; WHEN THE FORM FILLS, POINT AT THE RULES AND THE PRICE. TICK "ONLY PEOPLE I INVITE". CLICK "CREATE THE GIG".
CHROME · BUYER · LAUNCH IT (to 2:30)
Now I fund it. I don't send money to anyone. Sage creates a vault on chain, funds it from my account, and switches it on.
&gt;&gt; CLICK "LET SAGE LAUNCH IT FROM YOUR ACCOUNT ON ARC".
Live. The vault holds exactly the reward, and Sage can't pay a cent more.
&gt;&gt; CLICK "THE BOARD". COPY THE ADDRESS: CMD+L, CMD+C.
CHROME · SELLER · DO THE WORK (to 2:50)
&gt;&gt; SWITCH TO THE SELLER'S WINDOW (CMD+`). PASTE THE ADDRESS: CMD+L, CMD+V, ENTER.
Now I'm the seller, a different person with my own wallet. I've already put my price list online.
&gt;&gt; CLICK "SUBMIT EVIDENCE". TYPE THE SHOP LINK. CLICK "SIGN + SUBMIT EVIDENCE".
Submitted.
CHROME · SELLER · SAGE DECIDES (to 4:05). The money moment. Slow down. Paid takes about a minute.
&gt;&gt; SCROLL DOWN TO "SAGE ACTIVITY".
Watch. Sage is opening my page itself, not trusting my word.
It checks every rule the buyer set: three items, prices in J-dollars, the shop's name, and my wallet on the page, so nobody else can claim my work.
It has to quote the exact words it relied on. And it can say no: it has refused 26 times so far, every time with the reason written down.
And the money isn't with Sage. It's in the vault the buyer funded. The vault decides the amount; Sage can only say yes or no.
&gt;&gt; IF IT IS STILL CHECKING, SAY NOTHING. SILENCE WHILE THE ROOM WATCHES IS FINE.
&gt;&gt; WHEN IT SAYS PAID: STOP TALKING FOR TWO SECONDS.
Paid. Nobody approved that. Not me, not anyone.
&gt;&gt; CLICK "PROOF" ON THE PAID LINE. SCROLL TO "SAGE DECISION RECEIPT".
Here's the receipt: the decision, how sure it was, and the exact words from my page. Anyone in this room can open it.
&gt;&gt; CMD+TAB TO KEYNOTE. PRESS →.
IF IT STALLS:
- Drafting takes over 75 seconds, or launch fails: "Here's the same job, posted this morning." Open the buyer's second tab (the backup job), copy its address, and carry on from the seller step.
- No Paid after 90 seconds: "It's still checking. Here's the one I ran earlier today." Cmd+Tab to Keynote and →. The next slide shows that receipt.
- It says Held: "It held this one for a person to check. That's the guard working: it would rather wait than pay for weak proof." Cmd+Tab 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RECEIPT AND RECORD (to 4:30). Works whether the live run paid or stalled.
If it paid live: "That's the receipt you just saw, and that payment just became a line in my record."
If it stalled: "Here's the receipt from the run earlier today, and the record it became."
Verified income over thirty and ninety days, who paid me and for how long, how often my work passes. Published formulas over real receipts, not a black-box score. A lender reads it in 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NEXT (to 4:50)
Now imagine where this goes. Next, you won't even post the job: you give Sage a goal and a budget, and it decides what to buy and tells you why before it spends.
Every small business gets an AI finance worker that pays on proof and turns every job into credit. After a hurricane, a programme could pay a thousand people for verified clean-up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THE ASK (to 5:05)
The engine is live. It needs the institutions it was built for: an MSME programme, a cooperative, and a lender who'd price verified cash flow instead of collateral. Twenty minutes with any of you is our next milestone.
&gt;&gt; PRESS → FOR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CLOSE (to 5:10)
Sage. Payments that verify themselves. Credit records that write themselves. Thank you.
&gt;&gt;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GE_LIGHT">
    <p:bg>
      <p:bgPr>
        <a:solidFill>
          <a:srgbClr val="FBFBF9"/>
        </a:solidFill>
      </p:bgPr>
    </p:bg>
    <p:spTree>
      <p:nvGrpSpPr>
        <p:cNvPr id="1" name=""/>
        <p:cNvGrpSpPr/>
        <p:nvPr/>
      </p:nvGrpSpPr>
      <p:grpSpPr>
        <a:xfrm>
          <a:off x="0" y="0"/>
          <a:ext cx="0" cy="0"/>
          <a:chOff x="0" y="0"/>
          <a:chExt cx="0" cy="0"/>
        </a:xfrm>
      </p:grpSpPr>
      <p:sp>
        <p:nvSpPr>
          <p:cNvPr id="2" name="Shape 0"/>
          <p:cNvSpPr/>
          <p:nvPr/>
        </p:nvSpPr>
        <p:spPr>
          <a:xfrm>
            <a:off x="685800" y="6272784"/>
            <a:ext cx="182880" cy="182880"/>
          </a:xfrm>
          <a:prstGeom prst="rect">
            <a:avLst/>
          </a:prstGeom>
          <a:solidFill>
            <a:srgbClr val="C2410C"/>
          </a:solidFill>
          <a:ln/>
        </p:spPr>
      </p:sp>
      <p:sp>
        <p:nvSpPr>
          <p:cNvPr id="3" name="Text 1"/>
          <p:cNvSpPr/>
          <p:nvPr/>
        </p:nvSpPr>
        <p:spPr>
          <a:xfrm>
            <a:off x="941832" y="6199632"/>
            <a:ext cx="1371600" cy="329184"/>
          </a:xfrm>
          <a:prstGeom prst="rect">
            <a:avLst/>
          </a:prstGeom>
          <a:noFill/>
          <a:ln/>
        </p:spPr>
        <p:txBody>
          <a:bodyPr wrap="square" lIns="0" tIns="0" rIns="0" bIns="0" rtlCol="0" anchor="ctr"/>
          <a:lstStyle/>
          <a:p>
            <a:pPr indent="0" marL="0">
              <a:buNone/>
            </a:pPr>
            <a:r>
              <a:rPr lang="en-US" sz="1400" b="1" dirty="0">
                <a:solidFill>
                  <a:srgbClr val="1A1D21"/>
                </a:solidFill>
                <a:latin typeface="Arial" pitchFamily="34" charset="0"/>
                <a:ea typeface="Arial" pitchFamily="34" charset="-122"/>
                <a:cs typeface="Arial" pitchFamily="34" charset="-120"/>
              </a:rPr>
              <a:t>Sage</a:t>
            </a:r>
            <a:endParaRPr lang="en-US" sz="14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GE_DARK">
    <p:bg>
      <p:bgPr>
        <a:solidFill>
          <a:srgbClr val="1A1D2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594360"/>
            <a:ext cx="10789920" cy="320040"/>
          </a:xfrm>
          <a:prstGeom prst="rect">
            <a:avLst/>
          </a:prstGeom>
          <a:noFill/>
          <a:ln/>
        </p:spPr>
        <p:txBody>
          <a:bodyPr wrap="square" lIns="0" tIns="0" rIns="0" bIns="0" rtlCol="0" anchor="t"/>
          <a:lstStyle/>
          <a:p>
            <a:pPr indent="0" marL="0">
              <a:buNone/>
            </a:pPr>
            <a:r>
              <a:rPr lang="en-US" sz="1300" b="1" spc="300" kern="0" dirty="0">
                <a:solidFill>
                  <a:srgbClr val="9CA0A8"/>
                </a:solidFill>
                <a:latin typeface="Arial" pitchFamily="34" charset="0"/>
                <a:ea typeface="Arial" pitchFamily="34" charset="-122"/>
                <a:cs typeface="Arial" pitchFamily="34" charset="-120"/>
              </a:rPr>
              <a:t>FUTURE CARIBBEAN 2026  ·  FINANCE, PAYMENTS &amp; MSME CAPITAL</a:t>
            </a:r>
            <a:endParaRPr lang="en-US" sz="1300" dirty="0"/>
          </a:p>
        </p:txBody>
      </p:sp>
      <p:sp>
        <p:nvSpPr>
          <p:cNvPr id="3" name="Sage mark"/>
          <p:cNvSpPr/>
          <p:nvPr/>
        </p:nvSpPr>
        <p:spPr>
          <a:xfrm>
            <a:off x="685800" y="1783080"/>
            <a:ext cx="1188720" cy="1188720"/>
          </a:xfrm>
          <a:prstGeom prst="roundRect">
            <a:avLst>
              <a:gd name="adj" fmla="val 22000"/>
            </a:avLst>
          </a:prstGeom>
          <a:solidFill>
            <a:srgbClr val="C2410C"/>
          </a:solidFill>
          <a:ln w="12700">
            <a:solidFill>
              <a:srgbClr val="C2410C"/>
            </a:solidFill>
            <a:prstDash val="solid"/>
          </a:ln>
        </p:spPr>
      </p:sp>
      <p:sp>
        <p:nvSpPr>
          <p:cNvPr id="4" name="Text 2"/>
          <p:cNvSpPr txBox="1"/>
          <p:nvPr/>
        </p:nvSpPr>
        <p:spPr>
          <a:xfrm>
            <a:off x="2194560" y="1554480"/>
            <a:ext cx="7315200" cy="164592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Sage</a:t>
            </a:r>
            <a:endParaRPr lang="en-US" sz="12000" dirty="0"/>
          </a:p>
        </p:txBody>
      </p:sp>
      <p:sp>
        <p:nvSpPr>
          <p:cNvPr id="5" name="Text 3"/>
          <p:cNvSpPr txBox="1"/>
          <p:nvPr/>
        </p:nvSpPr>
        <p:spPr>
          <a:xfrm>
            <a:off x="685800" y="3429000"/>
            <a:ext cx="10789920" cy="640080"/>
          </a:xfrm>
          <a:prstGeom prst="rect">
            <a:avLst/>
          </a:prstGeom>
          <a:noFill/>
          <a:ln/>
        </p:spPr>
        <p:txBody>
          <a:bodyPr wrap="square" lIns="0" tIns="0" rIns="0" bIns="0" rtlCol="0" anchor="t"/>
          <a:lstStyle/>
          <a:p>
            <a:pPr indent="0" marL="0">
              <a:buNone/>
            </a:pPr>
            <a:r>
              <a:rPr lang="en-US" sz="3000" dirty="0">
                <a:solidFill>
                  <a:srgbClr val="E9E7E1"/>
                </a:solidFill>
                <a:latin typeface="Arial" pitchFamily="34" charset="0"/>
                <a:ea typeface="Arial" pitchFamily="34" charset="-122"/>
                <a:cs typeface="Arial" pitchFamily="34" charset="-120"/>
              </a:rPr>
              <a:t>An AI agent that pays people for verified work.</a:t>
            </a:r>
            <a:endParaRPr lang="en-US" sz="3000" dirty="0"/>
          </a:p>
        </p:txBody>
      </p:sp>
      <p:sp>
        <p:nvSpPr>
          <p:cNvPr id="6" name="Shape 4"/>
          <p:cNvSpPr/>
          <p:nvPr/>
        </p:nvSpPr>
        <p:spPr>
          <a:xfrm>
            <a:off x="685800" y="4389120"/>
            <a:ext cx="9418320" cy="713232"/>
          </a:xfrm>
          <a:prstGeom prst="roundRect">
            <a:avLst>
              <a:gd name="adj" fmla="val 50000"/>
            </a:avLst>
          </a:prstGeom>
          <a:solidFill>
            <a:srgbClr val="24272C"/>
          </a:solidFill>
          <a:ln w="15875">
            <a:solidFill>
              <a:srgbClr val="C2410C"/>
            </a:solidFill>
            <a:prstDash val="solid"/>
          </a:ln>
        </p:spPr>
      </p:sp>
      <p:sp>
        <p:nvSpPr>
          <p:cNvPr id="7" name="Shape 5"/>
          <p:cNvSpPr/>
          <p:nvPr/>
        </p:nvSpPr>
        <p:spPr>
          <a:xfrm>
            <a:off x="987552" y="4645152"/>
            <a:ext cx="201168" cy="201168"/>
          </a:xfrm>
          <a:prstGeom prst="ellipse">
            <a:avLst/>
          </a:prstGeom>
          <a:solidFill>
            <a:srgbClr val="C2410C"/>
          </a:solidFill>
          <a:ln w="12700">
            <a:solidFill>
              <a:srgbClr val="C2410C"/>
            </a:solidFill>
            <a:prstDash val="solid"/>
          </a:ln>
        </p:spPr>
      </p:sp>
      <p:sp>
        <p:nvSpPr>
          <p:cNvPr id="8" name="Text 6"/>
          <p:cNvSpPr txBox="1"/>
          <p:nvPr/>
        </p:nvSpPr>
        <p:spPr>
          <a:xfrm>
            <a:off x="1371600" y="4389120"/>
            <a:ext cx="8412480" cy="713232"/>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next few minutes, you'll watch it pay someone. Live, with real money.</a:t>
            </a:r>
            <a:endParaRPr lang="en-US" sz="2000" dirty="0"/>
          </a:p>
        </p:txBody>
      </p:sp>
      <p:sp>
        <p:nvSpPr>
          <p:cNvPr id="9" name="Text 7"/>
          <p:cNvSpPr txBox="1"/>
          <p:nvPr/>
        </p:nvSpPr>
        <p:spPr>
          <a:xfrm>
            <a:off x="685800" y="6126480"/>
            <a:ext cx="5486400" cy="365760"/>
          </a:xfrm>
          <a:prstGeom prst="rect">
            <a:avLst/>
          </a:prstGeom>
          <a:noFill/>
          <a:ln/>
        </p:spPr>
        <p:txBody>
          <a:bodyPr wrap="square" lIns="0" tIns="0" rIns="0" bIns="0" rtlCol="0" anchor="t"/>
          <a:lstStyle/>
          <a:p>
            <a:pPr indent="0" marL="0">
              <a:buNone/>
            </a:pPr>
            <a:r>
              <a:rPr lang="en-US" sz="1500" dirty="0">
                <a:solidFill>
                  <a:srgbClr val="9CA0A8"/>
                </a:solidFill>
                <a:latin typeface="Arial" pitchFamily="34" charset="0"/>
                <a:ea typeface="Arial" pitchFamily="34" charset="-122"/>
                <a:cs typeface="Arial" pitchFamily="34" charset="-120"/>
              </a:rPr>
              <a:t>Shariq Shaukat  ·  Founder</a:t>
            </a:r>
            <a:endParaRPr lang="en-US" sz="1500" dirty="0"/>
          </a:p>
        </p:txBody>
      </p:sp>
      <p:sp>
        <p:nvSpPr>
          <p:cNvPr id="10" name="Text 8"/>
          <p:cNvSpPr txBox="1"/>
          <p:nvPr/>
        </p:nvSpPr>
        <p:spPr>
          <a:xfrm>
            <a:off x="7863840" y="6126480"/>
            <a:ext cx="3657600" cy="365760"/>
          </a:xfrm>
          <a:prstGeom prst="rect">
            <a:avLst/>
          </a:prstGeom>
          <a:noFill/>
          <a:ln/>
        </p:spPr>
        <p:txBody>
          <a:bodyPr wrap="square" lIns="0" tIns="0" rIns="0" bIns="0" rtlCol="0" anchor="t"/>
          <a:lstStyle/>
          <a:p>
            <a:pPr algn="r" indent="0" marL="0">
              <a:buNone/>
            </a:pPr>
            <a:r>
              <a:rPr lang="en-US" sz="1500" dirty="0">
                <a:solidFill>
                  <a:srgbClr val="9CA0A8"/>
                </a:solidFill>
                <a:latin typeface="Arial" pitchFamily="34" charset="0"/>
                <a:ea typeface="Arial" pitchFamily="34" charset="-122"/>
                <a:cs typeface="Arial" pitchFamily="34" charset="-120"/>
              </a:rPr>
              <a:t>sagepays.xyz</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hone"/>
          <p:cNvSpPr/>
          <p:nvPr/>
        </p:nvSpPr>
        <p:spPr>
          <a:xfrm>
            <a:off x="914400" y="685800"/>
            <a:ext cx="3108960" cy="5257800"/>
          </a:xfrm>
          <a:prstGeom prst="roundRect">
            <a:avLst>
              <a:gd name="adj" fmla="val 13235"/>
            </a:avLst>
          </a:prstGeom>
          <a:solidFill>
            <a:srgbClr val="F3F2EE"/>
          </a:solidFill>
          <a:ln w="88900">
            <a:solidFill>
              <a:srgbClr val="1A1D21"/>
            </a:solidFill>
            <a:prstDash val="solid"/>
          </a:ln>
        </p:spPr>
      </p:sp>
      <p:sp>
        <p:nvSpPr>
          <p:cNvPr id="3" name="Shape 1"/>
          <p:cNvSpPr/>
          <p:nvPr/>
        </p:nvSpPr>
        <p:spPr>
          <a:xfrm>
            <a:off x="1965960" y="868680"/>
            <a:ext cx="1005840" cy="219456"/>
          </a:xfrm>
          <a:prstGeom prst="roundRect">
            <a:avLst>
              <a:gd name="adj" fmla="val 50000"/>
            </a:avLst>
          </a:prstGeom>
          <a:solidFill>
            <a:srgbClr val="1A1D21"/>
          </a:solidFill>
          <a:ln w="12700">
            <a:solidFill>
              <a:srgbClr val="1A1D21"/>
            </a:solidFill>
            <a:prstDash val="solid"/>
          </a:ln>
        </p:spPr>
      </p:sp>
      <p:sp>
        <p:nvSpPr>
          <p:cNvPr id="4" name="Shape 2"/>
          <p:cNvSpPr/>
          <p:nvPr/>
        </p:nvSpPr>
        <p:spPr>
          <a:xfrm>
            <a:off x="1143000" y="1371600"/>
            <a:ext cx="2377440" cy="868680"/>
          </a:xfrm>
          <a:prstGeom prst="roundRect">
            <a:avLst>
              <a:gd name="adj" fmla="val 16842"/>
            </a:avLst>
          </a:prstGeom>
          <a:solidFill>
            <a:srgbClr val="FFFFFF">
              <a:alpha val="65000"/>
            </a:srgbClr>
          </a:solidFill>
          <a:ln w="12700">
            <a:solidFill>
              <a:srgbClr val="FFFFFF"/>
            </a:solidFill>
            <a:prstDash val="solid"/>
          </a:ln>
        </p:spPr>
      </p:sp>
      <p:sp>
        <p:nvSpPr>
          <p:cNvPr id="5" name="Text 3"/>
          <p:cNvSpPr txBox="1"/>
          <p:nvPr/>
        </p:nvSpPr>
        <p:spPr>
          <a:xfrm>
            <a:off x="1280160" y="1481328"/>
            <a:ext cx="2103120" cy="685800"/>
          </a:xfrm>
          <a:prstGeom prst="rect">
            <a:avLst/>
          </a:prstGeom>
          <a:noFill/>
          <a:ln/>
        </p:spPr>
        <p:txBody>
          <a:bodyPr wrap="square" lIns="0" tIns="0" rIns="0" bIns="0" rtlCol="0" anchor="t"/>
          <a:lstStyle/>
          <a:p>
            <a:pPr indent="0" marL="0">
              <a:buNone/>
            </a:pPr>
            <a:r>
              <a:rPr lang="en-US" sz="1300" dirty="0">
                <a:solidFill>
                  <a:srgbClr val="A4A7AD"/>
                </a:solidFill>
                <a:latin typeface="Arial" pitchFamily="34" charset="0"/>
                <a:ea typeface="Arial" pitchFamily="34" charset="-122"/>
                <a:cs typeface="Arial" pitchFamily="34" charset="-120"/>
              </a:rPr>
              <a:t>Order of 40 delivered to the hotel this morning.</a:t>
            </a:r>
            <a:endParaRPr lang="en-US" sz="1300" dirty="0"/>
          </a:p>
          <a:p>
            <a:pPr indent="0" marL="0">
              <a:buNone/>
            </a:pPr>
            <a:r>
              <a:rPr lang="en-US" sz="1000" dirty="0">
                <a:solidFill>
                  <a:srgbClr val="A4A7AD"/>
                </a:solidFill>
                <a:latin typeface="Arial" pitchFamily="34" charset="0"/>
                <a:ea typeface="Arial" pitchFamily="34" charset="-122"/>
                <a:cs typeface="Arial" pitchFamily="34" charset="-120"/>
              </a:rPr>
              <a:t>Seller · 09:12</a:t>
            </a:r>
            <a:endParaRPr lang="en-US" sz="1300" dirty="0"/>
          </a:p>
        </p:txBody>
      </p:sp>
      <p:sp>
        <p:nvSpPr>
          <p:cNvPr id="6" name="Shape 4"/>
          <p:cNvSpPr/>
          <p:nvPr/>
        </p:nvSpPr>
        <p:spPr>
          <a:xfrm>
            <a:off x="1463040" y="2395728"/>
            <a:ext cx="2331720" cy="822960"/>
          </a:xfrm>
          <a:prstGeom prst="roundRect">
            <a:avLst>
              <a:gd name="adj" fmla="val 17778"/>
            </a:avLst>
          </a:prstGeom>
          <a:solidFill>
            <a:srgbClr val="E7F2E4">
              <a:alpha val="65000"/>
            </a:srgbClr>
          </a:solidFill>
          <a:ln w="12700">
            <a:solidFill>
              <a:srgbClr val="E7F2E4"/>
            </a:solidFill>
            <a:prstDash val="solid"/>
          </a:ln>
        </p:spPr>
      </p:sp>
      <p:sp>
        <p:nvSpPr>
          <p:cNvPr id="7" name="Text 5"/>
          <p:cNvSpPr txBox="1"/>
          <p:nvPr/>
        </p:nvSpPr>
        <p:spPr>
          <a:xfrm>
            <a:off x="1600200" y="2505456"/>
            <a:ext cx="2057400" cy="640080"/>
          </a:xfrm>
          <a:prstGeom prst="rect">
            <a:avLst/>
          </a:prstGeom>
          <a:noFill/>
          <a:ln/>
        </p:spPr>
        <p:txBody>
          <a:bodyPr wrap="square" lIns="0" tIns="0" rIns="0" bIns="0" rtlCol="0" anchor="t"/>
          <a:lstStyle/>
          <a:p>
            <a:pPr indent="0" marL="0">
              <a:buNone/>
            </a:pPr>
            <a:r>
              <a:rPr lang="en-US" sz="1300" dirty="0">
                <a:solidFill>
                  <a:srgbClr val="A4A7AD"/>
                </a:solidFill>
                <a:latin typeface="Arial" pitchFamily="34" charset="0"/>
                <a:ea typeface="Arial" pitchFamily="34" charset="-122"/>
                <a:cs typeface="Arial" pitchFamily="34" charset="-120"/>
              </a:rPr>
              <a:t>Got them, thank you. Sent J$48,000.</a:t>
            </a:r>
            <a:endParaRPr lang="en-US" sz="1300" dirty="0"/>
          </a:p>
          <a:p>
            <a:pPr indent="0" marL="0">
              <a:buNone/>
            </a:pPr>
            <a:r>
              <a:rPr lang="en-US" sz="1000" dirty="0">
                <a:solidFill>
                  <a:srgbClr val="A4A7AD"/>
                </a:solidFill>
                <a:latin typeface="Arial" pitchFamily="34" charset="0"/>
                <a:ea typeface="Arial" pitchFamily="34" charset="-122"/>
                <a:cs typeface="Arial" pitchFamily="34" charset="-120"/>
              </a:rPr>
              <a:t>Buyer · 11:40</a:t>
            </a:r>
            <a:endParaRPr lang="en-US" sz="1300" dirty="0"/>
          </a:p>
        </p:txBody>
      </p:sp>
      <p:sp>
        <p:nvSpPr>
          <p:cNvPr id="8" name="Shape 6"/>
          <p:cNvSpPr/>
          <p:nvPr/>
        </p:nvSpPr>
        <p:spPr>
          <a:xfrm>
            <a:off x="1143000" y="3383280"/>
            <a:ext cx="2240280" cy="731520"/>
          </a:xfrm>
          <a:prstGeom prst="roundRect">
            <a:avLst>
              <a:gd name="adj" fmla="val 20000"/>
            </a:avLst>
          </a:prstGeom>
          <a:solidFill>
            <a:srgbClr val="FFFFFF">
              <a:alpha val="65000"/>
            </a:srgbClr>
          </a:solidFill>
          <a:ln w="12700">
            <a:solidFill>
              <a:srgbClr val="FFFFFF"/>
            </a:solidFill>
            <a:prstDash val="solid"/>
          </a:ln>
        </p:spPr>
      </p:sp>
      <p:sp>
        <p:nvSpPr>
          <p:cNvPr id="9" name="Text 7"/>
          <p:cNvSpPr txBox="1"/>
          <p:nvPr/>
        </p:nvSpPr>
        <p:spPr>
          <a:xfrm>
            <a:off x="1280160" y="3493008"/>
            <a:ext cx="1965960" cy="548640"/>
          </a:xfrm>
          <a:prstGeom prst="rect">
            <a:avLst/>
          </a:prstGeom>
          <a:noFill/>
          <a:ln/>
        </p:spPr>
        <p:txBody>
          <a:bodyPr wrap="square" lIns="0" tIns="0" rIns="0" bIns="0" rtlCol="0" anchor="t"/>
          <a:lstStyle/>
          <a:p>
            <a:pPr indent="0" marL="0">
              <a:buNone/>
            </a:pPr>
            <a:r>
              <a:rPr lang="en-US" sz="1300" dirty="0">
                <a:solidFill>
                  <a:srgbClr val="A4A7AD"/>
                </a:solidFill>
                <a:latin typeface="Arial" pitchFamily="34" charset="0"/>
                <a:ea typeface="Arial" pitchFamily="34" charset="-122"/>
                <a:cs typeface="Arial" pitchFamily="34" charset="-120"/>
              </a:rPr>
              <a:t>Received. Same again next week?</a:t>
            </a:r>
            <a:endParaRPr lang="en-US" sz="1300" dirty="0"/>
          </a:p>
          <a:p>
            <a:pPr indent="0" marL="0">
              <a:buNone/>
            </a:pPr>
            <a:r>
              <a:rPr lang="en-US" sz="1000" dirty="0">
                <a:solidFill>
                  <a:srgbClr val="A4A7AD"/>
                </a:solidFill>
                <a:latin typeface="Arial" pitchFamily="34" charset="0"/>
                <a:ea typeface="Arial" pitchFamily="34" charset="-122"/>
                <a:cs typeface="Arial" pitchFamily="34" charset="-120"/>
              </a:rPr>
              <a:t>Seller · 11:42</a:t>
            </a:r>
            <a:endParaRPr lang="en-US" sz="1300" dirty="0"/>
          </a:p>
        </p:txBody>
      </p:sp>
      <p:sp>
        <p:nvSpPr>
          <p:cNvPr id="10" name="Text 8"/>
          <p:cNvSpPr txBox="1"/>
          <p:nvPr/>
        </p:nvSpPr>
        <p:spPr>
          <a:xfrm>
            <a:off x="1051560" y="4572000"/>
            <a:ext cx="2834640" cy="914400"/>
          </a:xfrm>
          <a:prstGeom prst="rect">
            <a:avLst/>
          </a:prstGeom>
          <a:noFill/>
          <a:ln/>
        </p:spPr>
        <p:txBody>
          <a:bodyPr wrap="square" lIns="0" tIns="0" rIns="0" bIns="0" rtlCol="0" anchor="ctr"/>
          <a:lstStyle/>
          <a:p>
            <a:pPr algn="ctr" indent="0" marL="0">
              <a:buNone/>
            </a:pPr>
            <a:r>
              <a:rPr lang="en-US" sz="1500" b="1" dirty="0">
                <a:solidFill>
                  <a:srgbClr val="C2410C"/>
                </a:solidFill>
                <a:latin typeface="Arial" pitchFamily="34" charset="0"/>
                <a:ea typeface="Arial" pitchFamily="34" charset="-122"/>
                <a:cs typeface="Arial" pitchFamily="34" charset="-120"/>
              </a:rPr>
              <a:t>The money moved.</a:t>
            </a:r>
            <a:endParaRPr lang="en-US" sz="1500" dirty="0"/>
          </a:p>
          <a:p>
            <a:pPr algn="ctr" indent="0" marL="0">
              <a:buNone/>
            </a:pPr>
            <a:r>
              <a:rPr lang="en-US" sz="1500" b="1" dirty="0">
                <a:solidFill>
                  <a:srgbClr val="C2410C"/>
                </a:solidFill>
                <a:latin typeface="Arial" pitchFamily="34" charset="0"/>
                <a:ea typeface="Arial" pitchFamily="34" charset="-122"/>
                <a:cs typeface="Arial" pitchFamily="34" charset="-120"/>
              </a:rPr>
              <a:t>The proof stayed in a chat.</a:t>
            </a:r>
            <a:endParaRPr lang="en-US" sz="1500" dirty="0"/>
          </a:p>
        </p:txBody>
      </p:sp>
      <p:sp>
        <p:nvSpPr>
          <p:cNvPr id="11" name="Text 9"/>
          <p:cNvSpPr txBox="1"/>
          <p:nvPr/>
        </p:nvSpPr>
        <p:spPr>
          <a:xfrm>
            <a:off x="4846320" y="868680"/>
            <a:ext cx="6400800" cy="320040"/>
          </a:xfrm>
          <a:prstGeom prst="rect">
            <a:avLst/>
          </a:prstGeom>
          <a:noFill/>
          <a:ln/>
        </p:spPr>
        <p:txBody>
          <a:bodyPr wrap="square" lIns="0" tIns="0" rIns="0" bIns="0" rtlCol="0" anchor="t"/>
          <a:lstStyle/>
          <a:p>
            <a:pPr indent="0" marL="0">
              <a:buNone/>
            </a:pPr>
            <a:r>
              <a:rPr lang="en-US" sz="1300" b="1" spc="300" kern="0" dirty="0">
                <a:solidFill>
                  <a:srgbClr val="6B6F76"/>
                </a:solidFill>
                <a:latin typeface="Arial" pitchFamily="34" charset="0"/>
                <a:ea typeface="Arial" pitchFamily="34" charset="-122"/>
                <a:cs typeface="Arial" pitchFamily="34" charset="-120"/>
              </a:rPr>
              <a:t>A SELLER IN KINGSTON</a:t>
            </a:r>
            <a:endParaRPr lang="en-US" sz="1300" dirty="0"/>
          </a:p>
        </p:txBody>
      </p:sp>
      <p:sp>
        <p:nvSpPr>
          <p:cNvPr id="12" name="Text 10"/>
          <p:cNvSpPr txBox="1"/>
          <p:nvPr/>
        </p:nvSpPr>
        <p:spPr>
          <a:xfrm>
            <a:off x="4846320" y="1280160"/>
            <a:ext cx="6766560" cy="594360"/>
          </a:xfrm>
          <a:prstGeom prst="rect">
            <a:avLst/>
          </a:prstGeom>
          <a:noFill/>
          <a:ln/>
        </p:spPr>
        <p:txBody>
          <a:bodyPr wrap="square" lIns="0" tIns="0" rIns="0" bIns="0" rtlCol="0" anchor="t"/>
          <a:lstStyle/>
          <a:p>
            <a:pPr indent="0" marL="0">
              <a:buNone/>
            </a:pPr>
            <a:r>
              <a:rPr lang="en-US" sz="3400" b="1" dirty="0">
                <a:solidFill>
                  <a:srgbClr val="1A1D21"/>
                </a:solidFill>
                <a:latin typeface="Arial" pitchFamily="34" charset="0"/>
                <a:ea typeface="Arial" pitchFamily="34" charset="-122"/>
                <a:cs typeface="Arial" pitchFamily="34" charset="-120"/>
              </a:rPr>
              <a:t>She delivers. She gets paid.</a:t>
            </a:r>
            <a:endParaRPr lang="en-US" sz="3400" dirty="0"/>
          </a:p>
        </p:txBody>
      </p:sp>
      <p:sp>
        <p:nvSpPr>
          <p:cNvPr id="13" name="Text 11"/>
          <p:cNvSpPr txBox="1"/>
          <p:nvPr/>
        </p:nvSpPr>
        <p:spPr>
          <a:xfrm>
            <a:off x="4846320" y="1920240"/>
            <a:ext cx="6766560" cy="594360"/>
          </a:xfrm>
          <a:prstGeom prst="rect">
            <a:avLst/>
          </a:prstGeom>
          <a:noFill/>
          <a:ln/>
        </p:spPr>
        <p:txBody>
          <a:bodyPr wrap="square" lIns="0" tIns="0" rIns="0" bIns="0" rtlCol="0" anchor="t"/>
          <a:lstStyle/>
          <a:p>
            <a:pPr indent="0" marL="0">
              <a:buNone/>
            </a:pPr>
            <a:r>
              <a:rPr lang="en-US" sz="3400" b="1" dirty="0">
                <a:solidFill>
                  <a:srgbClr val="C2410C"/>
                </a:solidFill>
                <a:latin typeface="Arial" pitchFamily="34" charset="0"/>
                <a:ea typeface="Arial" pitchFamily="34" charset="-122"/>
                <a:cs typeface="Arial" pitchFamily="34" charset="-120"/>
              </a:rPr>
              <a:t>To a bank, she doesn't exist.</a:t>
            </a:r>
            <a:endParaRPr lang="en-US" sz="3400" dirty="0"/>
          </a:p>
        </p:txBody>
      </p:sp>
      <p:sp>
        <p:nvSpPr>
          <p:cNvPr id="14" name="Text 12"/>
          <p:cNvSpPr txBox="1"/>
          <p:nvPr/>
        </p:nvSpPr>
        <p:spPr>
          <a:xfrm>
            <a:off x="4846320" y="3246120"/>
            <a:ext cx="3017520" cy="914400"/>
          </a:xfrm>
          <a:prstGeom prst="rect">
            <a:avLst/>
          </a:prstGeom>
          <a:noFill/>
          <a:ln/>
        </p:spPr>
        <p:txBody>
          <a:bodyPr wrap="square" lIns="0" tIns="0" rIns="0" bIns="0" rtlCol="0" anchor="ctr"/>
          <a:lstStyle/>
          <a:p>
            <a:pPr indent="0" marL="0">
              <a:buNone/>
            </a:pPr>
            <a:r>
              <a:rPr lang="en-US" sz="6400" b="1" dirty="0">
                <a:solidFill>
                  <a:srgbClr val="1A1D21"/>
                </a:solidFill>
                <a:latin typeface="Arial" pitchFamily="34" charset="0"/>
                <a:ea typeface="Arial" pitchFamily="34" charset="-122"/>
                <a:cs typeface="Arial" pitchFamily="34" charset="-120"/>
              </a:rPr>
              <a:t>90%</a:t>
            </a:r>
            <a:endParaRPr lang="en-US" sz="6400" dirty="0"/>
          </a:p>
        </p:txBody>
      </p:sp>
      <p:sp>
        <p:nvSpPr>
          <p:cNvPr id="15" name="Text 13"/>
          <p:cNvSpPr txBox="1"/>
          <p:nvPr/>
        </p:nvSpPr>
        <p:spPr>
          <a:xfrm>
            <a:off x="4846320" y="4206240"/>
            <a:ext cx="3017520" cy="822960"/>
          </a:xfrm>
          <a:prstGeom prst="rect">
            <a:avLst/>
          </a:prstGeom>
          <a:noFill/>
          <a:ln/>
        </p:spPr>
        <p:txBody>
          <a:bodyPr wrap="square" lIns="0" tIns="0" rIns="0" bIns="0" rtlCol="0" anchor="t"/>
          <a:lstStyle/>
          <a:p>
            <a:pPr indent="0" marL="0">
              <a:buNone/>
            </a:pPr>
            <a:r>
              <a:rPr lang="en-US" sz="1600" dirty="0">
                <a:solidFill>
                  <a:srgbClr val="3D4148"/>
                </a:solidFill>
                <a:latin typeface="Arial" pitchFamily="34" charset="0"/>
                <a:ea typeface="Arial" pitchFamily="34" charset="-122"/>
                <a:cs typeface="Arial" pitchFamily="34" charset="-120"/>
              </a:rPr>
              <a:t>of jobs in Jamaica are in micro, small and medium businesses</a:t>
            </a:r>
            <a:endParaRPr lang="en-US" sz="1600" dirty="0"/>
          </a:p>
        </p:txBody>
      </p:sp>
      <p:sp>
        <p:nvSpPr>
          <p:cNvPr id="16" name="Text 14"/>
          <p:cNvSpPr txBox="1"/>
          <p:nvPr/>
        </p:nvSpPr>
        <p:spPr>
          <a:xfrm>
            <a:off x="8366760" y="3246120"/>
            <a:ext cx="3108960" cy="914400"/>
          </a:xfrm>
          <a:prstGeom prst="rect">
            <a:avLst/>
          </a:prstGeom>
          <a:noFill/>
          <a:ln/>
        </p:spPr>
        <p:txBody>
          <a:bodyPr wrap="square" lIns="0" tIns="0" rIns="0" bIns="0" rtlCol="0" anchor="ctr"/>
          <a:lstStyle/>
          <a:p>
            <a:pPr indent="0" marL="0">
              <a:buNone/>
            </a:pPr>
            <a:r>
              <a:rPr lang="en-US" sz="6400" b="1" dirty="0">
                <a:solidFill>
                  <a:srgbClr val="1A1D21"/>
                </a:solidFill>
                <a:latin typeface="Arial" pitchFamily="34" charset="0"/>
                <a:ea typeface="Arial" pitchFamily="34" charset="-122"/>
                <a:cs typeface="Arial" pitchFamily="34" charset="-120"/>
              </a:rPr>
              <a:t>40%+</a:t>
            </a:r>
            <a:endParaRPr lang="en-US" sz="6400" dirty="0"/>
          </a:p>
        </p:txBody>
      </p:sp>
      <p:sp>
        <p:nvSpPr>
          <p:cNvPr id="17" name="Text 15"/>
          <p:cNvSpPr txBox="1"/>
          <p:nvPr/>
        </p:nvSpPr>
        <p:spPr>
          <a:xfrm>
            <a:off x="8366760" y="4206240"/>
            <a:ext cx="3108960" cy="822960"/>
          </a:xfrm>
          <a:prstGeom prst="rect">
            <a:avLst/>
          </a:prstGeom>
          <a:noFill/>
          <a:ln/>
        </p:spPr>
        <p:txBody>
          <a:bodyPr wrap="square" lIns="0" tIns="0" rIns="0" bIns="0" rtlCol="0" anchor="t"/>
          <a:lstStyle/>
          <a:p>
            <a:pPr indent="0" marL="0">
              <a:buNone/>
            </a:pPr>
            <a:r>
              <a:rPr lang="en-US" sz="1600" dirty="0">
                <a:solidFill>
                  <a:srgbClr val="3D4148"/>
                </a:solidFill>
                <a:latin typeface="Arial" pitchFamily="34" charset="0"/>
                <a:ea typeface="Arial" pitchFamily="34" charset="-122"/>
                <a:cs typeface="Arial" pitchFamily="34" charset="-120"/>
              </a:rPr>
              <a:t>of firms say access to finance is a major constraint</a:t>
            </a:r>
            <a:endParaRPr lang="en-US" sz="1600" dirty="0"/>
          </a:p>
        </p:txBody>
      </p:sp>
      <p:sp>
        <p:nvSpPr>
          <p:cNvPr id="18" name="Text 16"/>
          <p:cNvSpPr txBox="1"/>
          <p:nvPr/>
        </p:nvSpPr>
        <p:spPr>
          <a:xfrm>
            <a:off x="4846320" y="5120640"/>
            <a:ext cx="6675120" cy="457200"/>
          </a:xfrm>
          <a:prstGeom prst="rect">
            <a:avLst/>
          </a:prstGeom>
          <a:noFill/>
          <a:ln/>
        </p:spPr>
        <p:txBody>
          <a:bodyPr wrap="square" lIns="0" tIns="0" rIns="0" bIns="0" rtlCol="0" anchor="t"/>
          <a:lstStyle/>
          <a:p>
            <a:pPr indent="0" marL="0">
              <a:buNone/>
            </a:pPr>
            <a:r>
              <a:rPr lang="en-US" sz="2200" b="1" dirty="0">
                <a:solidFill>
                  <a:srgbClr val="1A1D21"/>
                </a:solidFill>
                <a:latin typeface="Arial" pitchFamily="34" charset="0"/>
                <a:ea typeface="Arial" pitchFamily="34" charset="-122"/>
                <a:cs typeface="Arial" pitchFamily="34" charset="-120"/>
              </a:rPr>
              <a:t>Not bad businesses. </a:t>
            </a:r>
            <a:pPr indent="0" marL="0">
              <a:buNone/>
            </a:pPr>
            <a:r>
              <a:rPr lang="en-US" sz="2200" b="1" dirty="0">
                <a:solidFill>
                  <a:srgbClr val="C2410C"/>
                </a:solidFill>
                <a:latin typeface="Arial" pitchFamily="34" charset="0"/>
                <a:ea typeface="Arial" pitchFamily="34" charset="-122"/>
                <a:cs typeface="Arial" pitchFamily="34" charset="-120"/>
              </a:rPr>
              <a:t>Unrecorded ones.</a:t>
            </a:r>
            <a:endParaRPr lang="en-US" sz="2200" dirty="0"/>
          </a:p>
        </p:txBody>
      </p:sp>
      <p:sp>
        <p:nvSpPr>
          <p:cNvPr id="19" name="Text 17"/>
          <p:cNvSpPr txBox="1"/>
          <p:nvPr/>
        </p:nvSpPr>
        <p:spPr>
          <a:xfrm>
            <a:off x="4846320" y="5623560"/>
            <a:ext cx="6675120" cy="274320"/>
          </a:xfrm>
          <a:prstGeom prst="rect">
            <a:avLst/>
          </a:prstGeom>
          <a:noFill/>
          <a:ln/>
        </p:spPr>
        <p:txBody>
          <a:bodyPr wrap="square" lIns="0" tIns="0" rIns="0" bIns="0" rtlCol="0" anchor="t"/>
          <a:lstStyle/>
          <a:p>
            <a:pPr indent="0" marL="0">
              <a:buNone/>
            </a:pPr>
            <a:r>
              <a:rPr lang="en-US" sz="1100" dirty="0">
                <a:solidFill>
                  <a:srgbClr val="A4A7AD"/>
                </a:solidFill>
                <a:latin typeface="Arial" pitchFamily="34" charset="0"/>
                <a:ea typeface="Arial" pitchFamily="34" charset="-122"/>
                <a:cs typeface="Arial" pitchFamily="34" charset="-120"/>
              </a:rPr>
              <a:t>World Bank, “From Dreams to Thriving Business”, April 2025</a:t>
            </a:r>
            <a:endParaRPr lang="en-US" sz="11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548640"/>
            <a:ext cx="6400800" cy="320040"/>
          </a:xfrm>
          <a:prstGeom prst="rect">
            <a:avLst/>
          </a:prstGeom>
          <a:noFill/>
          <a:ln/>
        </p:spPr>
        <p:txBody>
          <a:bodyPr wrap="square" lIns="0" tIns="0" rIns="0" bIns="0" rtlCol="0" anchor="t"/>
          <a:lstStyle/>
          <a:p>
            <a:pPr indent="0" marL="0">
              <a:buNone/>
            </a:pPr>
            <a:r>
              <a:rPr lang="en-US" sz="1300" b="1" spc="300" kern="0" dirty="0">
                <a:solidFill>
                  <a:srgbClr val="6B6F76"/>
                </a:solidFill>
                <a:latin typeface="Arial" pitchFamily="34" charset="0"/>
                <a:ea typeface="Arial" pitchFamily="34" charset="-122"/>
                <a:cs typeface="Arial" pitchFamily="34" charset="-120"/>
              </a:rPr>
              <a:t>WHAT SAGE IS</a:t>
            </a:r>
            <a:endParaRPr lang="en-US" sz="1300" dirty="0"/>
          </a:p>
        </p:txBody>
      </p:sp>
      <p:sp>
        <p:nvSpPr>
          <p:cNvPr id="3" name="Text 1"/>
          <p:cNvSpPr txBox="1"/>
          <p:nvPr/>
        </p:nvSpPr>
        <p:spPr>
          <a:xfrm>
            <a:off x="685800" y="914400"/>
            <a:ext cx="10789920" cy="685800"/>
          </a:xfrm>
          <a:prstGeom prst="rect">
            <a:avLst/>
          </a:prstGeom>
          <a:noFill/>
          <a:ln/>
        </p:spPr>
        <p:txBody>
          <a:bodyPr wrap="square" lIns="0" tIns="0" rIns="0" bIns="0" rtlCol="0" anchor="t"/>
          <a:lstStyle/>
          <a:p>
            <a:pPr indent="0" marL="0">
              <a:buNone/>
            </a:pPr>
            <a:r>
              <a:rPr lang="en-US" sz="3400" b="1" dirty="0">
                <a:solidFill>
                  <a:srgbClr val="1A1D21"/>
                </a:solidFill>
                <a:latin typeface="Arial" pitchFamily="34" charset="0"/>
                <a:ea typeface="Arial" pitchFamily="34" charset="-122"/>
                <a:cs typeface="Arial" pitchFamily="34" charset="-120"/>
              </a:rPr>
              <a:t>An AI agent that checks the work and pays for it</a:t>
            </a:r>
            <a:endParaRPr lang="en-US" sz="3400" dirty="0"/>
          </a:p>
        </p:txBody>
      </p:sp>
      <p:sp>
        <p:nvSpPr>
          <p:cNvPr id="4" name="Text 2"/>
          <p:cNvSpPr txBox="1"/>
          <p:nvPr/>
        </p:nvSpPr>
        <p:spPr>
          <a:xfrm>
            <a:off x="685800" y="1645920"/>
            <a:ext cx="10789920" cy="411480"/>
          </a:xfrm>
          <a:prstGeom prst="rect">
            <a:avLst/>
          </a:prstGeom>
          <a:noFill/>
          <a:ln/>
        </p:spPr>
        <p:txBody>
          <a:bodyPr wrap="square" lIns="0" tIns="0" rIns="0" bIns="0" rtlCol="0" anchor="t"/>
          <a:lstStyle/>
          <a:p>
            <a:pPr indent="0" marL="0">
              <a:buNone/>
            </a:pPr>
            <a:r>
              <a:rPr lang="en-US" sz="1600" dirty="0">
                <a:solidFill>
                  <a:srgbClr val="3D4148"/>
                </a:solidFill>
                <a:latin typeface="Arial" pitchFamily="34" charset="0"/>
                <a:ea typeface="Arial" pitchFamily="34" charset="-122"/>
                <a:cs typeface="Arial" pitchFamily="34" charset="-120"/>
              </a:rPr>
              <a:t>In minutes, from a vault it can't overspend. And every payment becomes a credit record a lender can read.</a:t>
            </a:r>
            <a:endParaRPr lang="en-US" sz="1600" dirty="0"/>
          </a:p>
        </p:txBody>
      </p:sp>
      <p:pic>
        <p:nvPicPr>
          <p:cNvPr id="5" name="Image 0" descr="1st Place Grand Champion certificate, OpenClaw Summer Bootcamp 2026">    </p:cNvPr>
          <p:cNvPicPr>
            <a:picLocks noChangeAspect="1"/>
          </p:cNvPicPr>
          <p:nvPr/>
        </p:nvPicPr>
        <p:blipFill>
          <a:blip r:embed="rId1"/>
          <a:stretch>
            <a:fillRect/>
          </a:stretch>
        </p:blipFill>
        <p:spPr>
          <a:xfrm rot="-90000">
            <a:off x="777240" y="2423160"/>
            <a:ext cx="4480560" cy="3462833"/>
          </a:xfrm>
          <a:prstGeom prst="rect">
            <a:avLst/>
          </a:prstGeom>
          <a:effectLst>
            <a:outerShdw sx="100000" sy="100000" kx="0" ky="0" algn="bl" rotWithShape="0" blurRad="152400" dist="50800" dir="5400000">
              <a:srgbClr val="1A1D21">
                <a:alpha val="18000"/>
              </a:srgbClr>
            </a:outerShdw>
          </a:effectLst>
        </p:spPr>
      </p:pic>
      <p:sp>
        <p:nvSpPr>
          <p:cNvPr id="6" name="Shape 3"/>
          <p:cNvSpPr/>
          <p:nvPr/>
        </p:nvSpPr>
        <p:spPr>
          <a:xfrm>
            <a:off x="5897880" y="2514600"/>
            <a:ext cx="3931920" cy="502920"/>
          </a:xfrm>
          <a:prstGeom prst="roundRect">
            <a:avLst>
              <a:gd name="adj" fmla="val 49091"/>
            </a:avLst>
          </a:prstGeom>
          <a:solidFill>
            <a:srgbClr val="FDF1EA"/>
          </a:solidFill>
          <a:ln w="12700">
            <a:solidFill>
              <a:srgbClr val="FDF1EA"/>
            </a:solidFill>
            <a:prstDash val="solid"/>
          </a:ln>
        </p:spPr>
      </p:sp>
      <p:sp>
        <p:nvSpPr>
          <p:cNvPr id="7" name="Text 4"/>
          <p:cNvSpPr txBox="1"/>
          <p:nvPr/>
        </p:nvSpPr>
        <p:spPr>
          <a:xfrm>
            <a:off x="5897880" y="2514600"/>
            <a:ext cx="3931920" cy="502920"/>
          </a:xfrm>
          <a:prstGeom prst="rect">
            <a:avLst/>
          </a:prstGeom>
          <a:noFill/>
          <a:ln/>
        </p:spPr>
        <p:txBody>
          <a:bodyPr wrap="square" lIns="0" tIns="0" rIns="0" bIns="0" rtlCol="0" anchor="ctr"/>
          <a:lstStyle/>
          <a:p>
            <a:pPr algn="ctr" indent="0" marL="0">
              <a:buNone/>
            </a:pPr>
            <a:r>
              <a:rPr lang="en-US" sz="1400" b="1" spc="200" kern="0" dirty="0">
                <a:solidFill>
                  <a:srgbClr val="C2410C"/>
                </a:solidFill>
                <a:latin typeface="Arial" pitchFamily="34" charset="0"/>
                <a:ea typeface="Arial" pitchFamily="34" charset="-122"/>
                <a:cs typeface="Arial" pitchFamily="34" charset="-120"/>
              </a:rPr>
              <a:t>1ST PLACE  ·  GRAND CHAMPION</a:t>
            </a:r>
            <a:endParaRPr lang="en-US" sz="1400" dirty="0"/>
          </a:p>
        </p:txBody>
      </p:sp>
      <p:sp>
        <p:nvSpPr>
          <p:cNvPr id="8" name="Text 5"/>
          <p:cNvSpPr txBox="1"/>
          <p:nvPr/>
        </p:nvSpPr>
        <p:spPr>
          <a:xfrm>
            <a:off x="5897880" y="3154680"/>
            <a:ext cx="5577840" cy="548640"/>
          </a:xfrm>
          <a:prstGeom prst="rect">
            <a:avLst/>
          </a:prstGeom>
          <a:noFill/>
          <a:ln/>
        </p:spPr>
        <p:txBody>
          <a:bodyPr wrap="square" lIns="0" tIns="0" rIns="0" bIns="0" rtlCol="0" anchor="t"/>
          <a:lstStyle/>
          <a:p>
            <a:pPr indent="0" marL="0">
              <a:buNone/>
            </a:pPr>
            <a:r>
              <a:rPr lang="en-US" sz="1500" dirty="0">
                <a:solidFill>
                  <a:srgbClr val="6B6F76"/>
                </a:solidFill>
                <a:latin typeface="Arial" pitchFamily="34" charset="0"/>
                <a:ea typeface="Arial" pitchFamily="34" charset="-122"/>
                <a:cs typeface="Arial" pitchFamily="34" charset="-120"/>
              </a:rPr>
              <a:t>OpenClaw Summer Bootcamp 2026: Metis Foundation, GOAT Network, ClawUp, CryptoChicks</a:t>
            </a:r>
            <a:endParaRPr lang="en-US" sz="1500" dirty="0"/>
          </a:p>
        </p:txBody>
      </p:sp>
      <p:sp>
        <p:nvSpPr>
          <p:cNvPr id="9" name="Text 6"/>
          <p:cNvSpPr txBox="1"/>
          <p:nvPr/>
        </p:nvSpPr>
        <p:spPr>
          <a:xfrm>
            <a:off x="5897880" y="3794760"/>
            <a:ext cx="5577840" cy="411480"/>
          </a:xfrm>
          <a:prstGeom prst="rect">
            <a:avLst/>
          </a:prstGeom>
          <a:noFill/>
          <a:ln/>
        </p:spPr>
        <p:txBody>
          <a:bodyPr wrap="square" lIns="0" tIns="0" rIns="0" bIns="0" rtlCol="0" anchor="t"/>
          <a:lstStyle/>
          <a:p>
            <a:pPr indent="0" marL="0">
              <a:buNone/>
            </a:pPr>
            <a:r>
              <a:rPr lang="en-US" sz="2000" b="1" dirty="0">
                <a:solidFill>
                  <a:srgbClr val="1A1D21"/>
                </a:solidFill>
                <a:latin typeface="Arial" pitchFamily="34" charset="0"/>
                <a:ea typeface="Arial" pitchFamily="34" charset="-122"/>
                <a:cs typeface="Arial" pitchFamily="34" charset="-120"/>
              </a:rPr>
              <a:t>Real people, real money, since July</a:t>
            </a:r>
            <a:endParaRPr lang="en-US" sz="2000" dirty="0"/>
          </a:p>
        </p:txBody>
      </p:sp>
      <p:sp>
        <p:nvSpPr>
          <p:cNvPr id="10" name="Text 7"/>
          <p:cNvSpPr txBox="1"/>
          <p:nvPr/>
        </p:nvSpPr>
        <p:spPr>
          <a:xfrm>
            <a:off x="5897880" y="4343400"/>
            <a:ext cx="1371600" cy="502920"/>
          </a:xfrm>
          <a:prstGeom prst="rect">
            <a:avLst/>
          </a:prstGeom>
          <a:noFill/>
          <a:ln/>
        </p:spPr>
        <p:txBody>
          <a:bodyPr wrap="square" lIns="0" tIns="0" rIns="0" bIns="0" rtlCol="0" anchor="t"/>
          <a:lstStyle/>
          <a:p>
            <a:pPr indent="0" marL="0">
              <a:buNone/>
            </a:pPr>
            <a:r>
              <a:rPr lang="en-US" sz="2600" b="1" dirty="0">
                <a:solidFill>
                  <a:srgbClr val="1A1D21"/>
                </a:solidFill>
                <a:latin typeface="Arial" pitchFamily="34" charset="0"/>
                <a:ea typeface="Arial" pitchFamily="34" charset="-122"/>
                <a:cs typeface="Arial" pitchFamily="34" charset="-120"/>
              </a:rPr>
              <a:t>$76.48</a:t>
            </a:r>
            <a:endParaRPr lang="en-US" sz="2600" dirty="0"/>
          </a:p>
        </p:txBody>
      </p:sp>
      <p:sp>
        <p:nvSpPr>
          <p:cNvPr id="11" name="Text 8"/>
          <p:cNvSpPr txBox="1"/>
          <p:nvPr/>
        </p:nvSpPr>
        <p:spPr>
          <a:xfrm>
            <a:off x="5897880" y="4846320"/>
            <a:ext cx="1325880" cy="50292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settled</a:t>
            </a:r>
            <a:endParaRPr lang="en-US" sz="1200" dirty="0"/>
          </a:p>
        </p:txBody>
      </p:sp>
      <p:sp>
        <p:nvSpPr>
          <p:cNvPr id="12" name="Text 9"/>
          <p:cNvSpPr txBox="1"/>
          <p:nvPr/>
        </p:nvSpPr>
        <p:spPr>
          <a:xfrm>
            <a:off x="7315200" y="4343400"/>
            <a:ext cx="1371600" cy="502920"/>
          </a:xfrm>
          <a:prstGeom prst="rect">
            <a:avLst/>
          </a:prstGeom>
          <a:noFill/>
          <a:ln/>
        </p:spPr>
        <p:txBody>
          <a:bodyPr wrap="square" lIns="0" tIns="0" rIns="0" bIns="0" rtlCol="0" anchor="t"/>
          <a:lstStyle/>
          <a:p>
            <a:pPr indent="0" marL="0">
              <a:buNone/>
            </a:pPr>
            <a:r>
              <a:rPr lang="en-US" sz="2600" b="1" dirty="0">
                <a:solidFill>
                  <a:srgbClr val="1A1D21"/>
                </a:solidFill>
                <a:latin typeface="Arial" pitchFamily="34" charset="0"/>
                <a:ea typeface="Arial" pitchFamily="34" charset="-122"/>
                <a:cs typeface="Arial" pitchFamily="34" charset="-120"/>
              </a:rPr>
              <a:t>45</a:t>
            </a:r>
            <a:endParaRPr lang="en-US" sz="2600" dirty="0"/>
          </a:p>
        </p:txBody>
      </p:sp>
      <p:sp>
        <p:nvSpPr>
          <p:cNvPr id="13" name="Text 10"/>
          <p:cNvSpPr txBox="1"/>
          <p:nvPr/>
        </p:nvSpPr>
        <p:spPr>
          <a:xfrm>
            <a:off x="7315200" y="4846320"/>
            <a:ext cx="1325880" cy="50292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mainnet payments</a:t>
            </a:r>
            <a:endParaRPr lang="en-US" sz="1200" dirty="0"/>
          </a:p>
        </p:txBody>
      </p:sp>
      <p:sp>
        <p:nvSpPr>
          <p:cNvPr id="14" name="Text 11"/>
          <p:cNvSpPr txBox="1"/>
          <p:nvPr/>
        </p:nvSpPr>
        <p:spPr>
          <a:xfrm>
            <a:off x="8732520" y="4343400"/>
            <a:ext cx="1371600" cy="502920"/>
          </a:xfrm>
          <a:prstGeom prst="rect">
            <a:avLst/>
          </a:prstGeom>
          <a:noFill/>
          <a:ln/>
        </p:spPr>
        <p:txBody>
          <a:bodyPr wrap="square" lIns="0" tIns="0" rIns="0" bIns="0" rtlCol="0" anchor="t"/>
          <a:lstStyle/>
          <a:p>
            <a:pPr indent="0" marL="0">
              <a:buNone/>
            </a:pPr>
            <a:r>
              <a:rPr lang="en-US" sz="2600" b="1" dirty="0">
                <a:solidFill>
                  <a:srgbClr val="1A1D21"/>
                </a:solidFill>
                <a:latin typeface="Arial" pitchFamily="34" charset="0"/>
                <a:ea typeface="Arial" pitchFamily="34" charset="-122"/>
                <a:cs typeface="Arial" pitchFamily="34" charset="-120"/>
              </a:rPr>
              <a:t>25</a:t>
            </a:r>
            <a:endParaRPr lang="en-US" sz="2600" dirty="0"/>
          </a:p>
        </p:txBody>
      </p:sp>
      <p:sp>
        <p:nvSpPr>
          <p:cNvPr id="15" name="Text 12"/>
          <p:cNvSpPr txBox="1"/>
          <p:nvPr/>
        </p:nvSpPr>
        <p:spPr>
          <a:xfrm>
            <a:off x="8732520" y="4846320"/>
            <a:ext cx="1325880" cy="50292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people paid</a:t>
            </a:r>
            <a:endParaRPr lang="en-US" sz="1200" dirty="0"/>
          </a:p>
        </p:txBody>
      </p:sp>
      <p:sp>
        <p:nvSpPr>
          <p:cNvPr id="16" name="Text 13"/>
          <p:cNvSpPr txBox="1"/>
          <p:nvPr/>
        </p:nvSpPr>
        <p:spPr>
          <a:xfrm>
            <a:off x="10149840" y="4343400"/>
            <a:ext cx="1371600" cy="502920"/>
          </a:xfrm>
          <a:prstGeom prst="rect">
            <a:avLst/>
          </a:prstGeom>
          <a:noFill/>
          <a:ln/>
        </p:spPr>
        <p:txBody>
          <a:bodyPr wrap="square" lIns="0" tIns="0" rIns="0" bIns="0" rtlCol="0" anchor="t"/>
          <a:lstStyle/>
          <a:p>
            <a:pPr indent="0" marL="0">
              <a:buNone/>
            </a:pPr>
            <a:r>
              <a:rPr lang="en-US" sz="2600" b="1" dirty="0">
                <a:solidFill>
                  <a:srgbClr val="1A1D21"/>
                </a:solidFill>
                <a:latin typeface="Arial" pitchFamily="34" charset="0"/>
                <a:ea typeface="Arial" pitchFamily="34" charset="-122"/>
                <a:cs typeface="Arial" pitchFamily="34" charset="-120"/>
              </a:rPr>
              <a:t>26</a:t>
            </a:r>
            <a:endParaRPr lang="en-US" sz="2600" dirty="0"/>
          </a:p>
        </p:txBody>
      </p:sp>
      <p:sp>
        <p:nvSpPr>
          <p:cNvPr id="17" name="Text 14"/>
          <p:cNvSpPr txBox="1"/>
          <p:nvPr/>
        </p:nvSpPr>
        <p:spPr>
          <a:xfrm>
            <a:off x="10149840" y="4846320"/>
            <a:ext cx="1325880" cy="50292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refusals, each explained</a:t>
            </a:r>
            <a:endParaRPr lang="en-US" sz="1200" dirty="0"/>
          </a:p>
        </p:txBody>
      </p:sp>
      <p:sp>
        <p:nvSpPr>
          <p:cNvPr id="18" name="Text 15"/>
          <p:cNvSpPr txBox="1"/>
          <p:nvPr/>
        </p:nvSpPr>
        <p:spPr>
          <a:xfrm>
            <a:off x="5897880" y="5577840"/>
            <a:ext cx="5577840" cy="274320"/>
          </a:xfrm>
          <a:prstGeom prst="rect">
            <a:avLst/>
          </a:prstGeom>
          <a:noFill/>
          <a:ln/>
        </p:spPr>
        <p:txBody>
          <a:bodyPr wrap="square" lIns="0" tIns="0" rIns="0" bIns="0" rtlCol="0" anchor="t"/>
          <a:lstStyle/>
          <a:p>
            <a:pPr indent="0" marL="0">
              <a:buNone/>
            </a:pPr>
            <a:r>
              <a:rPr lang="en-US" sz="1100" dirty="0">
                <a:solidFill>
                  <a:srgbClr val="A4A7AD"/>
                </a:solidFill>
                <a:latin typeface="Arial" pitchFamily="34" charset="0"/>
                <a:ea typeface="Arial" pitchFamily="34" charset="-122"/>
                <a:cs typeface="Arial" pitchFamily="34" charset="-120"/>
              </a:rPr>
              <a:t>Read from the public ledger at sagepays.xyz/explorer, 10 Oct 2026</a:t>
            </a:r>
            <a:endParaRPr lang="en-US" sz="11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5800" y="640080"/>
            <a:ext cx="1554480" cy="502920"/>
          </a:xfrm>
          <a:prstGeom prst="roundRect">
            <a:avLst>
              <a:gd name="adj" fmla="val 49091"/>
            </a:avLst>
          </a:prstGeom>
          <a:solidFill>
            <a:srgbClr val="1A1D21"/>
          </a:solidFill>
          <a:ln w="15875">
            <a:solidFill>
              <a:srgbClr val="C2410C"/>
            </a:solidFill>
            <a:prstDash val="solid"/>
          </a:ln>
        </p:spPr>
      </p:sp>
      <p:sp>
        <p:nvSpPr>
          <p:cNvPr id="3" name="Shape 1"/>
          <p:cNvSpPr/>
          <p:nvPr/>
        </p:nvSpPr>
        <p:spPr>
          <a:xfrm>
            <a:off x="914400" y="804672"/>
            <a:ext cx="173736" cy="173736"/>
          </a:xfrm>
          <a:prstGeom prst="ellipse">
            <a:avLst/>
          </a:prstGeom>
          <a:solidFill>
            <a:srgbClr val="C2410C"/>
          </a:solidFill>
          <a:ln w="12700">
            <a:solidFill>
              <a:srgbClr val="C2410C"/>
            </a:solidFill>
            <a:prstDash val="solid"/>
          </a:ln>
        </p:spPr>
      </p:sp>
      <p:sp>
        <p:nvSpPr>
          <p:cNvPr id="4" name="Text 2"/>
          <p:cNvSpPr txBox="1"/>
          <p:nvPr/>
        </p:nvSpPr>
        <p:spPr>
          <a:xfrm>
            <a:off x="1188720" y="640080"/>
            <a:ext cx="1005840" cy="502920"/>
          </a:xfrm>
          <a:prstGeom prst="rect">
            <a:avLst/>
          </a:prstGeom>
          <a:noFill/>
          <a:ln/>
        </p:spPr>
        <p:txBody>
          <a:bodyPr wrap="square" lIns="0" tIns="0" rIns="0" bIns="0" rtlCol="0" anchor="ctr"/>
          <a:lstStyle/>
          <a:p>
            <a:pPr indent="0" marL="0">
              <a:buNone/>
            </a:pPr>
            <a:r>
              <a:rPr lang="en-US" sz="1400" b="1" spc="300" kern="0" dirty="0">
                <a:solidFill>
                  <a:srgbClr val="C2410C"/>
                </a:solidFill>
                <a:latin typeface="Arial" pitchFamily="34" charset="0"/>
                <a:ea typeface="Arial" pitchFamily="34" charset="-122"/>
                <a:cs typeface="Arial" pitchFamily="34" charset="-120"/>
              </a:rPr>
              <a:t>LIVE</a:t>
            </a:r>
            <a:endParaRPr lang="en-US" sz="1400" dirty="0"/>
          </a:p>
        </p:txBody>
      </p:sp>
      <p:sp>
        <p:nvSpPr>
          <p:cNvPr id="5" name="Text 3"/>
          <p:cNvSpPr txBox="1"/>
          <p:nvPr/>
        </p:nvSpPr>
        <p:spPr>
          <a:xfrm>
            <a:off x="685800" y="1371600"/>
            <a:ext cx="10789920" cy="114300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Let me show you.</a:t>
            </a:r>
            <a:endParaRPr lang="en-US" sz="6600" dirty="0"/>
          </a:p>
        </p:txBody>
      </p:sp>
      <p:sp>
        <p:nvSpPr>
          <p:cNvPr id="6" name="Shape 4"/>
          <p:cNvSpPr/>
          <p:nvPr/>
        </p:nvSpPr>
        <p:spPr>
          <a:xfrm>
            <a:off x="685800" y="2834640"/>
            <a:ext cx="6766560" cy="2651760"/>
          </a:xfrm>
          <a:prstGeom prst="roundRect">
            <a:avLst>
              <a:gd name="adj" fmla="val 5517"/>
            </a:avLst>
          </a:prstGeom>
          <a:solidFill>
            <a:srgbClr val="FBFBF9"/>
          </a:solidFill>
          <a:ln w="12700">
            <a:solidFill>
              <a:srgbClr val="FBFBF9"/>
            </a:solidFill>
            <a:prstDash val="solid"/>
          </a:ln>
        </p:spPr>
      </p:sp>
      <p:sp>
        <p:nvSpPr>
          <p:cNvPr id="7" name="Text 5"/>
          <p:cNvSpPr txBox="1"/>
          <p:nvPr/>
        </p:nvSpPr>
        <p:spPr>
          <a:xfrm>
            <a:off x="1051560" y="3108960"/>
            <a:ext cx="6035040" cy="320040"/>
          </a:xfrm>
          <a:prstGeom prst="rect">
            <a:avLst/>
          </a:prstGeom>
          <a:noFill/>
          <a:ln/>
        </p:spPr>
        <p:txBody>
          <a:bodyPr wrap="square" lIns="0" tIns="0" rIns="0" bIns="0" rtlCol="0" anchor="t"/>
          <a:lstStyle/>
          <a:p>
            <a:pPr indent="0" marL="0">
              <a:buNone/>
            </a:pPr>
            <a:r>
              <a:rPr lang="en-US" sz="1200" b="1" spc="300" kern="0" dirty="0">
                <a:solidFill>
                  <a:srgbClr val="6B6F76"/>
                </a:solidFill>
                <a:latin typeface="Arial" pitchFamily="34" charset="0"/>
                <a:ea typeface="Arial" pitchFamily="34" charset="-122"/>
                <a:cs typeface="Arial" pitchFamily="34" charset="-120"/>
              </a:rPr>
              <a:t>THE JOB I'M ABOUT TO POST</a:t>
            </a:r>
            <a:endParaRPr lang="en-US" sz="1200" dirty="0"/>
          </a:p>
        </p:txBody>
      </p:sp>
      <p:sp>
        <p:nvSpPr>
          <p:cNvPr id="8" name="Text 6"/>
          <p:cNvSpPr txBox="1"/>
          <p:nvPr/>
        </p:nvSpPr>
        <p:spPr>
          <a:xfrm>
            <a:off x="1051560" y="3520440"/>
            <a:ext cx="6035040" cy="1097280"/>
          </a:xfrm>
          <a:prstGeom prst="rect">
            <a:avLst/>
          </a:prstGeom>
          <a:noFill/>
          <a:ln/>
        </p:spPr>
        <p:txBody>
          <a:bodyPr wrap="square" lIns="0" tIns="0" rIns="0" bIns="0" rtlCol="0" anchor="t"/>
          <a:lstStyle/>
          <a:p>
            <a:pPr indent="0" marL="0">
              <a:buNone/>
            </a:pPr>
            <a:r>
              <a:rPr lang="en-US" sz="2100" b="1" dirty="0">
                <a:solidFill>
                  <a:srgbClr val="1A1D21"/>
                </a:solidFill>
                <a:latin typeface="Arial" pitchFamily="34" charset="0"/>
                <a:ea typeface="Arial" pitchFamily="34" charset="-122"/>
                <a:cs typeface="Arial" pitchFamily="34" charset="-120"/>
              </a:rPr>
              <a:t>“Put my shop's price list online: three items, each priced in Jamaican dollars, on a public page.”</a:t>
            </a:r>
            <a:endParaRPr lang="en-US" sz="2100" dirty="0"/>
          </a:p>
        </p:txBody>
      </p:sp>
      <p:sp>
        <p:nvSpPr>
          <p:cNvPr id="9" name="Text 7"/>
          <p:cNvSpPr txBox="1"/>
          <p:nvPr/>
        </p:nvSpPr>
        <p:spPr>
          <a:xfrm>
            <a:off x="1051560" y="4663440"/>
            <a:ext cx="6035040" cy="640080"/>
          </a:xfrm>
          <a:prstGeom prst="rect">
            <a:avLst/>
          </a:prstGeom>
          <a:noFill/>
          <a:ln/>
        </p:spPr>
        <p:txBody>
          <a:bodyPr wrap="square" lIns="0" tIns="0" rIns="0" bIns="0" rtlCol="0" anchor="ctr"/>
          <a:lstStyle/>
          <a:p>
            <a:pPr indent="0" marL="0">
              <a:buNone/>
            </a:pPr>
            <a:r>
              <a:rPr lang="en-US" sz="4000" b="1" dirty="0">
                <a:solidFill>
                  <a:srgbClr val="1A1D21"/>
                </a:solidFill>
                <a:latin typeface="Arial" pitchFamily="34" charset="0"/>
                <a:ea typeface="Arial" pitchFamily="34" charset="-122"/>
                <a:cs typeface="Arial" pitchFamily="34" charset="-120"/>
              </a:rPr>
              <a:t>J$160  </a:t>
            </a:r>
            <a:pPr indent="0" marL="0">
              <a:buNone/>
            </a:pPr>
            <a:r>
              <a:rPr lang="en-US" sz="1600" dirty="0">
                <a:solidFill>
                  <a:srgbClr val="6B6F76"/>
                </a:solidFill>
                <a:latin typeface="Arial" pitchFamily="34" charset="0"/>
                <a:ea typeface="Arial" pitchFamily="34" charset="-122"/>
                <a:cs typeface="Arial" pitchFamily="34" charset="-120"/>
              </a:rPr>
              <a:t>one payment</a:t>
            </a:r>
            <a:endParaRPr lang="en-US" sz="4000" dirty="0"/>
          </a:p>
        </p:txBody>
      </p:sp>
      <p:sp>
        <p:nvSpPr>
          <p:cNvPr id="10" name="Shape 8"/>
          <p:cNvSpPr/>
          <p:nvPr/>
        </p:nvSpPr>
        <p:spPr>
          <a:xfrm>
            <a:off x="8001000" y="3017520"/>
            <a:ext cx="457200" cy="457200"/>
          </a:xfrm>
          <a:prstGeom prst="ellipse">
            <a:avLst/>
          </a:prstGeom>
          <a:solidFill>
            <a:srgbClr val="C2410C"/>
          </a:solidFill>
          <a:ln w="12700">
            <a:solidFill>
              <a:srgbClr val="C2410C"/>
            </a:solidFill>
            <a:prstDash val="solid"/>
          </a:ln>
        </p:spPr>
      </p:sp>
      <p:sp>
        <p:nvSpPr>
          <p:cNvPr id="11" name="Text 9"/>
          <p:cNvSpPr txBox="1"/>
          <p:nvPr/>
        </p:nvSpPr>
        <p:spPr>
          <a:xfrm>
            <a:off x="800100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10"/>
          <p:cNvSpPr txBox="1"/>
          <p:nvPr/>
        </p:nvSpPr>
        <p:spPr>
          <a:xfrm>
            <a:off x="8686800" y="2999232"/>
            <a:ext cx="3291840" cy="384048"/>
          </a:xfrm>
          <a:prstGeom prst="rect">
            <a:avLst/>
          </a:prstGeom>
          <a:noFill/>
          <a:ln/>
        </p:spPr>
        <p:txBody>
          <a:bodyPr wrap="square" lIns="0" tIns="0" rIns="0" bIns="0" rtlCol="0" anchor="t"/>
          <a:lstStyle/>
          <a:p>
            <a:pPr indent="0" marL="0">
              <a:buNone/>
            </a:pPr>
            <a:r>
              <a:rPr lang="en-US" sz="1800" b="1" dirty="0">
                <a:solidFill>
                  <a:srgbClr val="E9E7E1"/>
                </a:solidFill>
                <a:latin typeface="Arial" pitchFamily="34" charset="0"/>
                <a:ea typeface="Arial" pitchFamily="34" charset="-122"/>
                <a:cs typeface="Arial" pitchFamily="34" charset="-120"/>
              </a:rPr>
              <a:t>I post it, as the buyer</a:t>
            </a:r>
            <a:endParaRPr lang="en-US" sz="1800" dirty="0"/>
          </a:p>
        </p:txBody>
      </p:sp>
      <p:sp>
        <p:nvSpPr>
          <p:cNvPr id="13" name="Shape 11"/>
          <p:cNvSpPr/>
          <p:nvPr/>
        </p:nvSpPr>
        <p:spPr>
          <a:xfrm>
            <a:off x="8001000" y="3886200"/>
            <a:ext cx="457200" cy="457200"/>
          </a:xfrm>
          <a:prstGeom prst="ellipse">
            <a:avLst/>
          </a:prstGeom>
          <a:solidFill>
            <a:srgbClr val="C2410C"/>
          </a:solidFill>
          <a:ln w="12700">
            <a:solidFill>
              <a:srgbClr val="C2410C"/>
            </a:solidFill>
            <a:prstDash val="solid"/>
          </a:ln>
        </p:spPr>
      </p:sp>
      <p:sp>
        <p:nvSpPr>
          <p:cNvPr id="14" name="Text 12"/>
          <p:cNvSpPr txBox="1"/>
          <p:nvPr/>
        </p:nvSpPr>
        <p:spPr>
          <a:xfrm>
            <a:off x="800100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txBox="1"/>
          <p:nvPr/>
        </p:nvSpPr>
        <p:spPr>
          <a:xfrm>
            <a:off x="8686800" y="3867912"/>
            <a:ext cx="3291840" cy="384048"/>
          </a:xfrm>
          <a:prstGeom prst="rect">
            <a:avLst/>
          </a:prstGeom>
          <a:noFill/>
          <a:ln/>
        </p:spPr>
        <p:txBody>
          <a:bodyPr wrap="square" lIns="0" tIns="0" rIns="0" bIns="0" rtlCol="0" anchor="t"/>
          <a:lstStyle/>
          <a:p>
            <a:pPr indent="0" marL="0">
              <a:buNone/>
            </a:pPr>
            <a:r>
              <a:rPr lang="en-US" sz="1800" b="1" dirty="0">
                <a:solidFill>
                  <a:srgbClr val="E9E7E1"/>
                </a:solidFill>
                <a:latin typeface="Arial" pitchFamily="34" charset="0"/>
                <a:ea typeface="Arial" pitchFamily="34" charset="-122"/>
                <a:cs typeface="Arial" pitchFamily="34" charset="-120"/>
              </a:rPr>
              <a:t>I do it, as the seller</a:t>
            </a:r>
            <a:endParaRPr lang="en-US" sz="1800" dirty="0"/>
          </a:p>
        </p:txBody>
      </p:sp>
      <p:sp>
        <p:nvSpPr>
          <p:cNvPr id="16" name="Shape 14"/>
          <p:cNvSpPr/>
          <p:nvPr/>
        </p:nvSpPr>
        <p:spPr>
          <a:xfrm>
            <a:off x="8001000" y="4754880"/>
            <a:ext cx="457200" cy="457200"/>
          </a:xfrm>
          <a:prstGeom prst="ellipse">
            <a:avLst/>
          </a:prstGeom>
          <a:solidFill>
            <a:srgbClr val="C2410C"/>
          </a:solidFill>
          <a:ln w="12700">
            <a:solidFill>
              <a:srgbClr val="C2410C"/>
            </a:solidFill>
            <a:prstDash val="solid"/>
          </a:ln>
        </p:spPr>
      </p:sp>
      <p:sp>
        <p:nvSpPr>
          <p:cNvPr id="17" name="Text 15"/>
          <p:cNvSpPr txBox="1"/>
          <p:nvPr/>
        </p:nvSpPr>
        <p:spPr>
          <a:xfrm>
            <a:off x="800100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8686800" y="4736592"/>
            <a:ext cx="3291840" cy="384048"/>
          </a:xfrm>
          <a:prstGeom prst="rect">
            <a:avLst/>
          </a:prstGeom>
          <a:noFill/>
          <a:ln/>
        </p:spPr>
        <p:txBody>
          <a:bodyPr wrap="square" lIns="0" tIns="0" rIns="0" bIns="0" rtlCol="0" anchor="t"/>
          <a:lstStyle/>
          <a:p>
            <a:pPr indent="0" marL="0">
              <a:buNone/>
            </a:pPr>
            <a:r>
              <a:rPr lang="en-US" sz="1800" b="1" dirty="0">
                <a:solidFill>
                  <a:srgbClr val="E9E7E1"/>
                </a:solidFill>
                <a:latin typeface="Arial" pitchFamily="34" charset="0"/>
                <a:ea typeface="Arial" pitchFamily="34" charset="-122"/>
                <a:cs typeface="Arial" pitchFamily="34" charset="-120"/>
              </a:rPr>
              <a:t>Sage checks it and pays. Nobody approves it.</a:t>
            </a:r>
            <a:endParaRPr lang="en-US" sz="1800" dirty="0"/>
          </a:p>
        </p:txBody>
      </p:sp>
      <p:sp>
        <p:nvSpPr>
          <p:cNvPr id="19" name="Text 17"/>
          <p:cNvSpPr txBox="1"/>
          <p:nvPr/>
        </p:nvSpPr>
        <p:spPr>
          <a:xfrm>
            <a:off x="685800" y="5897880"/>
            <a:ext cx="10789920" cy="411480"/>
          </a:xfrm>
          <a:prstGeom prst="rect">
            <a:avLst/>
          </a:prstGeom>
          <a:noFill/>
          <a:ln/>
        </p:spPr>
        <p:txBody>
          <a:bodyPr wrap="square" lIns="0" tIns="0" rIns="0" bIns="0" rtlCol="0" anchor="t"/>
          <a:lstStyle/>
          <a:p>
            <a:pPr indent="0" marL="0">
              <a:buNone/>
            </a:pPr>
            <a:r>
              <a:rPr lang="en-US" sz="1400" dirty="0">
                <a:solidFill>
                  <a:srgbClr val="9CA0A8"/>
                </a:solidFill>
                <a:latin typeface="Arial" pitchFamily="34" charset="0"/>
                <a:ea typeface="Arial" pitchFamily="34" charset="-122"/>
                <a:cs typeface="Arial" pitchFamily="34" charset="-120"/>
              </a:rPr>
              <a:t>Real USDC on Arc mainnet. Every payment is a public transaction. 45 mainnet payments since July.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548640"/>
            <a:ext cx="10789920" cy="731520"/>
          </a:xfrm>
          <a:prstGeom prst="rect">
            <a:avLst/>
          </a:prstGeom>
          <a:noFill/>
          <a:ln/>
        </p:spPr>
        <p:txBody>
          <a:bodyPr wrap="square" lIns="0" tIns="0" rIns="0" bIns="0" rtlCol="0" anchor="t"/>
          <a:lstStyle/>
          <a:p>
            <a:pPr indent="0" marL="0">
              <a:buNone/>
            </a:pPr>
            <a:r>
              <a:rPr lang="en-US" sz="3200" b="1" dirty="0">
                <a:solidFill>
                  <a:srgbClr val="1A1D21"/>
                </a:solidFill>
                <a:latin typeface="Arial" pitchFamily="34" charset="0"/>
                <a:ea typeface="Arial" pitchFamily="34" charset="-122"/>
                <a:cs typeface="Arial" pitchFamily="34" charset="-120"/>
              </a:rPr>
              <a:t>A receipt for every payment, and a credit record</a:t>
            </a:r>
            <a:endParaRPr lang="en-US" sz="3200" dirty="0"/>
          </a:p>
        </p:txBody>
      </p:sp>
      <p:sp>
        <p:nvSpPr>
          <p:cNvPr id="3" name="A real decision receipt frame"/>
          <p:cNvSpPr/>
          <p:nvPr/>
        </p:nvSpPr>
        <p:spPr>
          <a:xfrm>
            <a:off x="685800" y="1508760"/>
            <a:ext cx="5394960" cy="3374136"/>
          </a:xfrm>
          <a:prstGeom prst="roundRect">
            <a:avLst>
              <a:gd name="adj" fmla="val 3794"/>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pic>
        <p:nvPicPr>
          <p:cNvPr id="4" name="Image 0" descr="A real decision receipt">    </p:cNvPr>
          <p:cNvPicPr>
            <a:picLocks noChangeAspect="1"/>
          </p:cNvPicPr>
          <p:nvPr/>
        </p:nvPicPr>
        <p:blipFill>
          <a:blip r:embed="rId1"/>
          <a:srcRect l="0" r="0" t="0" b="0"/>
          <a:stretch/>
        </p:blipFill>
        <p:spPr>
          <a:xfrm>
            <a:off x="758952" y="1581912"/>
            <a:ext cx="5248656" cy="3227832"/>
          </a:xfrm>
          <a:prstGeom prst="rect">
            <a:avLst/>
          </a:prstGeom>
        </p:spPr>
      </p:pic>
      <p:sp>
        <p:nvSpPr>
          <p:cNvPr id="5" name="Text 2"/>
          <p:cNvSpPr txBox="1"/>
          <p:nvPr/>
        </p:nvSpPr>
        <p:spPr>
          <a:xfrm>
            <a:off x="685800" y="4937760"/>
            <a:ext cx="5394960" cy="274320"/>
          </a:xfrm>
          <a:prstGeom prst="rect">
            <a:avLst/>
          </a:prstGeom>
          <a:noFill/>
          <a:ln/>
        </p:spPr>
        <p:txBody>
          <a:bodyPr wrap="square" lIns="0" tIns="0" rIns="0" bIns="0" rtlCol="0" anchor="t"/>
          <a:lstStyle/>
          <a:p>
            <a:pPr indent="0" marL="0">
              <a:buNone/>
            </a:pPr>
            <a:r>
              <a:rPr lang="en-US" sz="1100" dirty="0">
                <a:solidFill>
                  <a:srgbClr val="A4A7AD"/>
                </a:solidFill>
                <a:latin typeface="Arial" pitchFamily="34" charset="0"/>
                <a:ea typeface="Arial" pitchFamily="34" charset="-122"/>
                <a:cs typeface="Arial" pitchFamily="34" charset="-120"/>
              </a:rPr>
              <a:t>The decision Sage recorded on a real-money rehearsal (Arc mainnet)</a:t>
            </a:r>
            <a:endParaRPr lang="en-US" sz="1100" dirty="0"/>
          </a:p>
        </p:txBody>
      </p:sp>
      <p:sp>
        <p:nvSpPr>
          <p:cNvPr id="6" name="The seller's verified work record frame"/>
          <p:cNvSpPr/>
          <p:nvPr/>
        </p:nvSpPr>
        <p:spPr>
          <a:xfrm>
            <a:off x="6355080" y="1508760"/>
            <a:ext cx="5166360" cy="1965960"/>
          </a:xfrm>
          <a:prstGeom prst="roundRect">
            <a:avLst>
              <a:gd name="adj" fmla="val 6512"/>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pic>
        <p:nvPicPr>
          <p:cNvPr id="7" name="Image 1" descr="The seller's verified work record">    </p:cNvPr>
          <p:cNvPicPr>
            <a:picLocks noChangeAspect="1"/>
          </p:cNvPicPr>
          <p:nvPr/>
        </p:nvPicPr>
        <p:blipFill>
          <a:blip r:embed="rId2"/>
          <a:srcRect l="0" r="0" t="0" b="0"/>
          <a:stretch/>
        </p:blipFill>
        <p:spPr>
          <a:xfrm>
            <a:off x="6428232" y="1581912"/>
            <a:ext cx="5020056" cy="1819656"/>
          </a:xfrm>
          <a:prstGeom prst="rect">
            <a:avLst/>
          </a:prstGeom>
        </p:spPr>
      </p:pic>
      <p:sp>
        <p:nvSpPr>
          <p:cNvPr id="8" name="Text 4"/>
          <p:cNvSpPr txBox="1"/>
          <p:nvPr/>
        </p:nvSpPr>
        <p:spPr>
          <a:xfrm>
            <a:off x="6355080" y="3529584"/>
            <a:ext cx="5166360" cy="274320"/>
          </a:xfrm>
          <a:prstGeom prst="rect">
            <a:avLst/>
          </a:prstGeom>
          <a:noFill/>
          <a:ln/>
        </p:spPr>
        <p:txBody>
          <a:bodyPr wrap="square" lIns="0" tIns="0" rIns="0" bIns="0" rtlCol="0" anchor="t"/>
          <a:lstStyle/>
          <a:p>
            <a:pPr indent="0" marL="0">
              <a:buNone/>
            </a:pPr>
            <a:r>
              <a:rPr lang="en-US" sz="1100" dirty="0">
                <a:solidFill>
                  <a:srgbClr val="A4A7AD"/>
                </a:solidFill>
                <a:latin typeface="Arial" pitchFamily="34" charset="0"/>
                <a:ea typeface="Arial" pitchFamily="34" charset="-122"/>
                <a:cs typeface="Arial" pitchFamily="34" charset="-120"/>
              </a:rPr>
              <a:t>The seller's live record on sagepays.xyz/record (excerpt)</a:t>
            </a:r>
            <a:endParaRPr lang="en-US" sz="1100" dirty="0"/>
          </a:p>
        </p:txBody>
      </p:sp>
      <p:sp>
        <p:nvSpPr>
          <p:cNvPr id="9" name="Shape 5"/>
          <p:cNvSpPr/>
          <p:nvPr/>
        </p:nvSpPr>
        <p:spPr>
          <a:xfrm>
            <a:off x="6355080" y="3977640"/>
            <a:ext cx="457200" cy="457200"/>
          </a:xfrm>
          <a:prstGeom prst="ellipse">
            <a:avLst/>
          </a:prstGeom>
          <a:solidFill>
            <a:srgbClr val="C2410C"/>
          </a:solidFill>
          <a:ln w="12700">
            <a:solidFill>
              <a:srgbClr val="C2410C"/>
            </a:solidFill>
            <a:prstDash val="solid"/>
          </a:ln>
        </p:spPr>
      </p:sp>
      <p:sp>
        <p:nvSpPr>
          <p:cNvPr id="10" name="Text 6"/>
          <p:cNvSpPr txBox="1"/>
          <p:nvPr/>
        </p:nvSpPr>
        <p:spPr>
          <a:xfrm>
            <a:off x="635508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7"/>
          <p:cNvSpPr txBox="1"/>
          <p:nvPr/>
        </p:nvSpPr>
        <p:spPr>
          <a:xfrm>
            <a:off x="7040880" y="3959352"/>
            <a:ext cx="4206240" cy="384048"/>
          </a:xfrm>
          <a:prstGeom prst="rect">
            <a:avLst/>
          </a:prstGeom>
          <a:noFill/>
          <a:ln/>
        </p:spPr>
        <p:txBody>
          <a:bodyPr wrap="square" lIns="0" tIns="0" rIns="0" bIns="0" rtlCol="0" anchor="t"/>
          <a:lstStyle/>
          <a:p>
            <a:pPr indent="0" marL="0">
              <a:buNone/>
            </a:pPr>
            <a:r>
              <a:rPr lang="en-US" sz="1700" b="1" dirty="0">
                <a:solidFill>
                  <a:srgbClr val="1A1D21"/>
                </a:solidFill>
                <a:latin typeface="Arial" pitchFamily="34" charset="0"/>
                <a:ea typeface="Arial" pitchFamily="34" charset="-122"/>
                <a:cs typeface="Arial" pitchFamily="34" charset="-120"/>
              </a:rPr>
              <a:t>Verified income</a:t>
            </a:r>
            <a:endParaRPr lang="en-US" sz="1700" dirty="0"/>
          </a:p>
        </p:txBody>
      </p:sp>
      <p:sp>
        <p:nvSpPr>
          <p:cNvPr id="12" name="Text 8"/>
          <p:cNvSpPr txBox="1"/>
          <p:nvPr/>
        </p:nvSpPr>
        <p:spPr>
          <a:xfrm>
            <a:off x="7040880" y="4361688"/>
            <a:ext cx="4206240" cy="320040"/>
          </a:xfrm>
          <a:prstGeom prst="rect">
            <a:avLst/>
          </a:prstGeom>
          <a:noFill/>
          <a:ln/>
        </p:spPr>
        <p:txBody>
          <a:bodyPr wrap="square" lIns="0" tIns="0" rIns="0" bIns="0" rtlCol="0" anchor="t"/>
          <a:lstStyle/>
          <a:p>
            <a:pPr indent="0" marL="0">
              <a:buNone/>
            </a:pPr>
            <a:r>
              <a:rPr lang="en-US" sz="1300" dirty="0">
                <a:solidFill>
                  <a:srgbClr val="6B6F76"/>
                </a:solidFill>
                <a:latin typeface="Arial" pitchFamily="34" charset="0"/>
                <a:ea typeface="Arial" pitchFamily="34" charset="-122"/>
                <a:cs typeface="Arial" pitchFamily="34" charset="-120"/>
              </a:rPr>
              <a:t>30 and 90 days, receipts only.</a:t>
            </a:r>
            <a:endParaRPr lang="en-US" sz="1300" dirty="0"/>
          </a:p>
        </p:txBody>
      </p:sp>
      <p:sp>
        <p:nvSpPr>
          <p:cNvPr id="13" name="Shape 9"/>
          <p:cNvSpPr/>
          <p:nvPr/>
        </p:nvSpPr>
        <p:spPr>
          <a:xfrm>
            <a:off x="6355080" y="4709160"/>
            <a:ext cx="457200" cy="457200"/>
          </a:xfrm>
          <a:prstGeom prst="ellipse">
            <a:avLst/>
          </a:prstGeom>
          <a:solidFill>
            <a:srgbClr val="C2410C"/>
          </a:solidFill>
          <a:ln w="12700">
            <a:solidFill>
              <a:srgbClr val="C2410C"/>
            </a:solidFill>
            <a:prstDash val="solid"/>
          </a:ln>
        </p:spPr>
      </p:sp>
      <p:sp>
        <p:nvSpPr>
          <p:cNvPr id="14" name="Text 10"/>
          <p:cNvSpPr txBox="1"/>
          <p:nvPr/>
        </p:nvSpPr>
        <p:spPr>
          <a:xfrm>
            <a:off x="635508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1"/>
          <p:cNvSpPr txBox="1"/>
          <p:nvPr/>
        </p:nvSpPr>
        <p:spPr>
          <a:xfrm>
            <a:off x="7040880" y="4690872"/>
            <a:ext cx="4206240" cy="384048"/>
          </a:xfrm>
          <a:prstGeom prst="rect">
            <a:avLst/>
          </a:prstGeom>
          <a:noFill/>
          <a:ln/>
        </p:spPr>
        <p:txBody>
          <a:bodyPr wrap="square" lIns="0" tIns="0" rIns="0" bIns="0" rtlCol="0" anchor="t"/>
          <a:lstStyle/>
          <a:p>
            <a:pPr indent="0" marL="0">
              <a:buNone/>
            </a:pPr>
            <a:r>
              <a:rPr lang="en-US" sz="1700" b="1" dirty="0">
                <a:solidFill>
                  <a:srgbClr val="1A1D21"/>
                </a:solidFill>
                <a:latin typeface="Arial" pitchFamily="34" charset="0"/>
                <a:ea typeface="Arial" pitchFamily="34" charset="-122"/>
                <a:cs typeface="Arial" pitchFamily="34" charset="-120"/>
              </a:rPr>
              <a:t>Who paid, and for how long</a:t>
            </a:r>
            <a:endParaRPr lang="en-US" sz="1700" dirty="0"/>
          </a:p>
        </p:txBody>
      </p:sp>
      <p:sp>
        <p:nvSpPr>
          <p:cNvPr id="16" name="Text 12"/>
          <p:cNvSpPr txBox="1"/>
          <p:nvPr/>
        </p:nvSpPr>
        <p:spPr>
          <a:xfrm>
            <a:off x="7040880" y="5093208"/>
            <a:ext cx="4206240" cy="320040"/>
          </a:xfrm>
          <a:prstGeom prst="rect">
            <a:avLst/>
          </a:prstGeom>
          <a:noFill/>
          <a:ln/>
        </p:spPr>
        <p:txBody>
          <a:bodyPr wrap="square" lIns="0" tIns="0" rIns="0" bIns="0" rtlCol="0" anchor="t"/>
          <a:lstStyle/>
          <a:p>
            <a:pPr indent="0" marL="0">
              <a:buNone/>
            </a:pPr>
            <a:r>
              <a:rPr lang="en-US" sz="1300" dirty="0">
                <a:solidFill>
                  <a:srgbClr val="6B6F76"/>
                </a:solidFill>
                <a:latin typeface="Arial" pitchFamily="34" charset="0"/>
                <a:ea typeface="Arial" pitchFamily="34" charset="-122"/>
                <a:cs typeface="Arial" pitchFamily="34" charset="-120"/>
              </a:rPr>
              <a:t>Distinct payers, tenure, pass rate.</a:t>
            </a:r>
            <a:endParaRPr lang="en-US" sz="1300" dirty="0"/>
          </a:p>
        </p:txBody>
      </p:sp>
      <p:sp>
        <p:nvSpPr>
          <p:cNvPr id="17" name="Shape 13"/>
          <p:cNvSpPr/>
          <p:nvPr/>
        </p:nvSpPr>
        <p:spPr>
          <a:xfrm>
            <a:off x="6355080" y="5440680"/>
            <a:ext cx="457200" cy="457200"/>
          </a:xfrm>
          <a:prstGeom prst="ellipse">
            <a:avLst/>
          </a:prstGeom>
          <a:solidFill>
            <a:srgbClr val="C2410C"/>
          </a:solidFill>
          <a:ln w="12700">
            <a:solidFill>
              <a:srgbClr val="C2410C"/>
            </a:solidFill>
            <a:prstDash val="solid"/>
          </a:ln>
        </p:spPr>
      </p:sp>
      <p:sp>
        <p:nvSpPr>
          <p:cNvPr id="18" name="Text 14"/>
          <p:cNvSpPr txBox="1"/>
          <p:nvPr/>
        </p:nvSpPr>
        <p:spPr>
          <a:xfrm>
            <a:off x="635508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5"/>
          <p:cNvSpPr txBox="1"/>
          <p:nvPr/>
        </p:nvSpPr>
        <p:spPr>
          <a:xfrm>
            <a:off x="7040880" y="5422392"/>
            <a:ext cx="4206240" cy="384048"/>
          </a:xfrm>
          <a:prstGeom prst="rect">
            <a:avLst/>
          </a:prstGeom>
          <a:noFill/>
          <a:ln/>
        </p:spPr>
        <p:txBody>
          <a:bodyPr wrap="square" lIns="0" tIns="0" rIns="0" bIns="0" rtlCol="0" anchor="t"/>
          <a:lstStyle/>
          <a:p>
            <a:pPr indent="0" marL="0">
              <a:buNone/>
            </a:pPr>
            <a:r>
              <a:rPr lang="en-US" sz="1700" b="1" dirty="0">
                <a:solidFill>
                  <a:srgbClr val="1A1D21"/>
                </a:solidFill>
                <a:latin typeface="Arial" pitchFamily="34" charset="0"/>
                <a:ea typeface="Arial" pitchFamily="34" charset="-122"/>
                <a:cs typeface="Arial" pitchFamily="34" charset="-120"/>
              </a:rPr>
              <a:t>One call for a lender</a:t>
            </a:r>
            <a:endParaRPr lang="en-US" sz="1700" dirty="0"/>
          </a:p>
        </p:txBody>
      </p:sp>
      <p:sp>
        <p:nvSpPr>
          <p:cNvPr id="20" name="Text 16"/>
          <p:cNvSpPr txBox="1"/>
          <p:nvPr/>
        </p:nvSpPr>
        <p:spPr>
          <a:xfrm>
            <a:off x="7040880" y="5824728"/>
            <a:ext cx="4206240" cy="320040"/>
          </a:xfrm>
          <a:prstGeom prst="rect">
            <a:avLst/>
          </a:prstGeom>
          <a:noFill/>
          <a:ln/>
        </p:spPr>
        <p:txBody>
          <a:bodyPr wrap="square" lIns="0" tIns="0" rIns="0" bIns="0" rtlCol="0" anchor="t"/>
          <a:lstStyle/>
          <a:p>
            <a:pPr indent="0" marL="0">
              <a:buNone/>
            </a:pPr>
            <a:r>
              <a:rPr lang="en-US" sz="1300" dirty="0">
                <a:solidFill>
                  <a:srgbClr val="6B6F76"/>
                </a:solidFill>
                <a:latin typeface="Arial" pitchFamily="34" charset="0"/>
                <a:ea typeface="Arial" pitchFamily="34" charset="-122"/>
                <a:cs typeface="Arial" pitchFamily="34" charset="-120"/>
              </a:rPr>
              <a:t>JSON, CSV or a printed statement.</a:t>
            </a:r>
            <a:endParaRPr lang="en-US" sz="13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 y="548640"/>
            <a:ext cx="3566160" cy="457200"/>
          </a:xfrm>
          <a:prstGeom prst="roundRect">
            <a:avLst>
              <a:gd name="adj" fmla="val 50000"/>
            </a:avLst>
          </a:prstGeom>
          <a:solidFill>
            <a:srgbClr val="FBFBF9"/>
          </a:solidFill>
          <a:ln w="12700">
            <a:solidFill>
              <a:srgbClr val="1A1D21"/>
            </a:solidFill>
            <a:prstDash val="dash"/>
          </a:ln>
        </p:spPr>
      </p:sp>
      <p:sp>
        <p:nvSpPr>
          <p:cNvPr id="3" name="Text 1"/>
          <p:cNvSpPr txBox="1"/>
          <p:nvPr/>
        </p:nvSpPr>
        <p:spPr>
          <a:xfrm>
            <a:off x="685800" y="548640"/>
            <a:ext cx="3566160" cy="457200"/>
          </a:xfrm>
          <a:prstGeom prst="rect">
            <a:avLst/>
          </a:prstGeom>
          <a:noFill/>
          <a:ln/>
        </p:spPr>
        <p:txBody>
          <a:bodyPr wrap="square" lIns="0" tIns="0" rIns="0" bIns="0" rtlCol="0" anchor="ctr"/>
          <a:lstStyle/>
          <a:p>
            <a:pPr algn="ctr" indent="0" marL="0">
              <a:buNone/>
            </a:pPr>
            <a:r>
              <a:rPr lang="en-US" sz="1300" b="1" spc="300" kern="0" dirty="0">
                <a:solidFill>
                  <a:srgbClr val="1A1D21"/>
                </a:solidFill>
                <a:latin typeface="Arial" pitchFamily="34" charset="0"/>
                <a:ea typeface="Arial" pitchFamily="34" charset="-122"/>
                <a:cs typeface="Arial" pitchFamily="34" charset="-120"/>
              </a:rPr>
              <a:t>NEXT  ·  WHERE THIS GOES</a:t>
            </a:r>
            <a:endParaRPr lang="en-US" sz="1300" dirty="0"/>
          </a:p>
        </p:txBody>
      </p:sp>
      <p:sp>
        <p:nvSpPr>
          <p:cNvPr id="4" name="Text 2"/>
          <p:cNvSpPr txBox="1"/>
          <p:nvPr/>
        </p:nvSpPr>
        <p:spPr>
          <a:xfrm>
            <a:off x="685800" y="1234440"/>
            <a:ext cx="10789920" cy="822960"/>
          </a:xfrm>
          <a:prstGeom prst="rect">
            <a:avLst/>
          </a:prstGeom>
          <a:noFill/>
          <a:ln/>
        </p:spPr>
        <p:txBody>
          <a:bodyPr wrap="square" lIns="0" tIns="0" rIns="0" bIns="0" rtlCol="0" anchor="t"/>
          <a:lstStyle/>
          <a:p>
            <a:pPr indent="0" marL="0">
              <a:buNone/>
            </a:pPr>
            <a:r>
              <a:rPr lang="en-US" sz="3800" b="1" dirty="0">
                <a:solidFill>
                  <a:srgbClr val="1A1D21"/>
                </a:solidFill>
                <a:latin typeface="Arial" pitchFamily="34" charset="0"/>
                <a:ea typeface="Arial" pitchFamily="34" charset="-122"/>
                <a:cs typeface="Arial" pitchFamily="34" charset="-120"/>
              </a:rPr>
              <a:t>An AI finance worker for every small business</a:t>
            </a:r>
            <a:endParaRPr lang="en-US" sz="3800" dirty="0"/>
          </a:p>
        </p:txBody>
      </p:sp>
      <p:sp>
        <p:nvSpPr>
          <p:cNvPr id="5" name="card"/>
          <p:cNvSpPr/>
          <p:nvPr/>
        </p:nvSpPr>
        <p:spPr>
          <a:xfrm>
            <a:off x="685800" y="2377440"/>
            <a:ext cx="3429000" cy="3520440"/>
          </a:xfrm>
          <a:prstGeom prst="roundRect">
            <a:avLst>
              <a:gd name="adj" fmla="val 3733"/>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sp>
        <p:nvSpPr>
          <p:cNvPr id="6" name="Text 4"/>
          <p:cNvSpPr txBox="1"/>
          <p:nvPr/>
        </p:nvSpPr>
        <p:spPr>
          <a:xfrm>
            <a:off x="1005840" y="2651760"/>
            <a:ext cx="2834640" cy="320040"/>
          </a:xfrm>
          <a:prstGeom prst="rect">
            <a:avLst/>
          </a:prstGeom>
          <a:noFill/>
          <a:ln/>
        </p:spPr>
        <p:txBody>
          <a:bodyPr wrap="square" lIns="0" tIns="0" rIns="0" bIns="0" rtlCol="0" anchor="t"/>
          <a:lstStyle/>
          <a:p>
            <a:pPr indent="0" marL="0">
              <a:buNone/>
            </a:pPr>
            <a:r>
              <a:rPr lang="en-US" sz="1200" b="1" spc="200" kern="0" dirty="0">
                <a:solidFill>
                  <a:srgbClr val="C2410C"/>
                </a:solidFill>
                <a:latin typeface="Arial" pitchFamily="34" charset="0"/>
                <a:ea typeface="Arial" pitchFamily="34" charset="-122"/>
                <a:cs typeface="Arial" pitchFamily="34" charset="-120"/>
              </a:rPr>
              <a:t>BUILT · PILOTS NEXT</a:t>
            </a:r>
            <a:endParaRPr lang="en-US" sz="1200" dirty="0"/>
          </a:p>
        </p:txBody>
      </p:sp>
      <p:sp>
        <p:nvSpPr>
          <p:cNvPr id="7" name="Text 5"/>
          <p:cNvSpPr txBox="1"/>
          <p:nvPr/>
        </p:nvSpPr>
        <p:spPr>
          <a:xfrm>
            <a:off x="1005840" y="3063240"/>
            <a:ext cx="2834640" cy="868680"/>
          </a:xfrm>
          <a:prstGeom prst="rect">
            <a:avLst/>
          </a:prstGeom>
          <a:noFill/>
          <a:ln/>
        </p:spPr>
        <p:txBody>
          <a:bodyPr wrap="square" lIns="0" tIns="0" rIns="0" bIns="0" rtlCol="0" anchor="t"/>
          <a:lstStyle/>
          <a:p>
            <a:pPr indent="0" marL="0">
              <a:buNone/>
            </a:pPr>
            <a:r>
              <a:rPr lang="en-US" sz="2300" b="1" dirty="0">
                <a:solidFill>
                  <a:srgbClr val="1A1D21"/>
                </a:solidFill>
                <a:latin typeface="Arial" pitchFamily="34" charset="0"/>
                <a:ea typeface="Arial" pitchFamily="34" charset="-122"/>
                <a:cs typeface="Arial" pitchFamily="34" charset="-120"/>
              </a:rPr>
              <a:t>Give it a goal and a budget</a:t>
            </a:r>
            <a:endParaRPr lang="en-US" sz="2300" dirty="0"/>
          </a:p>
        </p:txBody>
      </p:sp>
      <p:sp>
        <p:nvSpPr>
          <p:cNvPr id="8" name="Text 6"/>
          <p:cNvSpPr txBox="1"/>
          <p:nvPr/>
        </p:nvSpPr>
        <p:spPr>
          <a:xfrm>
            <a:off x="1005840" y="3977640"/>
            <a:ext cx="2834640" cy="1234440"/>
          </a:xfrm>
          <a:prstGeom prst="rect">
            <a:avLst/>
          </a:prstGeom>
          <a:noFill/>
          <a:ln/>
        </p:spPr>
        <p:txBody>
          <a:bodyPr wrap="square" lIns="0" tIns="0" rIns="0" bIns="0" rtlCol="0" anchor="t"/>
          <a:lstStyle/>
          <a:p>
            <a:pPr indent="0" marL="0">
              <a:buNone/>
            </a:pPr>
            <a:r>
              <a:rPr lang="en-US" sz="1500" dirty="0">
                <a:solidFill>
                  <a:srgbClr val="3D4148"/>
                </a:solidFill>
                <a:latin typeface="Arial" pitchFamily="34" charset="0"/>
                <a:ea typeface="Arial" pitchFamily="34" charset="-122"/>
                <a:cs typeface="Arial" pitchFamily="34" charset="-120"/>
              </a:rPr>
              <a:t>Sage decides what work to buy, says why before it spends, and you can veto any move.</a:t>
            </a:r>
            <a:endParaRPr lang="en-US" sz="1500" dirty="0"/>
          </a:p>
        </p:txBody>
      </p:sp>
      <p:sp>
        <p:nvSpPr>
          <p:cNvPr id="9" name="Text 7"/>
          <p:cNvSpPr txBox="1"/>
          <p:nvPr/>
        </p:nvSpPr>
        <p:spPr>
          <a:xfrm>
            <a:off x="1005840" y="5257800"/>
            <a:ext cx="2834640" cy="45720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Its limits are code it can't change.</a:t>
            </a:r>
            <a:endParaRPr lang="en-US" sz="1200" dirty="0"/>
          </a:p>
        </p:txBody>
      </p:sp>
      <p:sp>
        <p:nvSpPr>
          <p:cNvPr id="10" name="card"/>
          <p:cNvSpPr/>
          <p:nvPr/>
        </p:nvSpPr>
        <p:spPr>
          <a:xfrm>
            <a:off x="4389120" y="2377440"/>
            <a:ext cx="3429000" cy="3520440"/>
          </a:xfrm>
          <a:prstGeom prst="roundRect">
            <a:avLst>
              <a:gd name="adj" fmla="val 3733"/>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sp>
        <p:nvSpPr>
          <p:cNvPr id="11" name="Text 9"/>
          <p:cNvSpPr txBox="1"/>
          <p:nvPr/>
        </p:nvSpPr>
        <p:spPr>
          <a:xfrm>
            <a:off x="4709160" y="2651760"/>
            <a:ext cx="2834640" cy="320040"/>
          </a:xfrm>
          <a:prstGeom prst="rect">
            <a:avLst/>
          </a:prstGeom>
          <a:noFill/>
          <a:ln/>
        </p:spPr>
        <p:txBody>
          <a:bodyPr wrap="square" lIns="0" tIns="0" rIns="0" bIns="0" rtlCol="0" anchor="t"/>
          <a:lstStyle/>
          <a:p>
            <a:pPr indent="0" marL="0">
              <a:buNone/>
            </a:pPr>
            <a:r>
              <a:rPr lang="en-US" sz="1200" b="1" spc="200" kern="0" dirty="0">
                <a:solidFill>
                  <a:srgbClr val="C2410C"/>
                </a:solidFill>
                <a:latin typeface="Arial" pitchFamily="34" charset="0"/>
                <a:ea typeface="Arial" pitchFamily="34" charset="-122"/>
                <a:cs typeface="Arial" pitchFamily="34" charset="-120"/>
              </a:rPr>
              <a:t>NEXT</a:t>
            </a:r>
            <a:endParaRPr lang="en-US" sz="1200" dirty="0"/>
          </a:p>
        </p:txBody>
      </p:sp>
      <p:sp>
        <p:nvSpPr>
          <p:cNvPr id="12" name="Text 10"/>
          <p:cNvSpPr txBox="1"/>
          <p:nvPr/>
        </p:nvSpPr>
        <p:spPr>
          <a:xfrm>
            <a:off x="4709160" y="3063240"/>
            <a:ext cx="2834640" cy="868680"/>
          </a:xfrm>
          <a:prstGeom prst="rect">
            <a:avLst/>
          </a:prstGeom>
          <a:noFill/>
          <a:ln/>
        </p:spPr>
        <p:txBody>
          <a:bodyPr wrap="square" lIns="0" tIns="0" rIns="0" bIns="0" rtlCol="0" anchor="t"/>
          <a:lstStyle/>
          <a:p>
            <a:pPr indent="0" marL="0">
              <a:buNone/>
            </a:pPr>
            <a:r>
              <a:rPr lang="en-US" sz="2300" b="1" dirty="0">
                <a:solidFill>
                  <a:srgbClr val="1A1D21"/>
                </a:solidFill>
                <a:latin typeface="Arial" pitchFamily="34" charset="0"/>
                <a:ea typeface="Arial" pitchFamily="34" charset="-122"/>
                <a:cs typeface="Arial" pitchFamily="34" charset="-120"/>
              </a:rPr>
              <a:t>Pay on proof, keep the books</a:t>
            </a:r>
            <a:endParaRPr lang="en-US" sz="2300" dirty="0"/>
          </a:p>
        </p:txBody>
      </p:sp>
      <p:sp>
        <p:nvSpPr>
          <p:cNvPr id="13" name="Text 11"/>
          <p:cNvSpPr txBox="1"/>
          <p:nvPr/>
        </p:nvSpPr>
        <p:spPr>
          <a:xfrm>
            <a:off x="4709160" y="3977640"/>
            <a:ext cx="2834640" cy="1234440"/>
          </a:xfrm>
          <a:prstGeom prst="rect">
            <a:avLst/>
          </a:prstGeom>
          <a:noFill/>
          <a:ln/>
        </p:spPr>
        <p:txBody>
          <a:bodyPr wrap="square" lIns="0" tIns="0" rIns="0" bIns="0" rtlCol="0" anchor="t"/>
          <a:lstStyle/>
          <a:p>
            <a:pPr indent="0" marL="0">
              <a:buNone/>
            </a:pPr>
            <a:r>
              <a:rPr lang="en-US" sz="1500" dirty="0">
                <a:solidFill>
                  <a:srgbClr val="3D4148"/>
                </a:solidFill>
                <a:latin typeface="Arial" pitchFamily="34" charset="0"/>
                <a:ea typeface="Arial" pitchFamily="34" charset="-122"/>
                <a:cs typeface="Arial" pitchFamily="34" charset="-120"/>
              </a:rPr>
              <a:t>Suppliers and freelancers paid the moment the work is verified. Every job builds the business's credit.</a:t>
            </a:r>
            <a:endParaRPr lang="en-US" sz="1500" dirty="0"/>
          </a:p>
        </p:txBody>
      </p:sp>
      <p:sp>
        <p:nvSpPr>
          <p:cNvPr id="14" name="Text 12"/>
          <p:cNvSpPr txBox="1"/>
          <p:nvPr/>
        </p:nvSpPr>
        <p:spPr>
          <a:xfrm>
            <a:off x="4709160" y="5257800"/>
            <a:ext cx="2834640" cy="45720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Local cash-out through licensed partners.</a:t>
            </a:r>
            <a:endParaRPr lang="en-US" sz="1200" dirty="0"/>
          </a:p>
        </p:txBody>
      </p:sp>
      <p:sp>
        <p:nvSpPr>
          <p:cNvPr id="15" name="card"/>
          <p:cNvSpPr/>
          <p:nvPr/>
        </p:nvSpPr>
        <p:spPr>
          <a:xfrm>
            <a:off x="8092440" y="2377440"/>
            <a:ext cx="3429000" cy="3520440"/>
          </a:xfrm>
          <a:prstGeom prst="roundRect">
            <a:avLst>
              <a:gd name="adj" fmla="val 3733"/>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sp>
        <p:nvSpPr>
          <p:cNvPr id="16" name="Text 14"/>
          <p:cNvSpPr txBox="1"/>
          <p:nvPr/>
        </p:nvSpPr>
        <p:spPr>
          <a:xfrm>
            <a:off x="8412480" y="2651760"/>
            <a:ext cx="2834640" cy="320040"/>
          </a:xfrm>
          <a:prstGeom prst="rect">
            <a:avLst/>
          </a:prstGeom>
          <a:noFill/>
          <a:ln/>
        </p:spPr>
        <p:txBody>
          <a:bodyPr wrap="square" lIns="0" tIns="0" rIns="0" bIns="0" rtlCol="0" anchor="t"/>
          <a:lstStyle/>
          <a:p>
            <a:pPr indent="0" marL="0">
              <a:buNone/>
            </a:pPr>
            <a:r>
              <a:rPr lang="en-US" sz="1200" b="1" spc="200" kern="0" dirty="0">
                <a:solidFill>
                  <a:srgbClr val="C2410C"/>
                </a:solidFill>
                <a:latin typeface="Arial" pitchFamily="34" charset="0"/>
                <a:ea typeface="Arial" pitchFamily="34" charset="-122"/>
                <a:cs typeface="Arial" pitchFamily="34" charset="-120"/>
              </a:rPr>
              <a:t>NEXT</a:t>
            </a:r>
            <a:endParaRPr lang="en-US" sz="1200" dirty="0"/>
          </a:p>
        </p:txBody>
      </p:sp>
      <p:sp>
        <p:nvSpPr>
          <p:cNvPr id="17" name="Text 15"/>
          <p:cNvSpPr txBox="1"/>
          <p:nvPr/>
        </p:nvSpPr>
        <p:spPr>
          <a:xfrm>
            <a:off x="8412480" y="3063240"/>
            <a:ext cx="2834640" cy="868680"/>
          </a:xfrm>
          <a:prstGeom prst="rect">
            <a:avLst/>
          </a:prstGeom>
          <a:noFill/>
          <a:ln/>
        </p:spPr>
        <p:txBody>
          <a:bodyPr wrap="square" lIns="0" tIns="0" rIns="0" bIns="0" rtlCol="0" anchor="t"/>
          <a:lstStyle/>
          <a:p>
            <a:pPr indent="0" marL="0">
              <a:buNone/>
            </a:pPr>
            <a:r>
              <a:rPr lang="en-US" sz="2300" b="1" dirty="0">
                <a:solidFill>
                  <a:srgbClr val="1A1D21"/>
                </a:solidFill>
                <a:latin typeface="Arial" pitchFamily="34" charset="0"/>
                <a:ea typeface="Arial" pitchFamily="34" charset="-122"/>
                <a:cs typeface="Arial" pitchFamily="34" charset="-120"/>
              </a:rPr>
              <a:t>Recovery, paid in minutes</a:t>
            </a:r>
            <a:endParaRPr lang="en-US" sz="2300" dirty="0"/>
          </a:p>
        </p:txBody>
      </p:sp>
      <p:sp>
        <p:nvSpPr>
          <p:cNvPr id="18" name="Text 16"/>
          <p:cNvSpPr txBox="1"/>
          <p:nvPr/>
        </p:nvSpPr>
        <p:spPr>
          <a:xfrm>
            <a:off x="8412480" y="3977640"/>
            <a:ext cx="2834640" cy="1234440"/>
          </a:xfrm>
          <a:prstGeom prst="rect">
            <a:avLst/>
          </a:prstGeom>
          <a:noFill/>
          <a:ln/>
        </p:spPr>
        <p:txBody>
          <a:bodyPr wrap="square" lIns="0" tIns="0" rIns="0" bIns="0" rtlCol="0" anchor="t"/>
          <a:lstStyle/>
          <a:p>
            <a:pPr indent="0" marL="0">
              <a:buNone/>
            </a:pPr>
            <a:r>
              <a:rPr lang="en-US" sz="1500" dirty="0">
                <a:solidFill>
                  <a:srgbClr val="3D4148"/>
                </a:solidFill>
                <a:latin typeface="Arial" pitchFamily="34" charset="0"/>
                <a:ea typeface="Arial" pitchFamily="34" charset="-122"/>
                <a:cs typeface="Arial" pitchFamily="34" charset="-120"/>
              </a:rPr>
              <a:t>After a hurricane, a programme pays a thousand people for verified clean-up the same day, not in weeks.</a:t>
            </a:r>
            <a:endParaRPr lang="en-US" sz="1500" dirty="0"/>
          </a:p>
        </p:txBody>
      </p:sp>
      <p:sp>
        <p:nvSpPr>
          <p:cNvPr id="19" name="Text 17"/>
          <p:cNvSpPr txBox="1"/>
          <p:nvPr/>
        </p:nvSpPr>
        <p:spPr>
          <a:xfrm>
            <a:off x="8412480" y="5257800"/>
            <a:ext cx="2834640" cy="457200"/>
          </a:xfrm>
          <a:prstGeom prst="rect">
            <a:avLst/>
          </a:prstGeom>
          <a:noFill/>
          <a:ln/>
        </p:spPr>
        <p:txBody>
          <a:bodyPr wrap="square" lIns="0" tIns="0" rIns="0" bIns="0" rtlCol="0" anchor="t"/>
          <a:lstStyle/>
          <a:p>
            <a:pPr indent="0" marL="0">
              <a:buNone/>
            </a:pPr>
            <a:r>
              <a:rPr lang="en-US" sz="1200" dirty="0">
                <a:solidFill>
                  <a:srgbClr val="6B6F76"/>
                </a:solidFill>
                <a:latin typeface="Arial" pitchFamily="34" charset="0"/>
                <a:ea typeface="Arial" pitchFamily="34" charset="-122"/>
                <a:cs typeface="Arial" pitchFamily="34" charset="-120"/>
              </a:rPr>
              <a:t>Every payout auditable by anyone.</a:t>
            </a:r>
            <a:endParaRPr lang="en-US" sz="12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548640"/>
            <a:ext cx="5486400" cy="320040"/>
          </a:xfrm>
          <a:prstGeom prst="rect">
            <a:avLst/>
          </a:prstGeom>
          <a:noFill/>
          <a:ln/>
        </p:spPr>
        <p:txBody>
          <a:bodyPr wrap="square" lIns="0" tIns="0" rIns="0" bIns="0" rtlCol="0" anchor="t"/>
          <a:lstStyle/>
          <a:p>
            <a:pPr indent="0" marL="0">
              <a:buNone/>
            </a:pPr>
            <a:r>
              <a:rPr lang="en-US" sz="1300" b="1" spc="300" kern="0" dirty="0">
                <a:solidFill>
                  <a:srgbClr val="6B6F76"/>
                </a:solidFill>
                <a:latin typeface="Arial" pitchFamily="34" charset="0"/>
                <a:ea typeface="Arial" pitchFamily="34" charset="-122"/>
                <a:cs typeface="Arial" pitchFamily="34" charset="-120"/>
              </a:rPr>
              <a:t>WHAT WE NEED NOW</a:t>
            </a:r>
            <a:endParaRPr lang="en-US" sz="1300" dirty="0"/>
          </a:p>
        </p:txBody>
      </p:sp>
      <p:sp>
        <p:nvSpPr>
          <p:cNvPr id="3" name="Text 1"/>
          <p:cNvSpPr txBox="1"/>
          <p:nvPr/>
        </p:nvSpPr>
        <p:spPr>
          <a:xfrm>
            <a:off x="685800" y="914400"/>
            <a:ext cx="7589520" cy="1463040"/>
          </a:xfrm>
          <a:prstGeom prst="rect">
            <a:avLst/>
          </a:prstGeom>
          <a:noFill/>
          <a:ln/>
        </p:spPr>
        <p:txBody>
          <a:bodyPr wrap="square" lIns="0" tIns="0" rIns="0" bIns="0" rtlCol="0" anchor="t"/>
          <a:lstStyle/>
          <a:p>
            <a:pPr indent="0" marL="0">
              <a:buNone/>
            </a:pPr>
            <a:r>
              <a:rPr lang="en-US" sz="3600" b="1" dirty="0">
                <a:solidFill>
                  <a:srgbClr val="1A1D21"/>
                </a:solidFill>
                <a:latin typeface="Arial" pitchFamily="34" charset="0"/>
                <a:ea typeface="Arial" pitchFamily="34" charset="-122"/>
                <a:cs typeface="Arial" pitchFamily="34" charset="-120"/>
              </a:rPr>
              <a:t>The engine is live. It needs the institutions it was built for</a:t>
            </a:r>
            <a:endParaRPr lang="en-US" sz="3600" dirty="0"/>
          </a:p>
        </p:txBody>
      </p:sp>
      <p:sp>
        <p:nvSpPr>
          <p:cNvPr id="4" name="Shape 2"/>
          <p:cNvSpPr/>
          <p:nvPr/>
        </p:nvSpPr>
        <p:spPr>
          <a:xfrm>
            <a:off x="685800" y="2743200"/>
            <a:ext cx="548640" cy="548640"/>
          </a:xfrm>
          <a:prstGeom prst="roundRect">
            <a:avLst>
              <a:gd name="adj" fmla="val 23333"/>
            </a:avLst>
          </a:prstGeom>
          <a:solidFill>
            <a:srgbClr val="FDF1EA"/>
          </a:solidFill>
          <a:ln w="12700">
            <a:solidFill>
              <a:srgbClr val="FDF1EA"/>
            </a:solidFill>
            <a:prstDash val="solid"/>
          </a:ln>
        </p:spPr>
      </p:sp>
      <p:sp>
        <p:nvSpPr>
          <p:cNvPr id="5" name="Text 3"/>
          <p:cNvSpPr txBox="1"/>
          <p:nvPr/>
        </p:nvSpPr>
        <p:spPr>
          <a:xfrm>
            <a:off x="685800" y="2743200"/>
            <a:ext cx="548640" cy="548640"/>
          </a:xfrm>
          <a:prstGeom prst="rect">
            <a:avLst/>
          </a:prstGeom>
          <a:noFill/>
          <a:ln/>
        </p:spPr>
        <p:txBody>
          <a:bodyPr wrap="square" lIns="0" tIns="0" rIns="0" bIns="0" rtlCol="0" anchor="ctr"/>
          <a:lstStyle/>
          <a:p>
            <a:pPr algn="ctr" indent="0" marL="0">
              <a:buNone/>
            </a:pPr>
            <a:r>
              <a:rPr lang="en-US" sz="1800" b="1" dirty="0">
                <a:solidFill>
                  <a:srgbClr val="C2410C"/>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463040" y="2743200"/>
            <a:ext cx="6766560" cy="548640"/>
          </a:xfrm>
          <a:prstGeom prst="rect">
            <a:avLst/>
          </a:prstGeom>
          <a:noFill/>
          <a:ln/>
        </p:spPr>
        <p:txBody>
          <a:bodyPr wrap="square" lIns="0" tIns="0" rIns="0" bIns="0" rtlCol="0" anchor="ctr"/>
          <a:lstStyle/>
          <a:p>
            <a:pPr indent="0" marL="0">
              <a:buNone/>
            </a:pPr>
            <a:r>
              <a:rPr lang="en-US" sz="2200" dirty="0">
                <a:solidFill>
                  <a:srgbClr val="1A1D21"/>
                </a:solidFill>
                <a:latin typeface="Arial" pitchFamily="34" charset="0"/>
                <a:ea typeface="Arial" pitchFamily="34" charset="-122"/>
                <a:cs typeface="Arial" pitchFamily="34" charset="-120"/>
              </a:rPr>
              <a:t>An MSME programme that wants to pay on proof</a:t>
            </a:r>
            <a:endParaRPr lang="en-US" sz="2200" dirty="0"/>
          </a:p>
        </p:txBody>
      </p:sp>
      <p:sp>
        <p:nvSpPr>
          <p:cNvPr id="7" name="Shape 5"/>
          <p:cNvSpPr/>
          <p:nvPr/>
        </p:nvSpPr>
        <p:spPr>
          <a:xfrm>
            <a:off x="685800" y="3520440"/>
            <a:ext cx="548640" cy="548640"/>
          </a:xfrm>
          <a:prstGeom prst="roundRect">
            <a:avLst>
              <a:gd name="adj" fmla="val 23333"/>
            </a:avLst>
          </a:prstGeom>
          <a:solidFill>
            <a:srgbClr val="FDF1EA"/>
          </a:solidFill>
          <a:ln w="12700">
            <a:solidFill>
              <a:srgbClr val="FDF1EA"/>
            </a:solidFill>
            <a:prstDash val="solid"/>
          </a:ln>
        </p:spPr>
      </p:sp>
      <p:sp>
        <p:nvSpPr>
          <p:cNvPr id="8" name="Text 6"/>
          <p:cNvSpPr txBox="1"/>
          <p:nvPr/>
        </p:nvSpPr>
        <p:spPr>
          <a:xfrm>
            <a:off x="685800" y="3520440"/>
            <a:ext cx="548640" cy="548640"/>
          </a:xfrm>
          <a:prstGeom prst="rect">
            <a:avLst/>
          </a:prstGeom>
          <a:noFill/>
          <a:ln/>
        </p:spPr>
        <p:txBody>
          <a:bodyPr wrap="square" lIns="0" tIns="0" rIns="0" bIns="0" rtlCol="0" anchor="ctr"/>
          <a:lstStyle/>
          <a:p>
            <a:pPr algn="ctr" indent="0" marL="0">
              <a:buNone/>
            </a:pPr>
            <a:r>
              <a:rPr lang="en-US" sz="1800" b="1" dirty="0">
                <a:solidFill>
                  <a:srgbClr val="C2410C"/>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463040" y="3520440"/>
            <a:ext cx="6766560" cy="548640"/>
          </a:xfrm>
          <a:prstGeom prst="rect">
            <a:avLst/>
          </a:prstGeom>
          <a:noFill/>
          <a:ln/>
        </p:spPr>
        <p:txBody>
          <a:bodyPr wrap="square" lIns="0" tIns="0" rIns="0" bIns="0" rtlCol="0" anchor="ctr"/>
          <a:lstStyle/>
          <a:p>
            <a:pPr indent="0" marL="0">
              <a:buNone/>
            </a:pPr>
            <a:r>
              <a:rPr lang="en-US" sz="2200" dirty="0">
                <a:solidFill>
                  <a:srgbClr val="1A1D21"/>
                </a:solidFill>
                <a:latin typeface="Arial" pitchFamily="34" charset="0"/>
                <a:ea typeface="Arial" pitchFamily="34" charset="-122"/>
                <a:cs typeface="Arial" pitchFamily="34" charset="-120"/>
              </a:rPr>
              <a:t>A cooperative paying members for delivered work</a:t>
            </a:r>
            <a:endParaRPr lang="en-US" sz="2200" dirty="0"/>
          </a:p>
        </p:txBody>
      </p:sp>
      <p:sp>
        <p:nvSpPr>
          <p:cNvPr id="10" name="Shape 8"/>
          <p:cNvSpPr/>
          <p:nvPr/>
        </p:nvSpPr>
        <p:spPr>
          <a:xfrm>
            <a:off x="685800" y="4297680"/>
            <a:ext cx="548640" cy="548640"/>
          </a:xfrm>
          <a:prstGeom prst="roundRect">
            <a:avLst>
              <a:gd name="adj" fmla="val 23333"/>
            </a:avLst>
          </a:prstGeom>
          <a:solidFill>
            <a:srgbClr val="FDF1EA"/>
          </a:solidFill>
          <a:ln w="12700">
            <a:solidFill>
              <a:srgbClr val="FDF1EA"/>
            </a:solidFill>
            <a:prstDash val="solid"/>
          </a:ln>
        </p:spPr>
      </p:sp>
      <p:sp>
        <p:nvSpPr>
          <p:cNvPr id="11" name="Text 9"/>
          <p:cNvSpPr txBox="1"/>
          <p:nvPr/>
        </p:nvSpPr>
        <p:spPr>
          <a:xfrm>
            <a:off x="685800" y="4297680"/>
            <a:ext cx="548640" cy="548640"/>
          </a:xfrm>
          <a:prstGeom prst="rect">
            <a:avLst/>
          </a:prstGeom>
          <a:noFill/>
          <a:ln/>
        </p:spPr>
        <p:txBody>
          <a:bodyPr wrap="square" lIns="0" tIns="0" rIns="0" bIns="0" rtlCol="0" anchor="ctr"/>
          <a:lstStyle/>
          <a:p>
            <a:pPr algn="ctr" indent="0" marL="0">
              <a:buNone/>
            </a:pPr>
            <a:r>
              <a:rPr lang="en-US" sz="1800" b="1" dirty="0">
                <a:solidFill>
                  <a:srgbClr val="C2410C"/>
                </a:solidFill>
                <a:latin typeface="Arial" pitchFamily="34" charset="0"/>
                <a:ea typeface="Arial" pitchFamily="34" charset="-122"/>
                <a:cs typeface="Arial" pitchFamily="34" charset="-120"/>
              </a:rPr>
              <a:t>3</a:t>
            </a:r>
            <a:endParaRPr lang="en-US" sz="1800" dirty="0"/>
          </a:p>
        </p:txBody>
      </p:sp>
      <p:sp>
        <p:nvSpPr>
          <p:cNvPr id="12" name="Text 10"/>
          <p:cNvSpPr txBox="1"/>
          <p:nvPr/>
        </p:nvSpPr>
        <p:spPr>
          <a:xfrm>
            <a:off x="1463040" y="4297680"/>
            <a:ext cx="6766560" cy="548640"/>
          </a:xfrm>
          <a:prstGeom prst="rect">
            <a:avLst/>
          </a:prstGeom>
          <a:noFill/>
          <a:ln/>
        </p:spPr>
        <p:txBody>
          <a:bodyPr wrap="square" lIns="0" tIns="0" rIns="0" bIns="0" rtlCol="0" anchor="ctr"/>
          <a:lstStyle/>
          <a:p>
            <a:pPr indent="0" marL="0">
              <a:buNone/>
            </a:pPr>
            <a:r>
              <a:rPr lang="en-US" sz="2200" dirty="0">
                <a:solidFill>
                  <a:srgbClr val="1A1D21"/>
                </a:solidFill>
                <a:latin typeface="Arial" pitchFamily="34" charset="0"/>
                <a:ea typeface="Arial" pitchFamily="34" charset="-122"/>
                <a:cs typeface="Arial" pitchFamily="34" charset="-120"/>
              </a:rPr>
              <a:t>A lender who'd price verified cash flow, not collateral</a:t>
            </a:r>
            <a:endParaRPr lang="en-US" sz="2200" dirty="0"/>
          </a:p>
        </p:txBody>
      </p:sp>
      <p:sp>
        <p:nvSpPr>
          <p:cNvPr id="13" name="Text 11"/>
          <p:cNvSpPr txBox="1"/>
          <p:nvPr/>
        </p:nvSpPr>
        <p:spPr>
          <a:xfrm>
            <a:off x="685800" y="5257800"/>
            <a:ext cx="7589520" cy="457200"/>
          </a:xfrm>
          <a:prstGeom prst="rect">
            <a:avLst/>
          </a:prstGeom>
          <a:noFill/>
          <a:ln/>
        </p:spPr>
        <p:txBody>
          <a:bodyPr wrap="square" lIns="0" tIns="0" rIns="0" bIns="0" rtlCol="0" anchor="t"/>
          <a:lstStyle/>
          <a:p>
            <a:pPr indent="0" marL="0">
              <a:buNone/>
            </a:pPr>
            <a:r>
              <a:rPr lang="en-US" sz="2000" b="1" dirty="0">
                <a:solidFill>
                  <a:srgbClr val="C2410C"/>
                </a:solidFill>
                <a:latin typeface="Arial" pitchFamily="34" charset="0"/>
                <a:ea typeface="Arial" pitchFamily="34" charset="-122"/>
                <a:cs typeface="Arial" pitchFamily="34" charset="-120"/>
              </a:rPr>
              <a:t>Twenty minutes with you is our next milestone.</a:t>
            </a:r>
            <a:endParaRPr lang="en-US" sz="2000" dirty="0"/>
          </a:p>
        </p:txBody>
      </p:sp>
      <p:sp>
        <p:nvSpPr>
          <p:cNvPr id="14" name="card"/>
          <p:cNvSpPr/>
          <p:nvPr/>
        </p:nvSpPr>
        <p:spPr>
          <a:xfrm>
            <a:off x="8732520" y="1097280"/>
            <a:ext cx="2788920" cy="3429000"/>
          </a:xfrm>
          <a:prstGeom prst="roundRect">
            <a:avLst>
              <a:gd name="adj" fmla="val 4590"/>
            </a:avLst>
          </a:prstGeom>
          <a:solidFill>
            <a:srgbClr val="FFFFFF"/>
          </a:solidFill>
          <a:ln w="12700">
            <a:solidFill>
              <a:srgbClr val="D9D6CE"/>
            </a:solidFill>
            <a:prstDash val="solid"/>
          </a:ln>
          <a:effectLst>
            <a:outerShdw sx="100000" sy="100000" kx="0" ky="0" algn="bl" rotWithShape="0" blurRad="152400" dist="50800" dir="5400000">
              <a:srgbClr val="1A1D21">
                <a:alpha val="18000"/>
              </a:srgbClr>
            </a:outerShdw>
          </a:effectLst>
        </p:spPr>
      </p:sp>
      <p:pic>
        <p:nvPicPr>
          <p:cNvPr id="15" name="Image 0" descr="QR code to sagepays.xyz/caribbean">    </p:cNvPr>
          <p:cNvPicPr>
            <a:picLocks noChangeAspect="1"/>
          </p:cNvPicPr>
          <p:nvPr/>
        </p:nvPicPr>
        <p:blipFill>
          <a:blip r:embed="rId1"/>
          <a:stretch>
            <a:fillRect/>
          </a:stretch>
        </p:blipFill>
        <p:spPr>
          <a:xfrm>
            <a:off x="9006840" y="1325880"/>
            <a:ext cx="2240280" cy="2240280"/>
          </a:xfrm>
          <a:prstGeom prst="rect">
            <a:avLst/>
          </a:prstGeom>
        </p:spPr>
      </p:pic>
      <p:sp>
        <p:nvSpPr>
          <p:cNvPr id="16" name="Text 13"/>
          <p:cNvSpPr txBox="1"/>
          <p:nvPr/>
        </p:nvSpPr>
        <p:spPr>
          <a:xfrm>
            <a:off x="8732520" y="3794760"/>
            <a:ext cx="2788920" cy="411480"/>
          </a:xfrm>
          <a:prstGeom prst="rect">
            <a:avLst/>
          </a:prstGeom>
          <a:noFill/>
          <a:ln/>
        </p:spPr>
        <p:txBody>
          <a:bodyPr wrap="square" lIns="0" tIns="0" rIns="0" bIns="0" rtlCol="0" anchor="t"/>
          <a:lstStyle/>
          <a:p>
            <a:pPr algn="ctr" indent="0" marL="0">
              <a:buNone/>
            </a:pPr>
            <a:r>
              <a:rPr lang="en-US" sz="1400" b="1" dirty="0">
                <a:solidFill>
                  <a:srgbClr val="1A1D21"/>
                </a:solidFill>
                <a:latin typeface="Arial" pitchFamily="34" charset="0"/>
                <a:ea typeface="Arial" pitchFamily="34" charset="-122"/>
                <a:cs typeface="Arial" pitchFamily="34" charset="-120"/>
              </a:rPr>
              <a:t>sagepays.xyz/caribbean</a:t>
            </a:r>
            <a:endParaRPr lang="en-US" sz="1400" dirty="0"/>
          </a:p>
        </p:txBody>
      </p:sp>
      <p:sp>
        <p:nvSpPr>
          <p:cNvPr id="17" name="Text 14"/>
          <p:cNvSpPr txBox="1"/>
          <p:nvPr/>
        </p:nvSpPr>
        <p:spPr>
          <a:xfrm>
            <a:off x="8732520" y="4114800"/>
            <a:ext cx="2788920" cy="320040"/>
          </a:xfrm>
          <a:prstGeom prst="rect">
            <a:avLst/>
          </a:prstGeom>
          <a:noFill/>
          <a:ln/>
        </p:spPr>
        <p:txBody>
          <a:bodyPr wrap="square" lIns="0" tIns="0" rIns="0" bIns="0" rtlCol="0" anchor="t"/>
          <a:lstStyle/>
          <a:p>
            <a:pPr algn="ctr" indent="0" marL="0">
              <a:buNone/>
            </a:pPr>
            <a:r>
              <a:rPr lang="en-US" sz="1200" dirty="0">
                <a:solidFill>
                  <a:srgbClr val="6B6F76"/>
                </a:solidFill>
                <a:latin typeface="Arial" pitchFamily="34" charset="0"/>
                <a:ea typeface="Arial" pitchFamily="34" charset="-122"/>
                <a:cs typeface="Arial" pitchFamily="34" charset="-120"/>
              </a:rPr>
              <a:t>Everything you saw today</a:t>
            </a:r>
            <a:endParaRPr lang="en-US" sz="1200" dirty="0"/>
          </a:p>
        </p:txBody>
      </p:sp>
      <p:sp>
        <p:nvSpPr>
          <p:cNvPr id="25" name="Slide Number Placeholder 0"/>
          <p:cNvSpPr>
            <a:spLocks noGrp="1"/>
          </p:cNvSpPr>
          <p:nvPr>
            <p:ph type="sldNum" sz="quarter" idx="4294967295"/>
          </p:nvPr>
        </p:nvSpPr>
        <p:spPr>
          <a:xfrm>
            <a:off x="10972800" y="621792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A4A7A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age mark"/>
          <p:cNvSpPr/>
          <p:nvPr/>
        </p:nvSpPr>
        <p:spPr>
          <a:xfrm>
            <a:off x="685800" y="1783080"/>
            <a:ext cx="1188720" cy="1188720"/>
          </a:xfrm>
          <a:prstGeom prst="roundRect">
            <a:avLst>
              <a:gd name="adj" fmla="val 22000"/>
            </a:avLst>
          </a:prstGeom>
          <a:solidFill>
            <a:srgbClr val="C2410C"/>
          </a:solidFill>
          <a:ln w="12700">
            <a:solidFill>
              <a:srgbClr val="C2410C"/>
            </a:solidFill>
            <a:prstDash val="solid"/>
          </a:ln>
        </p:spPr>
      </p:sp>
      <p:sp>
        <p:nvSpPr>
          <p:cNvPr id="3" name="Text 1"/>
          <p:cNvSpPr txBox="1"/>
          <p:nvPr/>
        </p:nvSpPr>
        <p:spPr>
          <a:xfrm>
            <a:off x="2194560" y="1554480"/>
            <a:ext cx="7315200" cy="164592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Sage</a:t>
            </a:r>
            <a:endParaRPr lang="en-US" sz="12000" dirty="0"/>
          </a:p>
        </p:txBody>
      </p:sp>
      <p:sp>
        <p:nvSpPr>
          <p:cNvPr id="4" name="Text 2"/>
          <p:cNvSpPr txBox="1"/>
          <p:nvPr/>
        </p:nvSpPr>
        <p:spPr>
          <a:xfrm>
            <a:off x="685800" y="3520440"/>
            <a:ext cx="10789920" cy="1280160"/>
          </a:xfrm>
          <a:prstGeom prst="rect">
            <a:avLst/>
          </a:prstGeom>
          <a:noFill/>
          <a:ln/>
        </p:spPr>
        <p:txBody>
          <a:bodyPr wrap="square" lIns="0" tIns="0" rIns="0" bIns="0" rtlCol="0" anchor="t"/>
          <a:lstStyle/>
          <a:p>
            <a:pPr indent="0" marL="0">
              <a:buNone/>
            </a:pPr>
            <a:r>
              <a:rPr lang="en-US" sz="3200" dirty="0">
                <a:solidFill>
                  <a:srgbClr val="E9E7E1"/>
                </a:solidFill>
                <a:latin typeface="Arial" pitchFamily="34" charset="0"/>
                <a:ea typeface="Arial" pitchFamily="34" charset="-122"/>
                <a:cs typeface="Arial" pitchFamily="34" charset="-120"/>
              </a:rPr>
              <a:t>Payments that verify themselves.</a:t>
            </a:r>
            <a:endParaRPr lang="en-US" sz="3200" dirty="0"/>
          </a:p>
          <a:p>
            <a:pPr indent="0" marL="0">
              <a:buNone/>
            </a:pPr>
            <a:r>
              <a:rPr lang="en-US" sz="3200" dirty="0">
                <a:solidFill>
                  <a:srgbClr val="E9E7E1"/>
                </a:solidFill>
                <a:latin typeface="Arial" pitchFamily="34" charset="0"/>
                <a:ea typeface="Arial" pitchFamily="34" charset="-122"/>
                <a:cs typeface="Arial" pitchFamily="34" charset="-120"/>
              </a:rPr>
              <a:t>Credit records that write themselves.</a:t>
            </a:r>
            <a:endParaRPr lang="en-US" sz="3200" dirty="0"/>
          </a:p>
        </p:txBody>
      </p:sp>
      <p:sp>
        <p:nvSpPr>
          <p:cNvPr id="5" name="Text 3"/>
          <p:cNvSpPr txBox="1"/>
          <p:nvPr/>
        </p:nvSpPr>
        <p:spPr>
          <a:xfrm>
            <a:off x="685800" y="5989320"/>
            <a:ext cx="10789920" cy="365760"/>
          </a:xfrm>
          <a:prstGeom prst="rect">
            <a:avLst/>
          </a:prstGeom>
          <a:noFill/>
          <a:ln/>
        </p:spPr>
        <p:txBody>
          <a:bodyPr wrap="square" lIns="0" tIns="0" rIns="0" bIns="0" rtlCol="0" anchor="t"/>
          <a:lstStyle/>
          <a:p>
            <a:pPr indent="0" marL="0">
              <a:buNone/>
            </a:pPr>
            <a:r>
              <a:rPr lang="en-US" sz="1500" dirty="0">
                <a:solidFill>
                  <a:srgbClr val="9CA0A8"/>
                </a:solidFill>
                <a:latin typeface="Arial" pitchFamily="34" charset="0"/>
                <a:ea typeface="Arial" pitchFamily="34" charset="-122"/>
                <a:cs typeface="Arial" pitchFamily="34" charset="-120"/>
              </a:rPr>
              <a:t>sagepays.xyz   ·   @sagepaysai on X   ·   Shariq Shaukat on LinkedIn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Sage · Future Caribbean Demo Day</dc:title>
  <dc:subject>PptxGenJS Presentation</dc:subject>
  <dc:creator>Shariq Shaukat</dc:creator>
  <cp:lastModifiedBy>Shariq Shaukat</cp:lastModifiedBy>
  <cp:revision>1</cp:revision>
  <dcterms:created xsi:type="dcterms:W3CDTF">2026-10-10T09:54:49Z</dcterms:created>
  <dcterms:modified xsi:type="dcterms:W3CDTF">2026-10-10T09:54:49Z</dcterms:modified>
</cp:coreProperties>
</file>